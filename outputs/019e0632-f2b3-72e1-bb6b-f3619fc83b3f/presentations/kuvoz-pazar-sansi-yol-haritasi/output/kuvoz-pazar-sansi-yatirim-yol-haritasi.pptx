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8457ed59c544e2" /><Relationship Type="http://schemas.openxmlformats.org/officeDocument/2006/relationships/extended-properties" Target="/docProps/app.xml" Id="Re7632a909bc84fbd" /><Relationship Type="http://schemas.openxmlformats.org/officeDocument/2006/relationships/officeDocument" Target="/ppt/presentation.xml" Id="R8f2f0fa223f149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b43ede961e40c2"/>
  </p:sldMasterIdLst>
  <p:notesMasterIdLst>
    <p:notesMasterId xmlns:r="http://schemas.openxmlformats.org/officeDocument/2006/relationships" r:id="R8a7376ff6cf2444c"/>
  </p:notesMasterIdLst>
  <p:sldIdLst>
    <p:sldId xmlns:r="http://schemas.openxmlformats.org/officeDocument/2006/relationships" id="256" r:id="R79e60ad4789a41ed"/>
    <p:sldId xmlns:r="http://schemas.openxmlformats.org/officeDocument/2006/relationships" id="257" r:id="Rced2de55950f40cd"/>
    <p:sldId xmlns:r="http://schemas.openxmlformats.org/officeDocument/2006/relationships" id="258" r:id="Rc6d9bcb8914948e2"/>
    <p:sldId xmlns:r="http://schemas.openxmlformats.org/officeDocument/2006/relationships" id="259" r:id="Rb17daf072f604ff3"/>
    <p:sldId xmlns:r="http://schemas.openxmlformats.org/officeDocument/2006/relationships" id="260" r:id="Ra9193d27926f4802"/>
    <p:sldId xmlns:r="http://schemas.openxmlformats.org/officeDocument/2006/relationships" id="261" r:id="R42ac6c7b0fa34748"/>
    <p:sldId xmlns:r="http://schemas.openxmlformats.org/officeDocument/2006/relationships" id="262" r:id="R632f908fb0a0470e"/>
    <p:sldId xmlns:r="http://schemas.openxmlformats.org/officeDocument/2006/relationships" id="263" r:id="R26825b2b940a4172"/>
    <p:sldId xmlns:r="http://schemas.openxmlformats.org/officeDocument/2006/relationships" id="264" r:id="Rdd387ee900164b81"/>
    <p:sldId xmlns:r="http://schemas.openxmlformats.org/officeDocument/2006/relationships" id="265" r:id="R5b898b9bf6e34b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43ede961e40c2" /><Relationship Type="http://schemas.openxmlformats.org/officeDocument/2006/relationships/theme" Target="/ppt/theme/theme1.xml" Id="R512f3ecc60d54dfa" /><Relationship Type="http://schemas.openxmlformats.org/officeDocument/2006/relationships/notesMaster" Target="/ppt/notesMasters/notesMaster1.xml" Id="R8a7376ff6cf2444c" /><Relationship Type="http://schemas.openxmlformats.org/officeDocument/2006/relationships/presProps" Target="/ppt/presProps.xml" Id="Rb545a2840dca4815" /><Relationship Type="http://schemas.openxmlformats.org/officeDocument/2006/relationships/viewProps" Target="/ppt/viewProps.xml" Id="R703c6e89d30b455c" /><Relationship Type="http://schemas.openxmlformats.org/officeDocument/2006/relationships/tableStyles" Target="/ppt/tableStyles.xml" Id="R461a4e7f448347bb" /><Relationship Type="http://schemas.openxmlformats.org/officeDocument/2006/relationships/slide" Target="/ppt/slides/slide1.xml" Id="R79e60ad4789a41ed" /><Relationship Type="http://schemas.openxmlformats.org/officeDocument/2006/relationships/slide" Target="/ppt/slides/slide2.xml" Id="Rced2de55950f40cd" /><Relationship Type="http://schemas.openxmlformats.org/officeDocument/2006/relationships/slide" Target="/ppt/slides/slide3.xml" Id="Rc6d9bcb8914948e2" /><Relationship Type="http://schemas.openxmlformats.org/officeDocument/2006/relationships/slide" Target="/ppt/slides/slide4.xml" Id="Rb17daf072f604ff3" /><Relationship Type="http://schemas.openxmlformats.org/officeDocument/2006/relationships/slide" Target="/ppt/slides/slide5.xml" Id="Ra9193d27926f4802" /><Relationship Type="http://schemas.openxmlformats.org/officeDocument/2006/relationships/slide" Target="/ppt/slides/slide6.xml" Id="R42ac6c7b0fa34748" /><Relationship Type="http://schemas.openxmlformats.org/officeDocument/2006/relationships/slide" Target="/ppt/slides/slide7.xml" Id="R632f908fb0a0470e" /><Relationship Type="http://schemas.openxmlformats.org/officeDocument/2006/relationships/slide" Target="/ppt/slides/slide8.xml" Id="R26825b2b940a4172" /><Relationship Type="http://schemas.openxmlformats.org/officeDocument/2006/relationships/slide" Target="/ppt/slides/slide9.xml" Id="Rdd387ee900164b81" /><Relationship Type="http://schemas.openxmlformats.org/officeDocument/2006/relationships/slide" Target="/ppt/slides/slide10.xml" Id="R5b898b9bf6e3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ef34c45b6f843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49cf49315148f3" /><Relationship Type="http://schemas.openxmlformats.org/officeDocument/2006/relationships/notesMaster" Target="/ppt/notesMasters/notesMaster1.xml" Id="R49c204a71a754c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3376bcf98940d0" /><Relationship Type="http://schemas.openxmlformats.org/officeDocument/2006/relationships/notesMaster" Target="/ppt/notesMasters/notesMaster1.xml" Id="R26e3afa4000149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6ef23eb1e84d96" /><Relationship Type="http://schemas.openxmlformats.org/officeDocument/2006/relationships/notesMaster" Target="/ppt/notesMasters/notesMaster1.xml" Id="R25b06fe7c67346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24e4d1d3fb44a6" /><Relationship Type="http://schemas.openxmlformats.org/officeDocument/2006/relationships/notesMaster" Target="/ppt/notesMasters/notesMaster1.xml" Id="Ra73e26751f7f4e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290f58d1a7426e" /><Relationship Type="http://schemas.openxmlformats.org/officeDocument/2006/relationships/notesMaster" Target="/ppt/notesMasters/notesMaster1.xml" Id="Rdacc4592c2c04b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77e5f3f4ea43ab" /><Relationship Type="http://schemas.openxmlformats.org/officeDocument/2006/relationships/notesMaster" Target="/ppt/notesMasters/notesMaster1.xml" Id="Ra24e708d6af24b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fbd4cec91c4dbe" /><Relationship Type="http://schemas.openxmlformats.org/officeDocument/2006/relationships/notesMaster" Target="/ppt/notesMasters/notesMaster1.xml" Id="R90ffbf9e3ae943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92cbda7d9841b6" /><Relationship Type="http://schemas.openxmlformats.org/officeDocument/2006/relationships/notesMaster" Target="/ppt/notesMasters/notesMaster1.xml" Id="Rfb5177b0e0f14b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5bcb3a0ced4421" /><Relationship Type="http://schemas.openxmlformats.org/officeDocument/2006/relationships/notesMaster" Target="/ppt/notesMasters/notesMaster1.xml" Id="Rf0b6fa0835c547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641f4b361e4f17" /><Relationship Type="http://schemas.openxmlformats.org/officeDocument/2006/relationships/notesMaster" Target="/ppt/notesMasters/notesMaster1.xml" Id="R74ad55e727e046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ca2fd574a4e8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8d789bdbb2844ea" /><Relationship Type="http://schemas.openxmlformats.org/officeDocument/2006/relationships/slideLayout" Target="/ppt/slideLayouts/slideLayout2.xml" Id="R1ca5467cb88942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a5467cb88942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6128a9d9fc4ee0" /><Relationship Type="http://schemas.openxmlformats.org/officeDocument/2006/relationships/notesSlide" Target="/ppt/notesSlides/notesSlide1.xml" Id="R1c061bbd61f64c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4ecc4fa1d420d" /><Relationship Type="http://schemas.openxmlformats.org/officeDocument/2006/relationships/notesSlide" Target="/ppt/notesSlides/notesSlide2.xml" Id="Ree9dae8e9e4648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6f26ee4cef46e6" /><Relationship Type="http://schemas.openxmlformats.org/officeDocument/2006/relationships/notesSlide" Target="/ppt/notesSlides/notesSlide3.xml" Id="R0c639953f85e4f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ebcf97abec4d23" /><Relationship Type="http://schemas.openxmlformats.org/officeDocument/2006/relationships/notesSlide" Target="/ppt/notesSlides/notesSlide4.xml" Id="Rf64e60ae052043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19b3dfdd964d95" /><Relationship Type="http://schemas.openxmlformats.org/officeDocument/2006/relationships/notesSlide" Target="/ppt/notesSlides/notesSlide5.xml" Id="Rf1f4bee576184b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b9063adfa04b1c" /><Relationship Type="http://schemas.openxmlformats.org/officeDocument/2006/relationships/notesSlide" Target="/ppt/notesSlides/notesSlide6.xml" Id="Ra0876ccec21942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373a1557ff4eb2" /><Relationship Type="http://schemas.openxmlformats.org/officeDocument/2006/relationships/notesSlide" Target="/ppt/notesSlides/notesSlide7.xml" Id="Rfade139457e041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8e7f9637b3427b" /><Relationship Type="http://schemas.openxmlformats.org/officeDocument/2006/relationships/notesSlide" Target="/ppt/notesSlides/notesSlide8.xml" Id="R229d4730505743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328988334841eb" /><Relationship Type="http://schemas.openxmlformats.org/officeDocument/2006/relationships/notesSlide" Target="/ppt/notesSlides/notesSlide9.xml" Id="Ra2dde0fb6b4e40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6497b04e894466" /><Relationship Type="http://schemas.openxmlformats.org/officeDocument/2006/relationships/notesSlide" Target="/ppt/notesSlides/notesSlide10.xml" Id="R0695c9cbc0dc40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CDACB-6C09-467B-B535-FF4A03DA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DF4BC-E884-4EA4-8BAA-3C7E514F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EA832-8E28-4287-8E89-2535DDDE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4AD78-4C83-49D2-A3F5-DD02CA62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5D5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55D58"/>
                </a:solidFill>
                <a:latin typeface="Aptos Display"/>
                <a:ea typeface="Aptos Display"/>
                <a:cs typeface="Aptos Display"/>
              </a:rPr>
              <a:t>KUVOZ 3.0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2B3E3-8639-4AC8-9074-2FE679D4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28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rPr>
              <a:t>Pazar şansı,</a:t>
            </a:r>
          </a:p>
          <a:p xmlns:a="http://schemas.openxmlformats.org/drawingml/2006/main">
            <a:pPr algn="l">
              <a:defRPr sz="360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rPr>
              <a:t>yatırım ve yol haritası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563A1-BA27-4CFB-B84E-14D928C8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Amaç: ürünü tanıtmak değil; piyasada hangi stratejiyle şansımızın arttığını, hangi sermayeyle neyi kanıtlayacağımızı ve hangi kapıda durup karar vereceğimizi netleştirmek.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1B9B6-5D51-4615-9072-9CF2F122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61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87755-8778-4408-AC6E-EC246D65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D7D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D7D2"/>
                </a:solidFill>
                <a:latin typeface="Aptos"/>
                <a:ea typeface="Aptos"/>
                <a:cs typeface="Aptos"/>
              </a:rPr>
              <a:t>Yönetici özeti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880B6-51DA-4E54-8B80-1087A433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502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Şansımız orta-yüksek; ancak sadece “yeni bir kabin” olarak çıkarsak düşer. İlk bahis upgrade kit + kanal + pilot referans olmalı.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0B63A-867C-4AE5-8792-2D54F56B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19150"/>
            <a:ext cx="2895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79760-75BF-4CC9-B204-BC688E14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5250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PAZAR ZEMINI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F7A00-D4AB-4F64-81CC-A33187E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811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5D5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55D58"/>
                </a:solidFill>
                <a:latin typeface="Aptos Display"/>
                <a:ea typeface="Aptos Display"/>
                <a:cs typeface="Aptos Display"/>
              </a:rPr>
              <a:t>9.637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413F6-57A4-4270-8988-8981074C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Ekim 2025 klinik + hayvan hastanesi sayısı.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10301-878A-44C7-9958-774ED4BA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28850"/>
            <a:ext cx="2895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5D047-A249-4DAA-AB41-E0DEB7F0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VETERINER KANAL PAYI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02F65-32A6-4CB6-80EB-686C4AAD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908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12.0B TL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165BB-ED02-443A-99BF-E8EDD81D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70B TL pet pazarının %17,2 veteriner kanal proxy'si.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BCF3A-E7F7-44B5-9329-FB4608AA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38550"/>
            <a:ext cx="2895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1C430-ED68-4964-A21F-C255672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EN IYI ILK SENARYO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5954C-A295-44F3-948C-215AD99E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805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7805D"/>
                </a:solidFill>
                <a:latin typeface="Aptos Display"/>
                <a:ea typeface="Aptos Display"/>
                <a:cs typeface="Aptos Display"/>
              </a:rPr>
              <a:t>%65-75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F7369-7631-4DD8-B6DD-BF42FB3A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4340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Upgrade kit + kanal + pilot referans koşuluyla iç tahmin.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31EA9-8B07-4F6F-95C6-BB070E64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4350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2"/>
          </a:solidFill>
          <a:ln xmlns:a="http://schemas.openxmlformats.org/drawingml/2006/main" w="9525">
            <a:solidFill>
              <a:srgbClr val="D98A1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28D42-D8FF-4EC4-BE1D-1A6BC65C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149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İlk karar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DC5B2E-6402-4F40-9367-E5CF31C9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43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8M TL ile 12 ayda kanıtla; sonra tam cihaz ve ihracat kararını ver.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67757-9BE0-4F16-8CC9-DDA07E4E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Kaynak: Kuvoz pazar analizi, şirketleşme yol haritası; public source checks 8 Mayıs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674C4-9F89-4054-B847-19CC49A2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38955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F21BF5-04C3-45F8-A5BD-8B746A12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0C064-9818-4C89-A4B4-07B06E83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F0470-8FE0-4A24-B580-125606F0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2AE83-8C5D-4015-A494-417366F8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PAZAR FIRSATI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5BE70-86FC-4479-8BED-1D358228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rPr>
              <a:t>Pazar büyük; fakat bizim ilk hedefimiz tüm klinikler değil, yüksek bakım ihtiyacı olan segment.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860A7-21DC-4D9C-AEB9-8C699925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Türkiye pet pazarı büyüyor, veteriner kanalı anlamlı bir harcama havuzu oluşturuyor. Kuvoz için doğru yaklaşım toplam pazara değil, yoğun bakım/recovery ihtiyacı görünen kliniklere odaklanmak.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954FC-457C-41F3-B47A-97005A71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12090-B8D7-4F8E-8A29-5A2FDB0B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TÜRKIYE PET PAZARI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4902A-4FE2-48A1-AC6C-86AD89BE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5D5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55D58"/>
                </a:solidFill>
                <a:latin typeface="Aptos Display"/>
                <a:ea typeface="Aptos Display"/>
                <a:cs typeface="Aptos Display"/>
              </a:rPr>
              <a:t>70B TL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8B092-E14F-4A29-96C4-F6CB017C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2025 büyüklüğü; bir önceki yıl 41B TL.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6D364-9FDC-44EE-89A2-A77F63B9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CF77F-B983-4079-81D3-5E95DA76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VETERINER KANAL 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640CD-690A-40AE-A31F-20914CDD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12.0B 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F42F9-0E79-4D66-9C16-48B80620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2133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70B TL x %17,2. ICU TAM değildir; ödeme kapasitesi göstergesidir.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6DBBC-63C1-460D-9181-3F08D63F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CDD56-944C-4062-975F-99A11390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KLINIK + HASTANE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EBE40-4980-419D-A765-659B7B53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289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805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7805D"/>
                </a:solidFill>
                <a:latin typeface="Aptos Display"/>
                <a:ea typeface="Aptos Display"/>
                <a:cs typeface="Aptos Display"/>
              </a:rPr>
              <a:t>9.637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5C97A-0D94-42CD-825F-64F44090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Ekim 2025 toplam; 10 yılda %93+ artış.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4F33A-8FB5-4E2F-934D-D078201E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75E00-FAB9-43D1-8739-E2653DA6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03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İLK KURUMSAL HEDEF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CF21B7-4F8C-460B-BD93-912DA223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8A1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D98A1B"/>
                </a:solidFill>
                <a:latin typeface="Aptos Display"/>
                <a:ea typeface="Aptos Display"/>
                <a:cs typeface="Aptos Display"/>
              </a:rPr>
              <a:t>250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32427-F82A-4625-ABD9-DA088620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116 hastane + 134 poliklinik; yüksek hacimli klinikler ikinci halka.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CB187-6EFB-4654-82B2-7BECDE73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047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337BB-6389-4356-8D41-55D8A4B0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Pazar okuması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ACB26-5B10-42D9-AFC7-D5C2EA79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CEC92B-015B-4C54-BDA8-430512E4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Büyüme var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3F3AB-3C96-4721-8AB8-98ADC7F9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Pet pazarı 2025'te ciro bazında %70 büyümüş; 2025-2026 için adet bazlı %20 beklenti var.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CC1AA2-9CA2-47D2-A12F-2B827FAD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863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67E93A-22B3-445B-8839-ED027FD4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Parçalı yapı var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BEC25F-954C-4871-AF5E-C27D0115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339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9.387 muayenehane geniş erişim sunar; ama satış verimi kurumsal/yoğun bakım ihtiyacı yüksek segmentte başlar.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F0FC76-8CC5-4BA9-964C-ED7152E8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863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F72812-16EA-4DDC-84C3-7CC3399E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863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Fırsat standardı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5FE3C5-4AF4-4680-B527-AA39E8C2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339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Klinikler ekipman alıyor; farklılaşma kayıt, uzaktan takip, güvenlik ve servis kanıtıyla oluşur.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8D6D00-68FB-4092-A090-D6CE0A6C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Kaynak: Marketing Türkiye, 4 Mart 2026; Vetting for Vets, Ocak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736EA5-E989-447B-A5B6-A43A6292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87659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9C2F9-8811-4399-9115-8738B59C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D5EC1-D5BA-42A9-AA50-A1ABE99D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CEEEA-C206-47A2-8949-8AD0BDF3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8A96F-3798-4E68-A40A-34786EC2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REKABET BOŞLUĞU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5876E-DEB4-4E97-8537-FFEE3756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rPr>
              <a:t>Donanım bulunabiliyor; boşluk, güvenilir akıllı takip ve servis standardında.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42392-12DA-42E9-8D76-4541559C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Kuvoz'un piyasa şansı, fiyat kırmaktan değil mevcut donanım çıpalarının üzerine yazılım, kayıt, alarm ve uzaktan destek katmanı koymaktan geliyor.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B49BA-0778-44AF-834A-0A9B02C2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BA609-6CC4-4C38-960E-B10FE93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Segment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70CA3-2310-440E-89AC-818E18C7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14600"/>
            <a:ext cx="2724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Piyasa çıpası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8698A-D034-4266-B9F5-AC4B2716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449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Kuvoz açısından anlamı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99874-E2AA-48C2-AC00-2EF3D150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677DE-CE89-4141-99CB-FD219F0B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Ekonomik / taşınabilir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76181-013C-4859-A10A-9A69D780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527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202A"/>
                </a:solidFill>
                <a:latin typeface="Aptos"/>
                <a:ea typeface="Aptos"/>
                <a:cs typeface="Aptos"/>
              </a:rPr>
              <a:t>Brinsea TLC-50: $1,299.99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275CB-9C5F-4E0B-8CF5-D3855668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Ucuz segment var; Kuvoz buraya sıkışmamalı.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11B9C-70EB-4D39-B0CE-C1456B92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8E929-A9AF-4B75-AAAB-97513642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Yerli orta sınıf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4EE3A-E018-44E4-9C11-2FA52B78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433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202A"/>
                </a:solidFill>
                <a:latin typeface="Aptos"/>
                <a:ea typeface="Aptos"/>
                <a:cs typeface="Aptos"/>
              </a:rPr>
              <a:t>VM-ICU orta boy: 110K TL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08E2E-CBBA-4AFB-8D95-9DE4D946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Satın alma çıpası oluşmuş; yazılım farkı görünür olmalı.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B0D9A-720E-4372-843C-52AFEEB9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960AC5-A323-4416-9160-D7972F31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Çoklu kabin / 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51E2C5-34CD-46AC-A994-80D0B518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338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202A"/>
                </a:solidFill>
                <a:latin typeface="Aptos"/>
                <a:ea typeface="Aptos"/>
                <a:cs typeface="Aptos"/>
              </a:rPr>
              <a:t>VM-ICU set: 300K TL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C02FE-623A-42C3-9BB3-C0BE6723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Set satın alma niyeti var; çoklu cihaz paneli ikinci yıl opsiyonu.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976CD-7F5A-4F73-AA30-0CA0D0A5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D05F3-BB92-4DAB-AE78-F5037404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Premium ICU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18238-2FE9-496C-8BD2-17A7DE6F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244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202A"/>
                </a:solidFill>
                <a:latin typeface="Aptos"/>
                <a:ea typeface="Aptos"/>
                <a:cs typeface="Aptos"/>
              </a:rPr>
              <a:t>VetFlex: quote / finansman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030BA5-7799-4029-A3AA-D140ED09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Premium segment akıllı oksijen, düşük bakım ve servis diliyle satıyor.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50AB34-523E-44E5-B576-9A60D1B9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0B7D7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200D96-A8AB-41C8-9E7C-B51645A5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Kuvoz giriş stratejisi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7A39AA-7145-462E-985A-62B209C1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149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Upgrade kit: 35-60K TL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6C938B-3320-4012-BA78-80E4EC9D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Tam cihazdan önce mevcut kabini akıllandırarak pazar testini hızlandırır.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08EFA7-36A7-4D0B-A173-9827DFE6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47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2"/>
          </a:solidFill>
          <a:ln xmlns:a="http://schemas.openxmlformats.org/drawingml/2006/main" w="9525">
            <a:solidFill>
              <a:srgbClr val="D98A1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5B559B-6C71-44B8-AAD7-443E6326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38850"/>
            <a:ext cx="990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Stratejik sonuç: fırsat, kabin satmakta değil; kabinleri ölçülebilir, kayıtlı ve uzaktan desteklenebilir klinik altyapısına çevirmekte.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341F04-BBEA-4091-8041-B88D748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Kaynak: Vetmarketi ürün sayfaları, Brinsea, VetFlex; Kuvoz pazar analizi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947F5B-FB91-40D4-B322-C424169D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4777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AED7FC-1445-404D-A31D-FD1BF255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91754-7D2C-42B4-AD9B-EE4BE408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22F32-4385-407E-8DE2-EF76C202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45212-5EDA-4E88-B467-B40D88C3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BAŞARI IHTIMALI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0E12F-5D58-467D-BDB0-848FAB62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rPr>
              <a:t>Başarı ihtimali üründen çok, pazara giriş biçimine bağlı.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C055E-0C42-4E2D-8D46-F59F4D87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Aşağıdaki oranlar istatistiksel garanti değil; Kuvoz pazar analizindeki iç strateji tahminidir. Yatırım kararında bu oranları koşullu senaryo olarak okumak gerekir.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DC554-B9EB-478D-8555-6B1CB2AD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0477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E0287-E01D-4612-8C88-53CB5EDD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F7E4B-B093-47C5-86FB-44530E24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1D907-ABD9-4FC4-B5AC-412CAE88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C1C98-DB80-4FE8-9546-3DA7F62E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4FCA0-090C-4D45-965C-819558EB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Upgrade kit + kanal + pilot referans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43696-3260-417F-9DF5-C4347AD1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En az stok riski, hızlı kurulum, Vetmarketi uyumu ve klinik geri bildirimi.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11275-F253-48C3-8018-F5AD057F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F992A-1653-4223-B409-57814ADE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480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FBABF-4A3B-4A60-83E6-C3DB938A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780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7805D"/>
                </a:solidFill>
                <a:latin typeface="Aptos"/>
                <a:ea typeface="Aptos"/>
                <a:cs typeface="Aptos"/>
              </a:rPr>
              <a:t>%65-75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6098B-2CF2-4A84-8FCF-ED812EC5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0037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780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7BCCF-D729-4DE4-A09A-FCA78C44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95625"/>
            <a:ext cx="723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7805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7805D"/>
                </a:solidFill>
                <a:latin typeface="Aptos"/>
                <a:ea typeface="Aptos"/>
                <a:cs typeface="Aptos"/>
              </a:rPr>
              <a:t>hedef rota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D5A7E-EE9A-4DC3-B5E8-FAA814F2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Tam cihaz + garanti + referans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5AD36-FC9D-439D-B537-F75FF2AD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Daha yüksek ciro potansiyeli ama mekanik üretim, stok ve servis riski daha ağır.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9BBC6-820A-4606-A452-4747DC2A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80996-B578-4BC7-A6A2-BAA0E6E1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6CD51-3040-4409-BD95-15A1481A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814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%50-60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7404B-C51E-456F-B8AE-32663691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7192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0DF87A-0BA7-4A33-9A60-CC9D064B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67175"/>
            <a:ext cx="723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2. yıl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C8FCB-5386-4F3A-8A4C-10B666AF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Donanım özellik listesiyle çıkış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122CF-C939-4DE4-AF82-6F572D1A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Fiyat rekabetine girer; yazılım, güvenlik ve servis farkı görünmez kalır.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00922-B75F-4CE7-B32C-744A04E0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911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CA4D9C-C771-4FD8-A606-63E74FD1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911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3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5327FC-99D4-4F62-BB60-2699510C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530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A3B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A3B3E"/>
                </a:solidFill>
                <a:latin typeface="Aptos"/>
                <a:ea typeface="Aptos"/>
                <a:cs typeface="Aptos"/>
              </a:rPr>
              <a:t>%30-40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29E4D8-8F19-474D-84E4-C4B7C081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43475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 w="9525">
            <a:solidFill>
              <a:srgbClr val="BA3B3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775857-428D-4928-B4D9-854A2F1C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038725"/>
            <a:ext cx="723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BA3B3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BA3B3E"/>
                </a:solidFill>
                <a:latin typeface="Aptos"/>
                <a:ea typeface="Aptos"/>
                <a:cs typeface="Aptos"/>
              </a:rPr>
              <a:t>kaçın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5132A2-207A-421C-BBA1-3FF1B66C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8125C2-5F43-47B5-ACB6-59DA9AFB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81700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Yatırım tezi: En yüksek olasılık, ürünün ne olduğundan önce hangi riskleri azaltarak pazara çıktığımızda ortaya çıkıyor.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ABA73C-4F14-4348-9DA3-AAC30B48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Kaynak: Kuvoz 3.0 Pazar ve İhracat Analizi, ticari başarı senaryoları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97CD20-01DA-44A6-8392-1545EABA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85006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AE6464-FA73-4600-8A60-E2E385FB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01B73-F320-42A6-9D0D-0C2561E9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BEEFE-B188-45C4-806E-8BE90891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D255E-C9A6-477D-9A09-D1E9CFC9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GO-TO-MARKET MANTIĞI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30EA3-ED3D-49B0-9F52-079BA289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rPr>
              <a:t>İlk 12 ayın işi satış yapmak kadar, doğru satış modelini kanıtlamak.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7379A-15E9-45F2-B22E-85B2996C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Hedef, geniş kampanya değil: klinik ihtiyacı yüksek dar segment, kanal güveni, kontrollü pilot, ölçülebilir kullanım ve ardından satış.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83FF9-9D1A-466F-B723-A554A7E9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466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69A35-6D4A-41D5-8221-D6012898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7AFD8-4689-4A15-8DDA-C5238D79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5FB2D-3C3C-4081-881C-1111339D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Hastane, poliklinik, yüksek cerrahi/recovery hacmi olan klinikler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79E60-F836-4FE5-B121-81FA03EA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00B32-EADF-462A-982A-188F6081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466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3271A-7413-439D-AC9D-F5B15B89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81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C867D-BE49-42C7-A6FF-05DB5780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004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Kanal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12BE5-D14B-4826-90D1-06F272ED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8615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Vetmarketi ürün trafiği + Kuvoz demo görüşmesi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CD01D-8183-4373-86F4-4A761ECA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718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DB60B-9575-4FB1-A95B-F29BA122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1466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27A9E-59A5-48BC-A656-ADDBB3E2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92FF3-A849-4A54-B506-6943D5F5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04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6865D-D23B-48B4-9045-346E2526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3-5 klinikte 60-90 gün kullanım ve güvenlik senaryoları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9E40F-BFFE-47DC-A724-E054CBB1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718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D033C-2DE9-415A-BD8C-6411E56F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1466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0BACF-3EB1-4541-B015-B4F0D243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466F98-60DB-4523-A7A9-051CD9C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Kanıt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A3C77-E89D-40FB-9581-4B9CFF11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Alarm doğruluğu, stabilite, servis ihtiyacı, klinik geri bildirimi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0A243E-1903-40FE-88A7-CA58E629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718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F5B45-D45A-4E28-8D9D-07D218E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1466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2"/>
          </a:solidFill>
          <a:ln xmlns:a="http://schemas.openxmlformats.org/drawingml/2006/main" w="9525">
            <a:solidFill>
              <a:srgbClr val="D98A1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D2790A-4C2E-4D34-B230-EFF03D0B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94E5F1-408A-4B97-B77A-D215E6C9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004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Lansman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664933-27FC-4D31-B46D-64DAEF9B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10-20 satış, garanti/SLA, fiyat paketleri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22EC03-B72C-4082-966A-E878F5C5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E46B4A-7703-4775-8C3E-746B7222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466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2"/>
          </a:solidFill>
          <a:ln xmlns:a="http://schemas.openxmlformats.org/drawingml/2006/main" w="9525">
            <a:solidFill>
              <a:srgbClr val="D98A1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60AEC9-3B14-4697-8A34-92D73FCA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AAB196-137F-494A-83EE-0A6E4D2A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004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Genişleme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4B6C65-E73B-4A7B-8AEE-5696EAD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8615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Tam cihaz, klinik paneli, distribütör görüşmeleri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1766E4-A469-40D6-8E37-CA61C03E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838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2A5BBA-A902-42EC-B8C2-4E8F4B04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Neden bu akış?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50B781-D116-4C2B-B188-70C59C16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Çünkü pazar fırsatı var ama güven şart. Klinik pilotu olmadan ürün sayfası; servis dokümanı olmadan satış; kanal hedefi olmadan üretim kararı eksik kalır.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4F92C3-7713-43B0-9065-3140DA03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76800"/>
            <a:ext cx="4838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9525">
            <a:solidFill>
              <a:srgbClr val="10232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D4E7A8-3C2A-497B-83B3-EE940B53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673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 ay sonunda aranacak kanıt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41306A-435F-4972-93D3-DF943435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1495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9E5E7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D9E5E7"/>
                </a:solidFill>
                <a:latin typeface="Aptos"/>
                <a:ea typeface="Aptos"/>
                <a:cs typeface="Aptos"/>
              </a:rPr>
              <a:t>3-5 pilot, 2 referans vaka, 10-20 satış, 1M TL+ ciro veya imzalı sipariş; aksi halde fiyat/paket/mesaj revizyonu.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38A458-2DF8-4691-8226-A43D346C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Kaynak: Kuvoz yol haritası, ilk 12 ay KPI ve karar noktaları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B83268-1B06-4B38-88D3-0832A223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006970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CE2455-9EBB-4877-ADED-94EC26A6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08D64-B95E-41EF-BC37-51D04DDD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E936B-F14E-4493-B730-86EDAE03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13653-DFBC-44A6-BCC9-1FA6F552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YATIRIM IHTIYACI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A563F-AC72-4279-8A08-5AEFA31D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rPr>
              <a:t>İlk tur hedefi 8M TL: 12 ayda ürün-pazar ve kanal kanıtı almak için.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0D054-A5CD-4214-92FD-B174356A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Bu tutar, 6-10M TL lean bütçe bandının orta noktasıdır. Amaç tam cihaz fabrikası kurmak değil; pilot, güvenlik, kanal ve ilk satış kanıtını satın almaktır.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4BD35-EE8A-441E-8DAD-7288BDA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628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EC1BD-B15D-42B2-A31B-572D2C3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8M TL kullanım planı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77C83-4F09-446E-B351-0A39040E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3202A"/>
                </a:solidFill>
                <a:latin typeface="Aptos"/>
                <a:ea typeface="Aptos"/>
                <a:cs typeface="Aptos"/>
              </a:rPr>
              <a:t>Yazılım, AI, uzaktan izleme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D09F6-C16D-420D-AE6F-67F764AF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146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B6A40-0184-425D-8536-AA93DE8A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146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A5E3D-05C3-44A0-AC75-C3294D8B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7657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2.2M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2CDCE-60A2-4FB6-A8EF-56884A69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3202A"/>
                </a:solidFill>
                <a:latin typeface="Aptos"/>
                <a:ea typeface="Aptos"/>
                <a:cs typeface="Aptos"/>
              </a:rPr>
              <a:t>Çekirdek ekip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60822-714F-4696-B418-01245E54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3852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69878-4491-4984-A656-FB90CEBC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38525"/>
            <a:ext cx="2333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80609-E6E3-4B37-B5D9-3FA7149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0042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2M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D818E-045E-4299-A8B3-26EC348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3202A"/>
                </a:solidFill>
                <a:latin typeface="Aptos"/>
                <a:ea typeface="Aptos"/>
                <a:cs typeface="Aptos"/>
              </a:rPr>
              <a:t>Elektronik, sensör, PCB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7EA59-0FC6-404F-B699-C5666E43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623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76BEF-5FC2-49B7-8BEB-85C656FA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62375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9A46DD-B1A2-4868-AF55-5B986F1E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2427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1.1M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CAECF-DBC0-4B45-8E1E-C585AEC1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3202A"/>
                </a:solidFill>
                <a:latin typeface="Aptos"/>
                <a:ea typeface="Aptos"/>
                <a:cs typeface="Aptos"/>
              </a:rPr>
              <a:t>Pilot kit/prototip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FC3C7-3F60-42A7-BDE9-8C37264F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8622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2CBC8-CDB9-4DED-99D5-0B661E68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86225"/>
            <a:ext cx="1171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71D05-CF32-40D8-8F31-03607A75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4812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27805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7805D"/>
                </a:solidFill>
                <a:latin typeface="Aptos"/>
                <a:ea typeface="Aptos"/>
                <a:cs typeface="Aptos"/>
              </a:rPr>
              <a:t>1M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E49907-2CD5-4CB2-8D3F-8956CE40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3202A"/>
                </a:solidFill>
                <a:latin typeface="Aptos"/>
                <a:ea typeface="Aptos"/>
                <a:cs typeface="Aptos"/>
              </a:rPr>
              <a:t>Güvenlik/test hazırlığı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907131-1664-4776-A47B-E7832AF0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100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AE6BB1-EFEA-4467-A8C9-F1A0258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100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3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375872-2A5B-47B3-9BDF-9251F591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7197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BA3B3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A3B3E"/>
                </a:solidFill>
                <a:latin typeface="Aptos"/>
                <a:ea typeface="Aptos"/>
                <a:cs typeface="Aptos"/>
              </a:rPr>
              <a:t>0.9M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FABB72-55DC-4C43-BFDB-B1949759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3202A"/>
                </a:solidFill>
                <a:latin typeface="Aptos"/>
                <a:ea typeface="Aptos"/>
                <a:cs typeface="Aptos"/>
              </a:rPr>
              <a:t>Pilot, demo, kanal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75C736-4527-4D9E-92B0-A2A4DBB1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3392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880620-344A-4A95-94FC-BD863A26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33925"/>
            <a:ext cx="5810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0786E5-F841-4A17-834A-4D41C4AC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9582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7C5CB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C5CBA"/>
                </a:solidFill>
                <a:latin typeface="Aptos"/>
                <a:ea typeface="Aptos"/>
                <a:cs typeface="Aptos"/>
              </a:rPr>
              <a:t>0.5M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8CB275-DB99-47D7-A15B-A0AD7F3C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3202A"/>
                </a:solidFill>
                <a:latin typeface="Aptos"/>
                <a:ea typeface="Aptos"/>
                <a:cs typeface="Aptos"/>
              </a:rPr>
              <a:t>Stok/servis sermayesi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24A3AC-6637-477A-B8EF-4ABD6C15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577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D88ADB-D7F3-4BF5-B652-3BA2E4EB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57775"/>
            <a:ext cx="352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9D088E-ADC9-422B-A496-6946CD76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1967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0.3M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DD959A-ED1A-4E40-9D03-BD60DE76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8B1875-634C-452B-AAC8-8436D7B9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4795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Kamu destekleri hızlandırıcıdır; tur yerine geçmez.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53D0A1-E30C-4563-B79E-9027690C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956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0B7D7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59FCB9-B6A1-4046-B0E8-CFFC39DD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55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BiGG 1812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833693-86DB-4CE2-929D-1A96973F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14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1.35M TL / %3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9266FB-4A1D-41EF-858A-407FF5E2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81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devam yatırımı talebi: 1.35M TL'ye kadar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EF0C71-708D-4EDE-AAD9-99DB1541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6240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76433E-DDAD-4854-8956-22E3F533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55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KOSGEB 2026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903DDD-FB45-4702-9CC6-0483A6D2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81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1.5M TL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912FB3-2F72-4054-A9AC-6A389BF5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48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%80 geri ödemeli iş geliştirme desteği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BC7F17-C615-4F22-BF92-F65DE29C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29150"/>
            <a:ext cx="819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2"/>
          </a:solidFill>
          <a:ln xmlns:a="http://schemas.openxmlformats.org/drawingml/2006/main" w="9525">
            <a:solidFill>
              <a:srgbClr val="D98A1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24FA3E-C0EF-40FC-A3DC-AAC1133F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62500"/>
            <a:ext cx="55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TÜBİTAK 1507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437AD7-B7EC-4EE4-91AC-6AD50227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48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%75 hibe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3C8CEE-F88D-4400-A300-D405612C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14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3.5M TL proje bütçe üst sınırı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9323E8-A3FD-48B3-B958-A773B566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19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0D88CF-1DA9-4169-AF68-209BCB22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81700"/>
            <a:ext cx="962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Yatırımcı için net kullanım: 8M TL, 12 aylık kanıt süresinin yakıtı; kamu destekleri dilüsyon azaltıcı ve kapsam genişletici ek kaldıraç.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522496-08D5-4DCE-91E8-D44629E1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Kaynak: Kuvoz yol haritası; TÜBİTAK 1812, KOSGEB 2026, TÜBİTAK 1507 resmi sayfaları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663B71-CFA9-47D3-B40E-0A3269A5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46015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C8AE91-2C28-42B9-8C89-86572A57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FE4D2-FB0E-4A1C-BA95-4163BEB6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EC44B-F2A8-40D9-A218-6CF7245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09790-72AC-4DC7-B79C-081DF991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24 AY YOL HARITASI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243FB-301B-49AB-A060-3FEA1BA1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rPr>
              <a:t>Yol haritası ürün sıralaması değil, yatırım riskini azaltan karar kapılarıdır.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812F7-640E-49E4-8BB8-6CA40EB7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Her fazın sonunda “devam mı, düzeltme mi?” sorusu var. Bu yaklaşım tam cihaz ve ihracat kararını pilot kanıtından önce almamızı engeller.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34B76-C02B-4490-B684-27ACA49C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039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5CC45-D942-496D-B805-932EB474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2"/>
          </a:solidFill>
          <a:ln xmlns:a="http://schemas.openxmlformats.org/drawingml/2006/main" w="9525">
            <a:solidFill>
              <a:srgbClr val="D98A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43E78-8FD2-4F40-AFC0-716F14DF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9925"/>
            <a:ext cx="228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0-3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12E12-D5D2-4DD7-8640-F6A04CD9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40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D4F78-6ACE-4C5C-A3CF-624A2547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Şirket + kanal zemini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3E221-E7BE-41B4-9C4F-A5020836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A.Ş./Teknopark, 3 pilot aday, Vetmarketi görüşmesi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1B897-8D01-4C18-BE71-BCDC69AC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gate: kurucu/IP net mi?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A4D5A-7FD5-4C59-9758-4102BFF6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86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2"/>
          </a:solidFill>
          <a:ln xmlns:a="http://schemas.openxmlformats.org/drawingml/2006/main" w="9525">
            <a:solidFill>
              <a:srgbClr val="D98A1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CC99D-92DB-4D9D-A991-4024A47A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9925"/>
            <a:ext cx="228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3-6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29B4D-174F-45F7-9984-BA24E0FB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24050"/>
            <a:ext cx="140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E41D2-2D96-42F5-9FE5-C44990D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669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MVP pilot kit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21788-8588-4942-A059-165A4AEF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05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3 kit, güvenlik kilidi, kurulum protokolü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C7570-0F46-44DB-8187-CE4D3217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gate: stabil MVP var mı?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2CE2B-A1AA-4613-AE24-67D3B67D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2"/>
          </a:solidFill>
          <a:ln xmlns:a="http://schemas.openxmlformats.org/drawingml/2006/main" w="9525">
            <a:solidFill>
              <a:srgbClr val="D98A1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8D2BB-2083-4465-AAF3-5AA97950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9925"/>
            <a:ext cx="228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6-9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29F77-EB15-4870-B33D-73BA6BA1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140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7ADC02-5818-4C0F-B752-92C788FD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814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Klinik pilot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411015-9B75-4C1E-B335-0912D00A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195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3-5 klinik, 60+ gün kullanım, referans veri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1FB8E5-4B11-445C-88CB-741C36B0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815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gate: klinik gerçek kullanımda dayanıyor mu?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B6D594-A1AA-43C6-8C38-B5D9531E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2"/>
          </a:solidFill>
          <a:ln xmlns:a="http://schemas.openxmlformats.org/drawingml/2006/main" w="9525">
            <a:solidFill>
              <a:srgbClr val="D98A1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AB9FC7-C6F7-403B-80E7-01D37BA3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228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9-12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0181E8-A036-46D0-9849-80C9E041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140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F4423-F904-42C7-BA00-B6EA8D8C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669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Kanal lansmanı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E970C-6BF9-4E32-A22E-27D4242A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05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10-20 satış, servis/SLA, 1M TL+ ciro/sipariş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8CE1D9-AFE2-485A-9908-B66BCCBF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gate: klinik para ödüyor mu?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AF6A30-C24C-4DF8-BF66-B7558167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32715E-0DFE-4406-875D-9306002B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9925"/>
            <a:ext cx="228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12-18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E50618-B975-401E-8870-E3C20E2D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140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38DA11-248A-4E2D-80AA-0B37C393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814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Seri hazırlık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F94C23-229E-4434-9429-BB29DECC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195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PCB, kalite kontrol, tam cihaz prototipi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D3F8A2-BEEB-4BF5-94E1-005AC475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815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gate: kit mi, tam cihaz mı?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37D309-CE0A-4527-AC43-747C9428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861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8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BCC114-7630-4773-B7A0-93084D1C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09925"/>
            <a:ext cx="2286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18-24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E8A075-9221-4CF2-A1D1-0978921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40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D22A8E-81B6-4C62-BBB8-96F41D33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669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İhracat hazırlığı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31157F-2B60-43B6-A36E-B081B89C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GCC/Balkan, İngilizce materyal, CE/UKCA planı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769DA4-9019-4D1C-870A-086B6B65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gate: ikinci kaynak şartları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51A70D-6BF3-42D4-B725-4AA77A92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03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FADDE6-045E-4B89-807B-9175D1C6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4355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D9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D99B"/>
                </a:solidFill>
                <a:latin typeface="Aptos"/>
                <a:ea typeface="Aptos"/>
                <a:cs typeface="Aptos"/>
              </a:rPr>
              <a:t>Yatırım mantığı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255141-2DCB-402D-9780-488BD46F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435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İlk 12 ay: daha az sermayeyle pazar kanıtı. 12. aydan sonra: tam cihaz, ihracat ve klinik paneli için 15-25M TL ikinci kaynak dosyası.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B41551-200C-489D-A64D-348238E6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Kaynak: Kuvoz şirketleşme yol haritası, 0-24 ay fazları ve karar noktaları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3425E9-46A9-41B9-B531-5774EF6A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20145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306555-12A7-4E7C-9376-2F4B46A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D2285-2C3D-4366-85DC-5E731304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3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BBC94-D5B2-4CCF-B031-D2736EB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C3DFF-6D02-4B3E-8329-422E303D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RISK AYARI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FFB09-F0BC-4BBC-A4FF-BF51CE43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rPr>
              <a:t>Başarı ihtimalini yükselten şey riskleri saklamak değil, önceden ölçmek.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FE52D-FE05-4D47-B9D5-917E6B5A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Kuvoz için en kritik risk ticari değil, güven riskidir. Güven çözüldüğünde kanal ve satış daha anlamlı hale gelir.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730A2-FCE6-40B2-8365-621BED8A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8EA13-BAD2-4D3B-86C0-F3DFF201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A8035-FD53-483C-A469-8E7A0E0D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Etki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B270B-BC86-4949-8273-EAEA8364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Önlem /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87579-272C-4167-9E5F-EB5A2698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D74D1-68A2-4F52-AE8F-90396D7E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3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6BCA7-8C98-4BB2-805B-C547ED80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Hasta güvenliği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DCB3B-35C0-4A10-B1B4-9EE398B7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A3B3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A3B3E"/>
                </a:solidFill>
                <a:latin typeface="Aptos"/>
                <a:ea typeface="Aptos"/>
                <a:cs typeface="Aptos"/>
              </a:rPr>
              <a:t>çok yüksek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30B0E-E22D-4625-BC46-77563A1D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956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Ozon/UV kilidi, aşırı ısı alarmı, acil durdurma, test protokolü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0DFDF-EAFE-4435-B3C1-99B749AD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7E258-7772-4E2E-8EED-21D142D1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9F594-E307-4FEA-84BF-F8FCD9DB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Sensör güvenilirliği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A602B-6CE4-41F0-ACE3-84780383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yüksek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B6061-BD9B-49CD-8C7E-90E0184A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Kalibrasyon prosedürü, yedek sensör, arıza tespiti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C10F1-8820-4743-914F-74432C47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9389B-EB47-4B8B-8117-C3E051E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72B7F-BFD9-48ED-8073-C40AF6F5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Klinik kullanım zorluğu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C19D7-594E-4EF9-83C7-9A668A23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orta-yüksek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E1D63-836C-4487-B297-F8DB66F6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243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Touch-first sade akış, pilot geri bildirim döngüsü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BD5E1E-2295-4298-8E67-12462016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E8D6F-7130-44DA-BF08-CCF59F57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86E19D-DCA3-4B45-8EA8-CFC989AA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Stok ve nakit sıkışması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4B81C-20CB-4D79-BC41-5E660654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57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80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805D"/>
                </a:solidFill>
                <a:latin typeface="Aptos"/>
                <a:ea typeface="Aptos"/>
                <a:cs typeface="Aptos"/>
              </a:rPr>
              <a:t>yüksek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7D90BC-B255-472D-8DBA-6CF914F1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386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Tam cihaz yerine upgrade kit, siparişe yakın üretim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E59684-0A25-48B5-89F7-8B4C127C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21E454-CF69-44B6-A405-CE7B2A27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2FE003-CC8C-4EB9-853C-7B864147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Kanal bağımlılığı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9D4B96-5DF9-4674-BFC1-E6B1AF93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D77"/>
                </a:solidFill>
                <a:latin typeface="Aptos"/>
                <a:ea typeface="Aptos"/>
                <a:cs typeface="Aptos"/>
              </a:rPr>
              <a:t>orta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DD8D1E-9314-4DAC-B4C4-E4F7BA67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Geniş münhasırlık yok; performans hedefli ve süreli opsiyon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8FCE94-C5BB-4C9A-8219-852BC5B2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8BFF48-7DD9-46EE-B607-228EDCE0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418817-8B8C-4F30-B048-1B02E3DB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864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Rakiplerin AI iddiası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CFABB0-29DA-4874-9A91-AEEBA330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864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5CB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5CBA"/>
                </a:solidFill>
                <a:latin typeface="Aptos"/>
                <a:ea typeface="Aptos"/>
                <a:cs typeface="Aptos"/>
              </a:rPr>
              <a:t>orta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D9376E-AD80-49B9-85C9-07DD8BC2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673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Gerçek pilot verisi, klinik rapor, ürün içi kanıt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9A67C3-F7BB-4794-A462-1E790959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47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 w="9525">
            <a:solidFill>
              <a:srgbClr val="BA3B3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B3D460-AEDC-4091-90BB-577B61EA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48375"/>
            <a:ext cx="9867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BA3B3E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BA3B3E"/>
                </a:solidFill>
                <a:latin typeface="Aptos"/>
                <a:ea typeface="Aptos"/>
                <a:cs typeface="Aptos"/>
              </a:rPr>
              <a:t>Go/no-go kuralı: hasta güvenliği ve servis dokümanı tamamlanmadan agresif satış veya geniş münhasırlık verilmez.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05E960-F66E-4D9F-9C88-65BC1FDB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Kaynak: Kuvoz yol haritası riskler ve önlemler bölümü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41EB67-0D0C-4E8D-A367-66198508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84011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419A38-BD6F-41FF-A545-72D23D7F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E0C67-2378-4E8A-9B1B-FA1CC24B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45BF5-10FD-4A2B-B109-29ADB980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D3A9A-92C2-4F68-A035-E96AC603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KARAR MODELI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736EC-1B0E-4299-8D0C-7617876D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rPr>
              <a:t>İlk 12 ayın sonunda “başarılı mıyız?” sorusunu sayıyla yanıtlamalıyız.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76D0B-C56D-48DE-9A70-33D26DD3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Bu sunumun amacı yatırım kararını kolaylaştırmaksa, her fazın başarı eşiği ve kötü senaryoda ne yapılacağı şimdiden yazılı olmalı.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68638-66DF-4983-B5CB-B492E26D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BC129-1FF6-4BD4-A42E-84E4DBA6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3. 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0AF9B-C7B3-46CC-B89E-1F82DFF6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Teknik MVP çıkıyor mu?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59077-FBF6-425A-B437-FA751854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Çıkmıyorsa satış konuşulmaz; güvenlik ve stabilite sprinti.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EC67D-1073-4F91-B472-587B3E5E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3F6A3-0ED5-4C96-B075-E14F0DD0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6. 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FDDE1-49BA-4672-8F72-704A2726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Pilot klinikte dayanıyor mu?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0AF38-32D5-435D-8CC7-8C528AE5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Dayanmıyorsa ürün sertleştirme; kanal lansmanı ertelenir.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0658B-63C8-4E65-BF01-F3E587B2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086BE-BAA8-465C-BA6E-6CA15B47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9. 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9669D-FCFC-4461-8FED-EE510F28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Klinik para ödemeye hazır mı?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B228E-B9B3-4493-A712-CD32009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Hazır değilse fiyat/paket/fayda mesajı revize edilir.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30E82-F388-4C1A-BF43-8C7DB8FE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C49EE-8A8B-4FDE-892D-DE2F62CD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12. 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7C1C2-E262-4449-AD6D-BBB8401B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Kit mi tam cihaz mı daha çekici?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8062F-45CC-400A-BB8A-071E82E8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5760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Cevaba göre ikinci yıl üretim ve yatırım planı seçilir.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56159-2215-444F-A7C3-1ECCBB71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2266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FA132-0B6D-4497-A2AD-76DC6273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BAŞARI EŞIĞI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0BCADD-CF66-4C1A-AFF3-A3E0024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805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7805D"/>
                </a:solidFill>
                <a:latin typeface="Aptos Display"/>
                <a:ea typeface="Aptos Display"/>
                <a:cs typeface="Aptos Display"/>
              </a:rPr>
              <a:t>10-20 satış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30A39-58C3-4020-ABC0-230736B3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9-12 ayda kanal lansmanı sonrası ticari satış.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98B7B6-F988-4CCE-A7C4-9013C6A6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24400"/>
            <a:ext cx="2266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114BFD-757B-47B6-ADB3-7DF11AAF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577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KLINIK KANIT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DFC813-6A8F-459A-ADA5-337AEA88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863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5D5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55D58"/>
                </a:solidFill>
                <a:latin typeface="Aptos Display"/>
                <a:ea typeface="Aptos Display"/>
                <a:cs typeface="Aptos Display"/>
              </a:rPr>
              <a:t>3-5 pilot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D7903-0725-4D01-98CD-F8EC1208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292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60+ gün stabil kullanım ve 2 referans vaka.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5B720E-0E22-45DC-B970-4882A650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24400"/>
            <a:ext cx="2266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EDC8D6-2900-4F1E-B79F-204DA0AB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FINANSAL KANIT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E59CFB-9A82-43DB-A7A7-C866A395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863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1M TL+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28EDF6-E114-4167-B504-D0BB538E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Ciro veya imzalı sipariş; destek/yatırım dosyası güncel.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CD57B3-5FA2-4BE7-9589-EAD83DA8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24400"/>
            <a:ext cx="2266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5416FE-2C3C-45F9-82D8-0607DDAB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577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İKINCI BAHIS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05D27E-1DD3-4153-8E28-F4E262E6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863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8A1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D98A1B"/>
                </a:solidFill>
                <a:latin typeface="Aptos Display"/>
                <a:ea typeface="Aptos Display"/>
                <a:cs typeface="Aptos Display"/>
              </a:rPr>
              <a:t>15-25M TL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343DEC-26E4-4FA8-B4C2-2606C7FC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292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Tam cihaz, ihracat ve klinik paneli için 12. ay sonrası dosya.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5E36D7-35BF-48D9-B853-E0CDC78E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Kaynak: Kuvoz yol haritası, karar noktaları ve 12 ay KPI hedefleri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09CA44-CEDD-468C-95A5-0951B1B6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965727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B86756-EDBB-4D0D-A479-5B4E4EB3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BB1A3-D9ED-4161-A7AE-E7B87EC1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65277-48FB-45D1-AA60-9408620A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9B21C-D3BE-448A-96E5-B3CA3CCC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5D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55D58"/>
                </a:solidFill>
                <a:latin typeface="Aptos"/>
                <a:ea typeface="Aptos"/>
                <a:cs typeface="Aptos"/>
              </a:rPr>
              <a:t>NET ÖNERI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C1DCD-A631-4388-AA58-6860001C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3202A"/>
                </a:solidFill>
                <a:latin typeface="Aptos Display"/>
                <a:ea typeface="Aptos Display"/>
                <a:cs typeface="Aptos Display"/>
              </a:rPr>
              <a:t>Bugünkü karar: 8M TL ile 12 aylık pazar kanıtı turu başlatmak.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1E104-69B0-432F-8A29-AD179894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Kuvoz'un şansı var; ama bu şans, ürün anlatımıyla değil kontrollü pazar testi, güvenlik kanıtı, kanal ortaklığı ve ölçülebilir karar kapılarıyla büyür.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85359-CFA8-47F1-AA45-57DB5F4B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5EAFC-C191-49AB-B5D8-A6CF5DA1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Yatırım / ortaklık talebi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9036F-EC62-4650-9361-A47C1362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780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62A26-81CA-4A0A-8C13-44923D68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28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7805D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27805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71063-89AD-4474-A1CF-F8606B7C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8M TL kaynak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2BF8B-7E98-4401-9D9E-04DDDA97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12 ayda MVP, pilot, kanal lansmanı ve ilk satış kanıtı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D09EE-6C29-47D0-999A-F966AD90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2CCCA-6EE7-48CC-AD80-648081AA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29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ECBF0-146C-4D03-BC52-199484D1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623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Vetmarketi pilot kanalı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928F3-4C91-4FFF-992C-242BCF2F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52850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ürün sayfası değil önce demo + pilot satış akışı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74BA8-EF1C-489C-A682-F0108FED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77CA6A-FD00-47B1-876D-358BD55F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29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95866-D11A-4C9C-A704-1D6CB72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3-5 klinik pilotu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50059-8FCA-4BD6-B906-42D58767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52900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60-90 gün gerçek kullanım ve referans veri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1D177-0947-4F70-9E0C-38B7A829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496B4-75D9-4E44-8309-93AF60A4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29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3657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5A3CD-D901-4354-AA2C-D468A2B8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Dar münhasırlık yok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1573CD-B092-43A3-B84B-A2FB280D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57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574"/>
                </a:solidFill>
                <a:latin typeface="Aptos"/>
                <a:ea typeface="Aptos"/>
                <a:cs typeface="Aptos"/>
              </a:rPr>
              <a:t>performans hedefli, süreli kanal opsiyonu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F0A3B8-D67E-4B8E-9A5E-A5D2F25D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D"/>
          </a:solidFill>
          <a:ln xmlns:a="http://schemas.openxmlformats.org/drawingml/2006/main" w="9525">
            <a:solidFill>
              <a:srgbClr val="10232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0DEBAC-ED11-4345-B855-56C86973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41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Yatırımcının bekleyeceği kanıt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FAA94-30CC-4088-A447-974F5975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FF2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FF2E7"/>
                </a:solidFill>
                <a:latin typeface="Aptos"/>
                <a:ea typeface="Aptos"/>
                <a:cs typeface="Aptos"/>
              </a:rPr>
              <a:t>Klinik kullanım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D6F03-3422-4FA6-8BD1-9AC153E2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813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E5E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9E5E7"/>
                </a:solidFill>
                <a:latin typeface="Aptos"/>
                <a:ea typeface="Aptos"/>
                <a:cs typeface="Aptos"/>
              </a:rPr>
              <a:t>3-5 pilot, 60+ gün stabilite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191B38-9BB3-47AF-A462-8BD0AAEB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BEC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BECD2"/>
                </a:solidFill>
                <a:latin typeface="Aptos"/>
                <a:ea typeface="Aptos"/>
                <a:cs typeface="Aptos"/>
              </a:rPr>
              <a:t>Ödeme niyeti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AC1D8A-B0FE-4D2F-AC64-308F2372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E5E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9E5E7"/>
                </a:solidFill>
                <a:latin typeface="Aptos"/>
                <a:ea typeface="Aptos"/>
                <a:cs typeface="Aptos"/>
              </a:rPr>
              <a:t>10-20 satış veya imzalı sipariş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D1DFF2-1024-4E1C-83A0-5F2BBA99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A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EAF8"/>
                </a:solidFill>
                <a:latin typeface="Aptos"/>
                <a:ea typeface="Aptos"/>
                <a:cs typeface="Aptos"/>
              </a:rPr>
              <a:t>Güven dosyası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3B6DB3-3041-46F1-BEEF-18F2B9ED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814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E5E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9E5E7"/>
                </a:solidFill>
                <a:latin typeface="Aptos"/>
                <a:ea typeface="Aptos"/>
                <a:cs typeface="Aptos"/>
              </a:rPr>
              <a:t>UV/ozon kilidi, alarm, servis/SLA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B355D4-6957-4895-AEDA-73A73849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F3EE"/>
                </a:solidFill>
                <a:latin typeface="Aptos"/>
                <a:ea typeface="Aptos"/>
                <a:cs typeface="Aptos"/>
              </a:rPr>
              <a:t>İkinci yıl rotası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E7CED3-6EBA-4E9D-836A-B5A17BD4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8150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E5E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9E5E7"/>
                </a:solidFill>
                <a:latin typeface="Aptos"/>
                <a:ea typeface="Aptos"/>
                <a:cs typeface="Aptos"/>
              </a:rPr>
              <a:t>kit devam mı, tam cihaz mı, ihracat mı?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410D23-4070-402B-A963-09F5E673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2"/>
          </a:solidFill>
          <a:ln xmlns:a="http://schemas.openxmlformats.org/drawingml/2006/main" w="9525">
            <a:solidFill>
              <a:srgbClr val="D98A1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9918F2-84A2-43BF-BAB5-DF932E4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43575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8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8A1B"/>
                </a:solidFill>
                <a:latin typeface="Aptos"/>
                <a:ea typeface="Aptos"/>
                <a:cs typeface="Aptos"/>
              </a:rPr>
              <a:t>Son cümle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9221A3-D2B6-4CE6-A867-1F045A15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34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02A"/>
                </a:solidFill>
                <a:latin typeface="Aptos"/>
                <a:ea typeface="Aptos"/>
                <a:cs typeface="Aptos"/>
              </a:rPr>
              <a:t>Kuvoz için en doğru bahis: önce pazarı upgrade kit ile kanıtla, sonra tam cihaz ve ihracat için ikinci kaynağı aç.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244997-B282-42A9-A835-BED31187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Kaynak: Kuvoz yol haritası ve pazar analizi; revize yatırım amacı doğrultusunda yeniden kurgulandı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20AFA2-B970-4BA8-92D5-BA458EFD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2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828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1832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2026-05-08T13:41:29.9610000Z</dcterms:created>
  <dcterms:modified xsi:type="dcterms:W3CDTF">2026-05-08T13:41:29.9610000Z</dcterms:modified>
</coreProperties>
</file>