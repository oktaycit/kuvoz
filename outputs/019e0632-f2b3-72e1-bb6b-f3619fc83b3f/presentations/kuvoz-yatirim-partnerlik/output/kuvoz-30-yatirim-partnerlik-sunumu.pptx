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f01200b5145dc" /><Relationship Type="http://schemas.openxmlformats.org/officeDocument/2006/relationships/extended-properties" Target="/docProps/app.xml" Id="R9040a0f097df4529" /><Relationship Type="http://schemas.openxmlformats.org/officeDocument/2006/relationships/officeDocument" Target="/ppt/presentation.xml" Id="Rab72cfbab24c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49ac969fa14f13"/>
  </p:sldMasterIdLst>
  <p:notesMasterIdLst>
    <p:notesMasterId xmlns:r="http://schemas.openxmlformats.org/officeDocument/2006/relationships" r:id="Ree89e57c7d774f15"/>
  </p:notesMasterIdLst>
  <p:sldIdLst>
    <p:sldId xmlns:r="http://schemas.openxmlformats.org/officeDocument/2006/relationships" id="256" r:id="Rf5bb25433e63472b"/>
    <p:sldId xmlns:r="http://schemas.openxmlformats.org/officeDocument/2006/relationships" id="257" r:id="R460c911b863c4c6b"/>
    <p:sldId xmlns:r="http://schemas.openxmlformats.org/officeDocument/2006/relationships" id="258" r:id="R367ca960c85a4c89"/>
    <p:sldId xmlns:r="http://schemas.openxmlformats.org/officeDocument/2006/relationships" id="259" r:id="R1a4e84f153f34afe"/>
    <p:sldId xmlns:r="http://schemas.openxmlformats.org/officeDocument/2006/relationships" id="260" r:id="Rad2272888e984df1"/>
    <p:sldId xmlns:r="http://schemas.openxmlformats.org/officeDocument/2006/relationships" id="261" r:id="R3544c9d8522c4016"/>
    <p:sldId xmlns:r="http://schemas.openxmlformats.org/officeDocument/2006/relationships" id="262" r:id="Rcc4a0c1e7c9c42d8"/>
    <p:sldId xmlns:r="http://schemas.openxmlformats.org/officeDocument/2006/relationships" id="263" r:id="Rea157213ac504818"/>
    <p:sldId xmlns:r="http://schemas.openxmlformats.org/officeDocument/2006/relationships" id="264" r:id="R626905be794a41e6"/>
    <p:sldId xmlns:r="http://schemas.openxmlformats.org/officeDocument/2006/relationships" id="265" r:id="R45b688cffc4a44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9ac969fa14f13" /><Relationship Type="http://schemas.openxmlformats.org/officeDocument/2006/relationships/theme" Target="/ppt/theme/theme1.xml" Id="R4e0d89cdbcd04de5" /><Relationship Type="http://schemas.openxmlformats.org/officeDocument/2006/relationships/notesMaster" Target="/ppt/notesMasters/notesMaster1.xml" Id="Ree89e57c7d774f15" /><Relationship Type="http://schemas.openxmlformats.org/officeDocument/2006/relationships/presProps" Target="/ppt/presProps.xml" Id="R4776e53908bc4225" /><Relationship Type="http://schemas.openxmlformats.org/officeDocument/2006/relationships/viewProps" Target="/ppt/viewProps.xml" Id="R1368d639cf3e494b" /><Relationship Type="http://schemas.openxmlformats.org/officeDocument/2006/relationships/tableStyles" Target="/ppt/tableStyles.xml" Id="R0a3fe4c0fb5b4736" /><Relationship Type="http://schemas.openxmlformats.org/officeDocument/2006/relationships/slide" Target="/ppt/slides/slide1.xml" Id="Rf5bb25433e63472b" /><Relationship Type="http://schemas.openxmlformats.org/officeDocument/2006/relationships/slide" Target="/ppt/slides/slide2.xml" Id="R460c911b863c4c6b" /><Relationship Type="http://schemas.openxmlformats.org/officeDocument/2006/relationships/slide" Target="/ppt/slides/slide3.xml" Id="R367ca960c85a4c89" /><Relationship Type="http://schemas.openxmlformats.org/officeDocument/2006/relationships/slide" Target="/ppt/slides/slide4.xml" Id="R1a4e84f153f34afe" /><Relationship Type="http://schemas.openxmlformats.org/officeDocument/2006/relationships/slide" Target="/ppt/slides/slide5.xml" Id="Rad2272888e984df1" /><Relationship Type="http://schemas.openxmlformats.org/officeDocument/2006/relationships/slide" Target="/ppt/slides/slide6.xml" Id="R3544c9d8522c4016" /><Relationship Type="http://schemas.openxmlformats.org/officeDocument/2006/relationships/slide" Target="/ppt/slides/slide7.xml" Id="Rcc4a0c1e7c9c42d8" /><Relationship Type="http://schemas.openxmlformats.org/officeDocument/2006/relationships/slide" Target="/ppt/slides/slide8.xml" Id="Rea157213ac504818" /><Relationship Type="http://schemas.openxmlformats.org/officeDocument/2006/relationships/slide" Target="/ppt/slides/slide9.xml" Id="R626905be794a41e6" /><Relationship Type="http://schemas.openxmlformats.org/officeDocument/2006/relationships/slide" Target="/ppt/slides/slide10.xml" Id="R45b688cffc4a44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af64d9ba4945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122074ecb249d2" /><Relationship Type="http://schemas.openxmlformats.org/officeDocument/2006/relationships/notesMaster" Target="/ppt/notesMasters/notesMaster1.xml" Id="R558ae0bec9e44d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90500d13b14833" /><Relationship Type="http://schemas.openxmlformats.org/officeDocument/2006/relationships/notesMaster" Target="/ppt/notesMasters/notesMaster1.xml" Id="R5d9fc0ef4597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6f8ad959f4ca9" /><Relationship Type="http://schemas.openxmlformats.org/officeDocument/2006/relationships/notesMaster" Target="/ppt/notesMasters/notesMaster1.xml" Id="Rcb8b710f220b40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2894734d2456b" /><Relationship Type="http://schemas.openxmlformats.org/officeDocument/2006/relationships/notesMaster" Target="/ppt/notesMasters/notesMaster1.xml" Id="R42c9dcfe4c73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c003553016448a" /><Relationship Type="http://schemas.openxmlformats.org/officeDocument/2006/relationships/notesMaster" Target="/ppt/notesMasters/notesMaster1.xml" Id="R40aec94f1f48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3bd8be14cc4814" /><Relationship Type="http://schemas.openxmlformats.org/officeDocument/2006/relationships/notesMaster" Target="/ppt/notesMasters/notesMaster1.xml" Id="R7152e388e61d49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8687a1bdc3472a" /><Relationship Type="http://schemas.openxmlformats.org/officeDocument/2006/relationships/notesMaster" Target="/ppt/notesMasters/notesMaster1.xml" Id="R02dd6ffcafb74a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06b0059bd24113" /><Relationship Type="http://schemas.openxmlformats.org/officeDocument/2006/relationships/notesMaster" Target="/ppt/notesMasters/notesMaster1.xml" Id="Rf0c0bf0f8ee2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4b1d7889924e10" /><Relationship Type="http://schemas.openxmlformats.org/officeDocument/2006/relationships/notesMaster" Target="/ppt/notesMasters/notesMaster1.xml" Id="Rcf06b6910cb04c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86df7f67614c9d" /><Relationship Type="http://schemas.openxmlformats.org/officeDocument/2006/relationships/notesMaster" Target="/ppt/notesMasters/notesMaster1.xml" Id="Rb9e070f51ab34a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5bde8efab40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77918b9e834620" /><Relationship Type="http://schemas.openxmlformats.org/officeDocument/2006/relationships/slideLayout" Target="/ppt/slideLayouts/slideLayout2.xml" Id="R689b1a2e6872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b1a2e6872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14b09726b44e5" /><Relationship Type="http://schemas.openxmlformats.org/officeDocument/2006/relationships/image" Target="/ppt/media/image.png" Id="R968023c7bde24bdd" /><Relationship Type="http://schemas.openxmlformats.org/officeDocument/2006/relationships/image" Target="/ppt/media/image.svg" Id="R7a5665bc8c4d4249" /><Relationship Type="http://schemas.openxmlformats.org/officeDocument/2006/relationships/image" Target="/ppt/media/image2.png" Id="R3cf1e274ce404085" /><Relationship Type="http://schemas.openxmlformats.org/officeDocument/2006/relationships/image" Target="/ppt/media/image2.svg" Id="Ra758c116964a4dab" /><Relationship Type="http://schemas.openxmlformats.org/officeDocument/2006/relationships/image" Target="/ppt/media/image3.png" Id="R65b9c8da0c2a465f" /><Relationship Type="http://schemas.openxmlformats.org/officeDocument/2006/relationships/image" Target="/ppt/media/image3.svg" Id="Rda62b0c6985f4f44" /><Relationship Type="http://schemas.openxmlformats.org/officeDocument/2006/relationships/image" Target="/ppt/media/image4.png" Id="Rc1503eb6e1094cb0" /><Relationship Type="http://schemas.openxmlformats.org/officeDocument/2006/relationships/image" Target="/ppt/media/image4.svg" Id="Rad5a4d45d9f24ae2" /><Relationship Type="http://schemas.openxmlformats.org/officeDocument/2006/relationships/image" Target="/ppt/media/image5.png" Id="R2454d5da878840c7" /><Relationship Type="http://schemas.openxmlformats.org/officeDocument/2006/relationships/image" Target="/ppt/media/image5.svg" Id="R409ded8c52e249b5" /><Relationship Type="http://schemas.openxmlformats.org/officeDocument/2006/relationships/image" Target="/ppt/media/image6.png" Id="R018f79b56fa94e43" /><Relationship Type="http://schemas.openxmlformats.org/officeDocument/2006/relationships/image" Target="/ppt/media/image6.svg" Id="R9113734083574fc2" /><Relationship Type="http://schemas.openxmlformats.org/officeDocument/2006/relationships/notesSlide" Target="/ppt/notesSlides/notesSlide1.xml" Id="Rae2a786004aa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f2106e42db47c0" /><Relationship Type="http://schemas.openxmlformats.org/officeDocument/2006/relationships/notesSlide" Target="/ppt/notesSlides/notesSlide2.xml" Id="R63fe32720a3b4c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31738fc024124" /><Relationship Type="http://schemas.openxmlformats.org/officeDocument/2006/relationships/notesSlide" Target="/ppt/notesSlides/notesSlide3.xml" Id="Rae929deec113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68f3886f94a51" /><Relationship Type="http://schemas.openxmlformats.org/officeDocument/2006/relationships/image" Target="/ppt/media/image7.png" Id="R9d50c42b6dd14ac9" /><Relationship Type="http://schemas.openxmlformats.org/officeDocument/2006/relationships/image" Target="/ppt/media/image7.svg" Id="R1cdee35321ed4495" /><Relationship Type="http://schemas.openxmlformats.org/officeDocument/2006/relationships/image" Target="/ppt/media/image8.png" Id="R67248e4dd7224f9a" /><Relationship Type="http://schemas.openxmlformats.org/officeDocument/2006/relationships/image" Target="/ppt/media/image8.svg" Id="R4337ecbb31e54dad" /><Relationship Type="http://schemas.openxmlformats.org/officeDocument/2006/relationships/image" Target="/ppt/media/image9.png" Id="R76496b5c83f946cf" /><Relationship Type="http://schemas.openxmlformats.org/officeDocument/2006/relationships/image" Target="/ppt/media/image9.svg" Id="Rb16a9564c09f41f0" /><Relationship Type="http://schemas.openxmlformats.org/officeDocument/2006/relationships/image" Target="/ppt/media/image10.png" Id="R9b82c06722db4e8e" /><Relationship Type="http://schemas.openxmlformats.org/officeDocument/2006/relationships/image" Target="/ppt/media/image10.svg" Id="Rc62a4e0e6b5d405a" /><Relationship Type="http://schemas.openxmlformats.org/officeDocument/2006/relationships/image" Target="/ppt/media/image11.png" Id="R03a5e6a094a94fda" /><Relationship Type="http://schemas.openxmlformats.org/officeDocument/2006/relationships/image" Target="/ppt/media/image11.svg" Id="Re25844d12d6b4ad0" /><Relationship Type="http://schemas.openxmlformats.org/officeDocument/2006/relationships/image" Target="/ppt/media/image12.png" Id="R92fa7ec292d34353" /><Relationship Type="http://schemas.openxmlformats.org/officeDocument/2006/relationships/image" Target="/ppt/media/image12.svg" Id="R8666d1cdf86c48b1" /><Relationship Type="http://schemas.openxmlformats.org/officeDocument/2006/relationships/image" Target="/ppt/media/image13.png" Id="Rc97a630946b64435" /><Relationship Type="http://schemas.openxmlformats.org/officeDocument/2006/relationships/image" Target="/ppt/media/image13.svg" Id="R16863acc4dec4095" /><Relationship Type="http://schemas.openxmlformats.org/officeDocument/2006/relationships/image" Target="/ppt/media/image14.png" Id="R3396bd70b3ba4f5c" /><Relationship Type="http://schemas.openxmlformats.org/officeDocument/2006/relationships/image" Target="/ppt/media/image14.svg" Id="R1f34b1f1ef394712" /><Relationship Type="http://schemas.openxmlformats.org/officeDocument/2006/relationships/notesSlide" Target="/ppt/notesSlides/notesSlide4.xml" Id="R4541aad89235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d380d91d974a38" /><Relationship Type="http://schemas.openxmlformats.org/officeDocument/2006/relationships/notesSlide" Target="/ppt/notesSlides/notesSlide5.xml" Id="R47806819af124f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5ea05fe4d4ac1" /><Relationship Type="http://schemas.openxmlformats.org/officeDocument/2006/relationships/image" Target="/ppt/media/image15.png" Id="R7d08ceaffe474299" /><Relationship Type="http://schemas.openxmlformats.org/officeDocument/2006/relationships/notesSlide" Target="/ppt/notesSlides/notesSlide6.xml" Id="R160a30398863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391a4a74c439b" /><Relationship Type="http://schemas.openxmlformats.org/officeDocument/2006/relationships/notesSlide" Target="/ppt/notesSlides/notesSlide7.xml" Id="Rf7909d1c24b049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ab82a0ff894233" /><Relationship Type="http://schemas.openxmlformats.org/officeDocument/2006/relationships/notesSlide" Target="/ppt/notesSlides/notesSlide8.xml" Id="R7b68087c10a5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85aa23d881433b" /><Relationship Type="http://schemas.openxmlformats.org/officeDocument/2006/relationships/notesSlide" Target="/ppt/notesSlides/notesSlide9.xml" Id="R05363d12dab242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374d62a6f472f" /><Relationship Type="http://schemas.openxmlformats.org/officeDocument/2006/relationships/notesSlide" Target="/ppt/notesSlides/notesSlide10.xml" Id="R183041ccdfb84f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1F136-9EB1-4552-8971-29A945DD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35A34-E7FE-4FCC-A5D4-D12816C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AFD2B-1A19-4E1C-940E-84636364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B2974-D9BE-427B-B80B-A309365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rPr>
              <a:t>KUVOZ 3.0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3A4FE-BBA9-432F-AA80-52ED521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19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Yatırım ve</a:t>
            </a:r>
          </a:p>
          <a:p xmlns:a="http://schemas.openxmlformats.org/drawingml/2006/main">
            <a:pPr algn="l">
              <a:defRPr sz="36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partnerlik sunumu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2496F-DBF4-47D3-842D-98DE4872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657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Veteriner kliniklerinde post-operatif ve hassas hasta takibini güvenli, kayıtlı ve uzaktan izlenebilir hale getiren akıllı ICU/recovery platformu.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88A2D-D2E8-4914-86F9-E733B9E8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4A691-A8BD-4D4A-8B13-6EBF39CF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D5C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D5CF"/>
                </a:solidFill>
                <a:latin typeface="Aptos"/>
                <a:ea typeface="Aptos"/>
                <a:cs typeface="Aptos"/>
              </a:rPr>
              <a:t>Ana tez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D617F-00DB-4A23-9BCB-72A43619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4333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Değer kabinde değil; sensör, kontrol, kayıt, erken uyarı ve servis edilebilir yazılım katmanında.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06452-967A-4794-BAAD-31B704D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704850"/>
            <a:ext cx="342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DA50B-0C68-47F5-ABBA-A54B662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Platform yığını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744FE-525C-402F-9820-AA33D374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4668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23c7bde24bdd">
            <a:extLst>
              <a:ext uri="{96DAC541-7B7A-43D3-8B79-37D633B846F1}">
                <asvg:svgBlip xmlns:asvg="http://schemas.microsoft.com/office/drawing/2016/SVG/main" r:embed="R7a5665bc8c4d42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6097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968A1-78B0-4752-A4CA-DC8F46B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562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Klinik kullanım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12467-EDDB-422F-925C-D445150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7621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post-op, oksijen,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E962-8607-418D-A73B-94C671A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907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1e274ce404085">
            <a:extLst>
              <a:ext uri="{96DAC541-7B7A-43D3-8B79-37D633B846F1}">
                <asvg:svgBlip xmlns:asvg="http://schemas.microsoft.com/office/drawing/2016/SVG/main" r:embed="Ra758c116964a4d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23336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B9A55-1555-497E-A0E1-BE34D51C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Sensör ve röle kontrolü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21A45-17FF-44E2-86BA-0D6DD3B5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860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ısı, nem, CO2/O2, fan, UV, ozon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FCBB1-CA2A-492F-8BBF-C9291B3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146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9c8da0c2a465f">
            <a:extLst>
              <a:ext uri="{96DAC541-7B7A-43D3-8B79-37D633B846F1}">
                <asvg:svgBlip xmlns:asvg="http://schemas.microsoft.com/office/drawing/2016/SVG/main" r:embed="Rda62b0c6985f4f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30575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6E773-FFCF-4E65-9868-FDF98B1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09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Kayıt ve izlenebilirlik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58711-A2C9-4C67-9C55-3F9B904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099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log, grafik, hasta bağlamı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19B43-5306-427A-BD87-A3E93A10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385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03eb6e1094cb0">
            <a:extLst>
              <a:ext uri="{96DAC541-7B7A-43D3-8B79-37D633B846F1}">
                <asvg:svgBlip xmlns:asvg="http://schemas.microsoft.com/office/drawing/2016/SVG/main" r:embed="Rad5a4d45d9f24a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37814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07D0D-CC07-4A61-897A-4DC6D2BB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33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AI erken uyarı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2812C-9832-4BA8-A2C5-2C7AB708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338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trend, eşik, anomali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A71BB7-F79F-4FEE-A396-07A89A07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362450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4d5da878840c7">
            <a:extLst>
              <a:ext uri="{96DAC541-7B7A-43D3-8B79-37D633B846F1}">
                <asvg:svgBlip xmlns:asvg="http://schemas.microsoft.com/office/drawing/2016/SVG/main" r:embed="R409ded8c52e249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45053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A1BF8-0217-4ED2-90D9-11B8225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57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Servis ve kanal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0DF16-847C-4E50-A454-C8B66F62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577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kurulum, garanti, uzaktan destek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f79b56fa94e43">
            <a:extLst>
              <a:ext uri="{96DAC541-7B7A-43D3-8B79-37D633B846F1}">
                <asvg:svgBlip xmlns:asvg="http://schemas.microsoft.com/office/drawing/2016/SVG/main" r:embed="R9113734083574f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5829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51923A-1B18-40BA-ABF0-DD1F88BE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578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İlk ürün: Kuvoz 3.0 Upgrade Kit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AA545-08F2-4538-97F0-E98D819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şirketleşme yol haritası, 8 Mayıs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61CA7-D64A-44D2-9346-3C2E4812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6119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6E41C-367B-456E-B4E5-99BE2CA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00C9E-BD5D-4B23-BFF1-234A606E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D5EFC-D80F-4277-9F73-F55E789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356FD-DCD6-48BB-9859-5B5893D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KLINIK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FB1A0-15A9-4063-BCA3-2E54D2C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Veteriner için risk, cihaz fiyatından önce güven duygusu.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A2177-111D-4351-8F6A-7E5E9D32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Hassas hastayı gece kabinde bırakırken klinik; ortamın stabil kaldığını, sterilizasyonun güvenli kilitlendiğini ve bir sorun olursa uzaktan görebileceğini bilmek ister.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27BFC-DC2C-433B-BCD0-AE54DD9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856BB-FF2D-4389-8864-EE0225E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A087D-9B37-4615-9788-31564A5E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Sensör körlüğü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13607-C593-43A6-A19F-3CB15209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Isı, nem, CO2/O2 trendi kayıtlı değilse sorun sonradan açıklanamaz.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F8C7-ECC4-4EE5-A78E-81F4C59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9525">
            <a:solidFill>
              <a:srgbClr val="B83B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C66B0-4AFB-43B8-9DFD-E3AF967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3B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3B3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911A6-11C3-449F-A812-669F8650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2F84F-18F5-4362-AE3C-91528476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7FC49-C64A-4926-96F6-379535D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Manuel takip yükü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0306E-520E-46C2-AE98-D7E4F5D5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Personel yoğunluğunda kritik eşikler ve gece değişimleri kaçabilir.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2FB20-1BC8-4D3D-B878-76E59315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349C4-E704-40C9-9ECC-58AF64A9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194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32632-00A2-4749-A532-4D2A47F6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9925F-764C-429E-ADDD-2741A40F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D4CAD-8AAC-496D-9AD4-6BB9EA86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Ozon/UV güvenliği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5F37D-1356-47F4-A618-AFCDD58C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Dezenfeksiyon işlevleri hasta güvenliği kilidi olmadan ticari risk yaratır.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BE671-3135-4E61-B224-8878C7C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C"/>
          </a:solidFill>
          <a:ln xmlns:a="http://schemas.openxmlformats.org/drawingml/2006/main" w="9525">
            <a:solidFill>
              <a:srgbClr val="B83B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1E509-5C1C-4CA7-88B3-9D5F0BE9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83B3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83B3B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29C87-CCAC-42ED-97FF-0194360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130BA-AF11-4610-9118-1B225AF4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EE13B-347B-4B19-8CF1-945E46C7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Servis belirsizliği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3450D-61A7-48CF-BB91-43118B3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Arıza anında uzaktan teşhis ve modüler parça akışı yoksa güven düşer.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7DB4A-0957-4068-AF37-51B5A100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7F4C4-80D3-4F78-A413-8348CCE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291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BCD979-426A-45AA-9979-4D2B9CD8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CAF5D-36CE-4E48-850F-A115BD1A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Kuvoz'un satış cümlesi: ortamı sadece kontrol eden değil; kaydeden, yorumlayan, uyaran ve uzaktan yönetilebilir hale getiren sistem.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D185F-C8F5-414A-A849-432EDA86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pazar analizi ve şirketleşme yol haritası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8504B-0D45-4468-8176-3315DDC7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26327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21B97-C3C2-4BAF-B207-893D3D9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4860E-DBED-4A86-8BC1-51C6AF8A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86955-9676-462B-86E2-9E2FDCA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03B4D-8EBE-4077-BBB2-A270CDD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PAZAR KAMASI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B39A-9FE1-45C2-A007-7440776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Mevcut ICU kanalı zaten var; Kuvoz farkı yazılım katmanı.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C1BF7-4ACA-4FE0-A112-44DBED5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525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Vetmarketi tarafında kamera, dokunmatik ekran, nebulizatör, UV/ozon ve yoğun bakım kabini talebi görünür. Kuvoz ilk hamleyi tam cihazdan önce upgrade kit ile yaparak satış ve stok riskini düşürür.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373A1-D304-418C-9F46-347DD0A4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405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A848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8D"/>
                </a:solidFill>
                <a:latin typeface="Aptos"/>
                <a:ea typeface="Aptos"/>
                <a:cs typeface="Aptos"/>
              </a:rPr>
              <a:t>Erişim: 8 Mayıs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D66AC-5A2B-461A-8FE5-A9A5624B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6477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82B64-ED7F-4A34-ADFA-81D0DCE7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Fiyat çıpaları ve Kuvoz giriş noktası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F0066-FCCF-4294-BB35-12B5207F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2BBD9-FF7C-4646-8DF5-3DB0635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Kuvoz 3.0 Upgrade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8E49E-A812-42F1-BD11-49B5C5D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57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7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77"/>
                </a:solidFill>
                <a:latin typeface="Aptos"/>
                <a:ea typeface="Aptos"/>
                <a:cs typeface="Aptos"/>
              </a:rPr>
              <a:t>35-95K 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9CF56-3C98-4D11-B8DE-43852A4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Mevcut kabini akıllandırır; en hızlı pilot ve kanal testi.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5BC9D-B7F8-4196-9436-F4209F46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144EB-020D-4CF0-B773-916BB605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VM-ICU orta boy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A6EC8-7B71-45F4-A4D8-A0DE9F9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291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110K TL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6B27B-0EB8-412F-863A-5BB2C0F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Vetmarketi'nde aktif listelenen orta boy yoğun bakım ürünü.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B21AF-FC9B-473B-BD99-BCFC6691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E1B16-659E-4DDD-83EC-C97FE042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VM-ICU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CDEB8-BCCA-4113-9C08-910E2A6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00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300K 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5B992-BC54-4131-B735-F4FFE0D2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Çoklu kabin seti; üst segment satın alma niyetini gösterir.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8E391-CC57-4063-8ADE-566B9D77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4F14F-52C8-4A3E-B88A-CECDFB3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İLK TICARI HEDEF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0D3AC-C434-4125-BE47-B91FE055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rPr>
              <a:t>10-20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608E2-338A-4B27-8852-AD019E7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9-12 ayda upgrade kit satışı ve kanal lansmanı.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EDA87-E58F-402E-B7CB-413A93A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48150"/>
            <a:ext cx="2571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CBB949-2251-4253-B3A4-8AF030A8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PILOT HEDEF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43B9E-79A2-4C5D-9642-2932102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3-5 klinik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6D142-D25F-422C-BFF3-ABF22331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2228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60-90 günlük klinik doğrulama protokolü.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59386-2143-43AE-977D-25925C7D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958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E9084C-250B-4E20-BA97-1816F5FE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53150"/>
            <a:ext cx="904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Konumlandırma: “bir kabin daha” değil, mevcut ve yeni kabinleri veriye, alarm mantığına ve uzaktan servise bağlayan platform.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328E5-178E-4B1E-B522-AA82FED8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Vetmarketi ürün sayfaları; Kuvoz pazar analizi ve yol haritası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4F339-61DA-462E-A312-72D1C2E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71252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CFA8D-B62B-4504-B1A5-EBD8DC3E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63D70-324C-4FF4-8ACF-F6706C8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FB035-E7E6-437C-9746-0584116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0518E-AD38-4773-BC31-423ED40F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ÜRÜN SISTEMI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3CAEC-2F56-4A86-908E-C8037EEB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Upgrade kit, kabinin üstüne takılan panel değil; klinik operasyon katmanı.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BB981-348F-4FFA-A25E-E0FF56A3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47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Aynı mimari hem mevcut kabinleri yükseltir hem de tam cihazı ve klinik panelini besler.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23EA7-6A3C-4096-8A3D-57EB3AD1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1E96C-01CB-41D3-9712-3D32C8D1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CIHAZ SEVIYESI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39A50-52CB-4B24-9B82-5532EB8A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A6589-E185-429D-927C-393D4F98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GÜVENLIK SEVIYESI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25D57-32AB-4678-BEAA-3669AF1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030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179B1-7016-4D10-A7F8-4AA7B21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KLINIK OPERASYONU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A4E5F-31E8-4AB4-97D8-6813BEA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0c42b6dd14ac9">
            <a:extLst>
              <a:ext uri="{96DAC541-7B7A-43D3-8B79-37D633B846F1}">
                <asvg:svgBlip xmlns:asvg="http://schemas.microsoft.com/office/drawing/2016/SVG/main" r:embed="R1cdee35321ed44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66950" y="2305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BE167-EF6B-4598-8869-8643137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57425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Sensörler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23228-9F2D-4835-9301-50E4A4E2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ısı, nem, CO2/O2, kamera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F5F8F-D33E-423F-93EF-2CA7AB56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E5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48e4dd7224f9a">
            <a:extLst>
              <a:ext uri="{96DAC541-7B7A-43D3-8B79-37D633B846F1}">
                <asvg:svgBlip xmlns:asvg="http://schemas.microsoft.com/office/drawing/2016/SVG/main" r:embed="R4337ecbb31e54d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29200" y="2305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9429C-28FE-4291-AEA9-C5D85EA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57425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Kontrol birimi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12ABC-6E53-4936-AF51-FD55B011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Raspberry Pi, röle, kiosk panel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0DA1B-AA3A-479A-84A9-F9937AE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96b5c83f946cf">
            <a:extLst>
              <a:ext uri="{96DAC541-7B7A-43D3-8B79-37D633B846F1}">
                <asvg:svgBlip xmlns:asvg="http://schemas.microsoft.com/office/drawing/2016/SVG/main" r:embed="Rb16a9564c09f41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23050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05B5C-D8FA-4992-9099-9AC5F26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574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Ekipman kontrolü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4C8F9-E6EA-4F49-A4BA-8B4F8D48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955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fan, ısıtıcı, UV, ozon, nebulizatör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B46CD-7974-45E0-BBCE-C07F44AB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3B3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2c06722db4e8e">
            <a:extLst>
              <a:ext uri="{96DAC541-7B7A-43D3-8B79-37D633B846F1}">
                <asvg:svgBlip xmlns:asvg="http://schemas.microsoft.com/office/drawing/2016/SVG/main" r:embed="Rc62a4e0e6b5d40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3700" y="3486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D16807-C875-4107-8BB3-E341A35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385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Hasta güvenliği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44CB1B-4710-42B0-84BD-96A49772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ozon/UV kilidi, aşırı ısı limiti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93E67-DDE0-404A-A374-7F5BDF91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5e6a094a94fda">
            <a:extLst>
              <a:ext uri="{96DAC541-7B7A-43D3-8B79-37D633B846F1}">
                <asvg:svgBlip xmlns:asvg="http://schemas.microsoft.com/office/drawing/2016/SVG/main" r:embed="Re25844d12d6b4a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34861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C6E06A-EE15-4CE0-9081-0A5B2CEF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385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Alarm mantığı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CD1F23-2096-4452-B9C7-E695921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76650"/>
            <a:ext cx="1933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eşik, trend, bağlantı ve sensör arızası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DE35A-8D4B-429D-A863-FD59EADA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a7ec292d34353">
            <a:extLst>
              <a:ext uri="{96DAC541-7B7A-43D3-8B79-37D633B846F1}">
                <asvg:svgBlip xmlns:asvg="http://schemas.microsoft.com/office/drawing/2016/SVG/main" r:embed="R8666d1cdf86c48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90700" y="4667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F405B8-8422-4485-9888-791F4AD2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Kayıt ve grafik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4A943D-C909-4887-B786-81309BF1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577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hasta bazlı log ve raporlama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757BD-56BB-4AF8-B631-BB813319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a630946b64435">
            <a:extLst>
              <a:ext uri="{96DAC541-7B7A-43D3-8B79-37D633B846F1}">
                <asvg:svgBlip xmlns:asvg="http://schemas.microsoft.com/office/drawing/2016/SVG/main" r:embed="R16863acc4dec40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29200" y="4667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69500-1D95-4438-8CFC-BF40757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9625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Uzaktan izleme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AB6DB7-1923-4DCF-832F-9C9283A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577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web panel, servis modu, destek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BFCAC2-3743-459E-A635-5BF0073F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5770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6bd70b3ba4f5c">
            <a:extLst>
              <a:ext uri="{96DAC541-7B7A-43D3-8B79-37D633B846F1}">
                <asvg:svgBlip xmlns:asvg="http://schemas.microsoft.com/office/drawing/2016/SVG/main" r:embed="R1f34b1f1ef3947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46672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78FA8E-27F0-4821-99B2-FBEB3AF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196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AI uyarı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7DC157-5781-4D85-9F42-CF6F2425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davranış, trend ve erken risk sinyali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D3A6BA-9450-4FC2-8C92-58C0FAC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76550"/>
            <a:ext cx="47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E551B4-3023-4503-A9C6-AABEA28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1D768E-4B96-43DD-892C-C9D2B8E9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57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0ED797-CC21-49F0-B353-1129AE2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BA8876-4732-40F8-B538-8CCFD65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64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393D00-E89E-453F-83CB-6580DF4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web_server.py mimarisi, Kuvoz yol haritası ve ürünleşme stratejisi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C6B0B9-DF52-42E4-B7DB-004D3A9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31367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27AB6-B03A-43D7-AD69-035CFDF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FD530-4F34-4DEC-9450-972B02F6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8EEB3-8FA7-4ECD-A177-5F6D063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B290B-4C60-46C6-A79E-9A64EB0D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ÜRÜNLEŞME SEÇIMI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7E72B-F204-44A2-BBDF-B157CE5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İlk ürün tam cihaz değil, Kuvoz 3.0 Upgrade Kit olmalı.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46815-E909-4834-ADAE-CDBBD12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Bu karar teknik riski sıfırlamaz; ama stok, lojistik, mekanik üretim ve kanal validasyonu risklerini ciddi biçimde düşürür.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D0677-6349-4680-88A8-C17A81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2B79-65BB-4D8F-A5DA-963117AE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4762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FFC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CFC82-5C08-4D60-8733-EFD79DD1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A98AA-E921-4AC7-9D37-0371503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8125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A3205-0AF8-463D-94BF-08F1D90A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Tam cihazla başlamak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85FC6-0F19-4F7A-AF71-58D7BEC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Upgrade kit ile başlamak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C2A75-4564-4656-A8F8-78DB3F17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Stok ve nakit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8EA64-6722-4E8A-8CE5-111B4B37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99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Kabin/stok maliyeti yüksek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AEEB4-7736-4B8B-9400-667F08F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9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Siparişe yakın üretim, düşük parça stoku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09EBC-8B03-41DA-A0D5-8E509FE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CA8A3-5FBF-404F-B4ED-1301F70C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D9414-334B-4A40-8A6C-18AAF5FD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Lojistik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C3C53-EBF5-497E-94D9-5DAAF2F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Büyük hacim, servis zor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8E2AA-691C-4443-A36C-2785AEA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Kontrol paneli + sensör paketi taşınabilir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B6485-0F51-4B9F-89DB-3FC0D0E3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5A705-431B-4CB0-92CD-D676C435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E7C60-70C6-4734-90F4-FA2B64B0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Satış döngüsü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04A45-D6D6-4CA5-BD11-60238F6C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Yeni cihaz bütçesi ister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51A69-9092-4028-9FAD-2A0A5E5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Mevcut kabini yükseltme kararı daha hızlı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B3CC6-6EB8-4053-B1DF-138E405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A58AE-413B-411B-9410-68B4D9A2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C0925-B908-46B7-995F-F9843243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Kanal uyumu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C67EA-D561-444A-AE0E-AB86A8B1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00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Mevcut ürünle çakışabilir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1C812-E259-45DB-9FC2-9030631A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Vetmarketi kabinlerini “Smart ICU” paketine taşır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05C7F-76FC-4A5B-AE59-39935F90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47C319-D53E-4922-9618-7E95961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95800"/>
            <a:ext cx="4305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358AB1-9638-4E6D-B25A-5D29CB0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Ölçeklenme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09F14B-985B-4278-8E7C-AEA4A86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01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Mekanik üretime erken bağımlı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8EC5A6-F5E9-46D7-B2E5-27E78222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Yazılım, kayıt ve servis katmanı erken öğrenir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1E720-FDBB-4B77-9085-EA3676D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0077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0D0D34-78CC-489A-85F5-3BA45658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948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Yatırımcı açısından: 12 ayda ürün-pazar doğrulaması için daha az sermaye yakılır; kanal ortağı açısından: mevcut ürün portföyü daha yüksek marjlı akıllı pakete dönüşür.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33E7AF-C276-4CB1-B779-4A6F7B2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şirketleşme yol haritası, ürünleşme stratejisi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25F5E-7365-49DA-8241-98634DC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1731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C3F05-9B51-4029-B79B-56626FA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7BAFA-592B-4B25-807B-C413A8DD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075A3-0773-4D92-9468-B3393CF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D6A26-DEAD-40B3-AE85-DE06F25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KANAL ORTAKLIĞI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9BA48-9000-4D77-B886-8F01EDFA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Vetmarketi, Kuvoz için ilk ölçeklenebilir ticari kanal olabilir.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92F7B-D5D5-4200-B574-4330E4BB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Önerilen model: kontrollü co-branding, pilot satış, kurulum/servis standardı ve performansa bağlı sınırlı kanal hakları.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12808-F08E-4517-AB87-8C09AECF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8ceaffe474299"/>
          <a:stretch xmlns:a="http://schemas.openxmlformats.org/drawingml/2006/main"/>
        </p:blipFill>
        <p:spPr>
          <a:xfrm xmlns:a="http://schemas.openxmlformats.org/drawingml/2006/main">
            <a:off x="1238250" y="2647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40665-A959-48E8-BBE0-13E6EA5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Kanal gücü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2D9D-C3B3-4446-8E91-3DD10EBE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ICU arayan klinik trafiği,</a:t>
            </a:r>
          </a:p>
          <a:p xmlns:a="http://schemas.openxmlformats.org/drawingml/2006/main">
            <a:pPr algn="ctr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ürün sayfası, demo formu,</a:t>
            </a:r>
          </a:p>
          <a:p xmlns:a="http://schemas.openxmlformats.org/drawingml/2006/main">
            <a:pPr algn="ctr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satış güveni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AF9F9-81D3-494D-9286-8338B0E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1200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A2641-47EC-4A69-876B-5BA62F50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7E452-14A1-4AEE-A093-B342C824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Ürün sayfası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A14BF-6A61-40CE-9422-C4BDA77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052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Kuvoz 3.0 Smart ICU mesajı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403F6-1349-4FCC-9A5F-361CFF5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147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32FE8-2730-4244-9108-2A91F01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1200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84B0-4D7B-4060-9D19-5877FBF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11CD4-F7EF-4E79-AE23-2ECDB492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57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Demo talebi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018C7-869C-4F6F-94AA-CFC9C09A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klinik ihtiyacı ve kabin uyumu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E659A-A845-4B6E-A9DB-C6F0906B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147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87FBD-A6E7-42CF-A9B6-2DD2618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1200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CF8F8-BBE3-478D-B476-8212A984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EEC7D-475B-480C-B80D-8E7F21CB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Pilot kurulum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34BB5-E568-47D7-BB93-B174A84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052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60-90 gün veri ve geri bildirim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979E7-7680-4082-B86F-71648DBF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C3001-AF61-4628-A4C8-1B99795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1200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30E41-6338-472E-8AE1-875EC1F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0934C-427F-4783-92F0-0D20C540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Ticari satış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2A237-4116-425A-90F1-41B97E99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kurulum + eğitim + garanti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38240-69ED-42F1-85D4-510C6AAD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12327-4330-4742-825F-33ACD9B6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200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FFAE3-1DBE-4581-A5CA-C09CC7A6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87B55E-38FF-4E37-9FDE-0989AE45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57550"/>
            <a:ext cx="89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Abonelik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FEAE3-2464-4309-9074-C2A1B6A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052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uzaktan izleme, AI rapor, servis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6FAC41-6BA8-4159-BF66-401341A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00550"/>
            <a:ext cx="6934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D439F-0833-4FBC-8D39-5D5FF91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33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D6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6D6F6"/>
                </a:solidFill>
                <a:latin typeface="Aptos"/>
                <a:ea typeface="Aptos"/>
                <a:cs typeface="Aptos"/>
              </a:rPr>
              <a:t>Sözleşme ilkeleri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2E2C32-267A-4422-A3B5-6BFA1E9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62500"/>
            <a:ext cx="628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Marka ve yazılım lisansı net; müşteri verisi ve garanti sorumluluğu ayrışmış; münhasırlık ilk etapta verilmez, performans hedefli ve süreli opsiyon olarak görüşülür.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C6384-F601-4B5B-90CC-67B3907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yol haritası; Vetmarketi logo yerel repo varlığı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567CDD-2395-46D7-865E-B9ED223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51206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CDAA1A-A6CE-412F-BCF4-FA1D18CA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618AD-8EA6-4887-A790-776729C9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0F575-B8FC-46D2-BE40-E80280AA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EDAC9-E4A9-40C9-A66D-36998F7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GELIR MODELI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ACC9-CE47-46B3-8FAD-B51CC9B9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Donanım satışı ilk kapı; asıl kaldıraç servis ve yazılım katmanı.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CF395-B94E-4C6A-A201-78511BAA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Upgrade kit, tam cihaz ve klinik paneli aynı kontrol/veri altyapısını kullanır. Bu da tek seferlik satışın yanına tekrarlayan gelir ekler.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B8E9D-CC53-4E55-B6E1-3BC9EA0B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12AB3-EAB9-416E-B6AD-C40A21DF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Upgrade Basic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DA6EF-141D-420B-824E-A410997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7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C7C77"/>
                </a:solidFill>
                <a:latin typeface="Aptos Display"/>
                <a:ea typeface="Aptos Display"/>
                <a:cs typeface="Aptos Display"/>
              </a:rPr>
              <a:t>35-45K TL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00985-71D8-4004-9A69-07BBEEB4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sensör + kontrol + lokal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F3B0E-AE43-4658-8021-3D53CB2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FFAE8-3891-4F84-B114-BCD00D4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6DF0-953F-41ED-BC2D-ED31821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Upgrade Smart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B2369-4299-4B80-9D77-19D172B8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50-70K TL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FD6A8-5D95-473C-A121-D6744E4E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kamera + uzaktan erişim + log + alarm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5A34D-8676-4C29-802A-DBE67A6C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C64DE-77F1-47F2-BD96-4C6EF72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BFB6A-FC8A-4861-A25A-53DC663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Upgrade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32D07-1AB7-425C-A544-F7799C1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70-95K 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EAF1-0AAF-4FC7-AA03-F04FF4E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AI uyarı + rapor + klinik panel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B14FE-E635-41C7-BC27-14845BFD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9519F-5B28-4C1B-96D1-9E205DC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219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B58BC-DE70-4432-9155-2673038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Smart ICU Tam Cihaz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7C94B-C8F9-4459-A77C-76C1CEEF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19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8A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D58A1F"/>
                </a:solidFill>
                <a:latin typeface="Aptos Display"/>
                <a:ea typeface="Aptos Display"/>
                <a:cs typeface="Aptos Display"/>
              </a:rPr>
              <a:t>135-165K TL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425BE-2444-41D6-858A-8C55E23E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3860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kabin + Kuvoz 3.0 smart sistem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03308-FEFA-4B0B-A658-B320C0FE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1581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AC06D-4077-47C5-B562-28D42916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374414-FEB5-410F-8BDA-8028855E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Paket merdiveni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E2296-6111-41E0-BA32-F3678F31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4743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4AA348-E385-4287-8E65-15F276F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Tek seferlik gelir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AFFFB-E659-4742-BF98-0B978E3E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kit/tam cihaz + kurulum/eğitim + sensör/aksesuar + bakım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DF518-CDD4-419B-BBA6-0F5AC11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67350"/>
            <a:ext cx="4743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7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2E8EE-5C22-460E-8DBE-2769202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197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Tekrarlayan gelir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D798D3-CC5F-495E-9155-B2A0B65F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48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uzaktan izleme + çoklu cihaz paneli + AI rapor + yıllık servis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BF12AF-1B85-4CEF-9F99-C0720B8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yol haritası, önerilen paketleme ve fiyat hedefleri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A67A6A-0401-4854-B47C-7980ABA3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94535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3D572-6134-43A7-9B6C-67B9EDBA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E0297-CC7D-4CF9-B9A9-F233E50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87A95-11E5-44B9-AD13-5937BD90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9C536-FC07-46E7-B725-133C956D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0-24 AY YOL HARITASI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A3D81-31FE-4793-A3B8-9ECB4B8F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62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İlk 12 ay ürün-pazar doğrulaması; ikinci 12 ay standardizasyon ve ihracat hazırlığı.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165F3-A2C0-4543-B814-2BE25DA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Karar kapıları satış aceleciliğini engeller: önce güvenli MVP, sonra klinik doğrulama, sonra kanal lansmanı.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A9140-D7BF-452C-85CF-010E6B1C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9B39D-2183-4244-ADE3-56F558C4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56BE9-B71F-499E-A198-B76B91E4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0-1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BB7A3-6E97-4B3A-9B2F-A4B98F5C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E2B5D-C7CF-4B6D-8313-FF6E46F9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Hazırlık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07356-094E-4BCF-9802-6CF0EF4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IP, Teknopark özeti, partner sunumu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D11A2-FD82-48E1-A4F0-4AE5A0AF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98149-EFE1-4FDB-996E-3C83C03A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1-3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F9BAA-E88C-4045-9B48-A5992112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383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A059F-E412-4AF9-8174-2C1E11C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71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Şirket + başvuru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6F78C-CA2A-4F17-B468-283F4DF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A.Ş. kararı, Teknopark, BiGG/KOSGEB takvimi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941BB-6FA3-4BE0-818C-17719B86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2179A-719D-4083-BB6D-6DF050B1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3-6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B64C3-36FF-40A1-BF80-749E80C9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88215B-9D5F-4DC2-A3BE-A6B279A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57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MVP pilot 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254D68-3053-4B9B-A89E-AF51A997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66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3 çalışan kit, güvenlik kilidi, kurulum kılavuzu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C33A5-EA0B-4836-9348-33D9604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68F66-89CE-46E3-802A-761197E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6-9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A7AD9-DA18-4D42-9070-FBC117D6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11517-E4DB-458A-A115-379D893F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Klinik pilot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48614-5CF0-43EE-A23D-D2295830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907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3-5 klinik, 60+ gün stabil kullanım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2B7D27-E69C-49BD-9525-A69C2788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4"/>
          </a:solidFill>
          <a:ln xmlns:a="http://schemas.openxmlformats.org/drawingml/2006/main" w="9525">
            <a:solidFill>
              <a:srgbClr val="D58A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081720-F1E8-422A-88C6-B12997A7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9-12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B8DAD-116A-400B-9349-34AC529B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9634B-AD67-40A0-BBAC-EC1F547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57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Kanal lansmanı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7D6CE-142B-4836-A57B-2487A6A4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766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10-20 satış, datasheet, servis planı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36B6F-2298-4D0F-97CD-D6B629EF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54720-17CA-4B8C-8F73-FBE57914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12-18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9B950-6236-42E9-8767-1B0B1E4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9CE7D0-F6E5-4063-96A8-C901E1D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717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Seri hazırlık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A22798-27B0-4EE5-820E-0861C8C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907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PCB, kalite kontrol, tam cihaz prototipi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AB373C-EA35-4772-AE93-351DD82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86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FA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D30A6-A3D4-4EB3-9427-F2B5768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09900"/>
            <a:ext cx="3048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18-24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988F6D-88F2-4E4C-BFD6-2446B7F8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24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364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260E94-658F-4879-80BD-E6A4BD6D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İhracat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B5B339-E647-49DD-A839-9EA35D9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76675"/>
            <a:ext cx="1162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GCC/Balkan görüşmeleri, CE/UKCA yol haritası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C18879-0533-46C4-9427-372EEA1B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3D9846-B934-4CEB-BBC9-623CC47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721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D9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9D99A"/>
                </a:solidFill>
                <a:latin typeface="Aptos"/>
                <a:ea typeface="Aptos"/>
                <a:cs typeface="Aptos"/>
              </a:rPr>
              <a:t>12. ay hedefi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5B83D6-DFDE-498D-BE85-78F4442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721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Vetmarketi lansmanı, 10-20 ticari satış, servis dokümanı ve 1M TL+ ciro veya imzalı sipariş.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072F1F-1028-4B43-AD9F-F589F961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E2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E2E5"/>
                </a:solidFill>
                <a:latin typeface="Aptos"/>
                <a:ea typeface="Aptos"/>
                <a:cs typeface="Aptos"/>
              </a:rPr>
              <a:t>18-24. ay: tam cihaz, çoklu cihaz paneli ve ilk dış pazar distribütör görüşmeleri.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20F94F-F325-455F-8173-EDBA4F8B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0-24 ay şirketleşme yol haritası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9CA166-C09E-4E0B-ACE5-7080ACE9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30111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3ACDB-C37D-4974-8D8B-0E50751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27ED7-ECCC-4C8B-BFF6-F1E1B92A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44B92-6576-4D0F-B07C-A3555CB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79B77-06CB-4A4A-AFD8-F7B7190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İLK KAYNAK PLANI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69A9A-CE39-4DF0-9743-DAB52CCF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8M TL, 12 aylık pilot ve kanal lansmanı için makul ilk eşik.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3ECA1-33FD-4A6F-8B79-46DD90D7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Bu plan, yol haritasındaki 6-10M TL lean bütçe aralığından türetilmiş 8M TL işletme senaryosudur; kamu destekleri yatırım turuna ek kaldıraç olarak düşünülür.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222DA-CD3A-4530-92CF-C684D8E3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405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7A848D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A848D"/>
                </a:solidFill>
                <a:latin typeface="Aptos"/>
                <a:ea typeface="Aptos"/>
                <a:cs typeface="Aptos"/>
              </a:rPr>
              <a:t>Doğrulama: resmi program sayfaları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917F3-4E33-4E0C-BB8E-65EF088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58102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20FFA-393B-498B-8E15-7CF92D8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8M TL kullanım senaryosu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9578F-24A0-4ED8-8E0C-B32CE3F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Yazılım, AI, uzaktan izleme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D1C89-B60E-4185-9D3A-49197794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F455B-3AFA-489E-B17D-A174A54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289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43C42-5839-4E9C-9D92-261A4B6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0C7C7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C7C77"/>
                </a:solidFill>
                <a:latin typeface="Aptos"/>
                <a:ea typeface="Aptos"/>
                <a:cs typeface="Aptos"/>
              </a:rPr>
              <a:t>2.2M TL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B2EDC-2743-42FA-A73D-97C68A98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Çekirdek ekip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B8BAF-DDE4-4650-9028-4B4F827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6CA84-3E48-4308-A22E-52727ED4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52800"/>
            <a:ext cx="2209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9F6DE-0B15-42A8-874A-D7AD1B2F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2364A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2M TL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A69A1-63C1-4C3E-BAC4-FC809570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Elektronik, sensör, PCB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148EE-78BE-46EC-A1C6-4732B74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03A21-D72A-41EA-90BC-6AC8DA78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667AC-1AFB-4B91-A1A0-8D902971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80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D58A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D58A1F"/>
                </a:solidFill>
                <a:latin typeface="Aptos"/>
                <a:ea typeface="Aptos"/>
                <a:cs typeface="Aptos"/>
              </a:rPr>
              <a:t>1.1M TL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47EDA-5E9C-476E-8635-19ACA9F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Pilot kit/prototip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2A747-24C5-4707-BDE8-494468BF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30767-4714-46E2-A49B-CB42F99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00500"/>
            <a:ext cx="1104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0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17AD5-59A7-4EBD-A995-10EEBB08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719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1M TL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F0D7-4289-46B7-A377-BF928B5E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Güvenlik ve test hazırlığı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FF695-83B1-4106-BD88-69D4057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71CEE-E92B-44E7-B619-C5DA58D2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2435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B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9C5D3-015F-4541-A3E5-FA65F63C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57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B83B3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83B3B"/>
                </a:solidFill>
                <a:latin typeface="Aptos"/>
                <a:ea typeface="Aptos"/>
                <a:cs typeface="Aptos"/>
              </a:rPr>
              <a:t>900K TL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C6FCC-F19A-43B1-B68C-13CFEC3D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Pilot/demo/pazarlama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E5F8F1-325F-44B3-8263-64CF2141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4820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72908A-A646-4999-9DF2-04B14F29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482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2F9ED-FB98-46C5-B916-E57DB8C7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1962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7C5CB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C5CBA"/>
                </a:solidFill>
                <a:latin typeface="Aptos"/>
                <a:ea typeface="Aptos"/>
                <a:cs typeface="Aptos"/>
              </a:rPr>
              <a:t>500K TL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EB29DA-99DB-4A7D-B2AA-FECA59C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434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4202B"/>
                </a:solidFill>
                <a:latin typeface="Aptos"/>
                <a:ea typeface="Aptos"/>
                <a:cs typeface="Aptos"/>
              </a:rPr>
              <a:t>Stok ve servis sermayesi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745AB-968A-4DFF-ACE7-290136B5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72050"/>
            <a:ext cx="2428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62AC8-4ADE-4745-BF4E-D2397DEE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72050"/>
            <a:ext cx="333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CA196-D711-4819-B552-1F9E934A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43475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300K TL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C08E53-3DA7-4B21-AA12-9FF55DCB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26CBC7-02EE-4A30-A7FF-72B0AEAC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ÖZEL YATIRIM / STRATEJIK KAYNAK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7564F-DEDF-4AD6-85AA-CF0B167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8M TL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3B568A-F43C-41F9-9319-49E8D57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MVP, 3-5 pilot, Vetmarketi lansmanı ve ilk 10-20 satış hedefi.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511C04-46A1-4026-A6A9-13B5E3A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EE186C-BDFE-4F51-AB65-DFB077A0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719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TÜBİTAK BIGG 1812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9D6FD4-E155-4F8F-8F55-D625A400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rPr>
              <a:t>1.35M TL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EE44FB-14D1-4C55-AF2B-097E79EB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%3 hisse karşılığı yatırım; izleme sürecinde 1.35M TL'ye kadar devam yatırımı talebi.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FE2AE6-72FC-41EC-9F2E-6B4B3A7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1490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6A12B0-49EB-4B7B-A1A3-81784D8D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KOSGEB + 1507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4769F5-8EB4-425E-A1B9-AFC14BE4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299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1.5M / 3.5M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B8B749-D3A6-408B-B007-85D99613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00700"/>
            <a:ext cx="2990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KOSGEB: 1.5M TL'ye kadar %80 geri ödemeli destek. 1507: %75 hibe, 3.5M TL bütçe üst sınırı.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890ED7-0FC6-461C-939C-78B09D8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yol haritası; TÜBİTAK 1812, KOSGEB 2026, TÜBİTAK 1507 resmi sayfaları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3502AC-31E9-4613-872B-62FC42F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672389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A3034-1F4F-4FF4-86F9-D68BBBF8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CBEB8-DE6A-4444-87D8-64B2308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34B5C-FC65-4502-8310-F8CEE31F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F2718-4EBE-4FD2-B600-D11B99FE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5E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5E5A"/>
                </a:solidFill>
                <a:latin typeface="Aptos"/>
                <a:ea typeface="Aptos"/>
                <a:cs typeface="Aptos"/>
              </a:rPr>
              <a:t>NET TEKLIF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289AE-B9A6-438D-AFC1-485F33C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02B"/>
                </a:solidFill>
                <a:latin typeface="Aptos Display"/>
                <a:ea typeface="Aptos Display"/>
                <a:cs typeface="Aptos Display"/>
              </a:rPr>
              <a:t>Kuvoz, yatırımcıya ve kanal ortağına 12 ayda ölçülebilir doğrulama sözü verir.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5A137-D7E0-4074-8E8E-28A15E75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Bugünkü ihtiyaç; sermaye, kontrollü kanal ortaklığı, pilot klinik erişimi ve güvenlik/servis standardını birlikte tamamlamaktır.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613CD-66DA-46C5-A644-4D154B49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876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8E1E5-6326-42EE-8D94-F9EF3C9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Aradığımız ortaklık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DE924-A07C-4B76-B722-683B0537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7"/>
          </a:solidFill>
          <a:ln xmlns:a="http://schemas.openxmlformats.org/drawingml/2006/main" w="9525">
            <a:solidFill>
              <a:srgbClr val="2780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2D50E-84C4-464E-934F-AE1C8B71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805D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27805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C1D37-0F5A-4AA3-B7AC-5D059580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8M TL ilk kaynak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5369E-2679-499C-A7E1-3B542E4C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861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12 aylık ürünleşme, pilot ve kanal lansmanı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388E-3555-40C4-9860-D00AF18B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784CD-4910-4B90-B03E-4C54D30D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8B500-6589-4F54-8E38-215A7FFE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Vetmarketi kanal niyeti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52739-FD8E-4449-8B5F-7D4E6CF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433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ürün sayfası, demo akışı, kontrollü co-branding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C4DEB-EEF3-43EC-937B-5F9922C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BC161-4CB1-42F1-AEF7-D0BBB20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A8E2E-B8A2-49D0-AFF3-D7BCE19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3-5 pilot klinik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1BD4E-91B1-4934-A972-3D259E3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005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60-90 gün gerçek kullanım ve referans vaka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3C3F9-EDB9-4EBF-8C53-355F55D0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2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ED3EC-31AD-4710-9BF4-BF8C40B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E2D6D-1FE7-4074-BC0E-BE1F782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4202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4202B"/>
                </a:solidFill>
                <a:latin typeface="Aptos"/>
                <a:ea typeface="Aptos"/>
                <a:cs typeface="Aptos"/>
              </a:rPr>
              <a:t>Teknopark + destek takvimi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C76A3-D2DF-4015-B594-8EFBDAE1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BiGG, KOSGEB, 1507 ve Ar-Ge projesi zemini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8E17A6-0802-481C-9BC4-146309CA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C367B-3556-49F9-B6E8-7D3F2A1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12 AY ÇIKTI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616AF-6CDD-4D91-9DD2-195E07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75E5A"/>
                </a:solidFill>
                <a:latin typeface="Aptos Display"/>
                <a:ea typeface="Aptos Display"/>
                <a:cs typeface="Aptos Display"/>
              </a:rPr>
              <a:t>10-20 satış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BD42E-347D-4FBD-A4B9-3D95603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Vetmarketi lansmanı ve ilk servis/garanti dokümanı.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F674F-A0FB-4537-A659-9E5E22CD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F5E23-8BB2-4E11-A636-552B84DE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DOĞRULAMA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5D64F-4E75-4780-AA5E-287CBBF9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364AA"/>
                </a:solidFill>
                <a:latin typeface="Aptos Display"/>
                <a:ea typeface="Aptos Display"/>
                <a:cs typeface="Aptos Display"/>
              </a:rPr>
              <a:t>3-5 klinik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F54FA-4D3F-4CB5-91AD-3D88423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En az 60 gün stabil pilot kullanım ve referans vaka.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2BA6CB-EA1C-48C3-BBBE-0E2DCEAA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7D8D8-9937-4606-9F51-B7D1E3F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814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FINANSAL EŞIK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BE2296-D7FB-44F0-88DB-ACB346C0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7805D"/>
                </a:solidFill>
                <a:latin typeface="Aptos Display"/>
                <a:ea typeface="Aptos Display"/>
                <a:cs typeface="Aptos Display"/>
              </a:rPr>
              <a:t>1M TL+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51103-7DD9-4935-B7A2-587E4D5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Ciro veya imzalı sipariş hedefi; yatırım/hibe dosyası güncel.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59B403-AF22-4F56-8071-0DEF287D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190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D25C0D-4BF7-4536-8055-B74CA5BF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814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36271"/>
                </a:solidFill>
                <a:latin typeface="Aptos"/>
                <a:ea typeface="Aptos"/>
                <a:cs typeface="Aptos"/>
              </a:rPr>
              <a:t>İKINCI YIL KAPISI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3D53D8-02CE-43CD-BB84-C1C37E79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10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58A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58A1F"/>
                </a:solidFill>
                <a:latin typeface="Aptos Display"/>
                <a:ea typeface="Aptos Display"/>
                <a:cs typeface="Aptos Display"/>
              </a:rPr>
              <a:t>15-25M TL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65B173-B369-4285-BA70-3ADBA07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339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27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271"/>
                </a:solidFill>
                <a:latin typeface="Aptos"/>
                <a:ea typeface="Aptos"/>
                <a:cs typeface="Aptos"/>
              </a:rPr>
              <a:t>Tam cihaz, ihracat, klinik paneli ve CE/UKCA hazırlığı.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E70FBB-C4CC-4F68-9417-E5956C9A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115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20E8D7-0CD1-4817-BA0E-70984535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05475"/>
            <a:ext cx="952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Kapanış cümlesi: Kuvoz, veteriner yoğun bakım cihazlarını veriye, erken uyarıya ve servis edilebilir akıllı platforma dönüştürür.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C1CB7-B393-4EFB-B154-D06BDC9F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Kaynak: Kuvoz şirketleşme yol haritası, net tavsiye ve 12 ay KPI hedefleri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19CAA8-61D4-41BA-B42A-C85DA4E8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C778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C778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174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2026-05-08T06:19:12.3700000Z</dcterms:created>
  <dcterms:modified xsi:type="dcterms:W3CDTF">2026-05-08T06:19:12.3700000Z</dcterms:modified>
</coreProperties>
</file>