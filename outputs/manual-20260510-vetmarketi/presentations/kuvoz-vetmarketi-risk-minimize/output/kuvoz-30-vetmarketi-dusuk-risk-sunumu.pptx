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f183723c14734" /><Relationship Type="http://schemas.openxmlformats.org/officeDocument/2006/relationships/extended-properties" Target="/docProps/app.xml" Id="R29b6ea2966094662" /><Relationship Type="http://schemas.openxmlformats.org/officeDocument/2006/relationships/officeDocument" Target="/ppt/presentation.xml" Id="R0ae9ed8fcf12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254b3be669464e"/>
  </p:sldMasterIdLst>
  <p:notesMasterIdLst>
    <p:notesMasterId xmlns:r="http://schemas.openxmlformats.org/officeDocument/2006/relationships" r:id="Re77e4018778b4bf9"/>
  </p:notesMasterIdLst>
  <p:sldIdLst>
    <p:sldId xmlns:r="http://schemas.openxmlformats.org/officeDocument/2006/relationships" id="256" r:id="Rb0c1b711612c4ca6"/>
    <p:sldId xmlns:r="http://schemas.openxmlformats.org/officeDocument/2006/relationships" id="257" r:id="R173ea71a21514c2f"/>
    <p:sldId xmlns:r="http://schemas.openxmlformats.org/officeDocument/2006/relationships" id="258" r:id="R7518cc864e074e80"/>
    <p:sldId xmlns:r="http://schemas.openxmlformats.org/officeDocument/2006/relationships" id="259" r:id="R7346815aa31a4778"/>
    <p:sldId xmlns:r="http://schemas.openxmlformats.org/officeDocument/2006/relationships" id="260" r:id="Rfe0ec0abbbd04193"/>
    <p:sldId xmlns:r="http://schemas.openxmlformats.org/officeDocument/2006/relationships" id="261" r:id="R1dcf2050dd5946bc"/>
    <p:sldId xmlns:r="http://schemas.openxmlformats.org/officeDocument/2006/relationships" id="262" r:id="R6092f2298ea54ec8"/>
    <p:sldId xmlns:r="http://schemas.openxmlformats.org/officeDocument/2006/relationships" id="263" r:id="R0717555812e44b6c"/>
    <p:sldId xmlns:r="http://schemas.openxmlformats.org/officeDocument/2006/relationships" id="264" r:id="Rbdaff6b43c254725"/>
    <p:sldId xmlns:r="http://schemas.openxmlformats.org/officeDocument/2006/relationships" id="265" r:id="R313fef1e082849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54b3be669464e" /><Relationship Type="http://schemas.openxmlformats.org/officeDocument/2006/relationships/theme" Target="/ppt/theme/theme1.xml" Id="R611056ef61514ed7" /><Relationship Type="http://schemas.openxmlformats.org/officeDocument/2006/relationships/notesMaster" Target="/ppt/notesMasters/notesMaster1.xml" Id="Re77e4018778b4bf9" /><Relationship Type="http://schemas.openxmlformats.org/officeDocument/2006/relationships/presProps" Target="/ppt/presProps.xml" Id="Rcbc898254f314601" /><Relationship Type="http://schemas.openxmlformats.org/officeDocument/2006/relationships/viewProps" Target="/ppt/viewProps.xml" Id="R276b6c20644841b3" /><Relationship Type="http://schemas.openxmlformats.org/officeDocument/2006/relationships/tableStyles" Target="/ppt/tableStyles.xml" Id="R869cd365cf8b4b74" /><Relationship Type="http://schemas.openxmlformats.org/officeDocument/2006/relationships/slide" Target="/ppt/slides/slide1.xml" Id="Rb0c1b711612c4ca6" /><Relationship Type="http://schemas.openxmlformats.org/officeDocument/2006/relationships/slide" Target="/ppt/slides/slide2.xml" Id="R173ea71a21514c2f" /><Relationship Type="http://schemas.openxmlformats.org/officeDocument/2006/relationships/slide" Target="/ppt/slides/slide3.xml" Id="R7518cc864e074e80" /><Relationship Type="http://schemas.openxmlformats.org/officeDocument/2006/relationships/slide" Target="/ppt/slides/slide4.xml" Id="R7346815aa31a4778" /><Relationship Type="http://schemas.openxmlformats.org/officeDocument/2006/relationships/slide" Target="/ppt/slides/slide5.xml" Id="Rfe0ec0abbbd04193" /><Relationship Type="http://schemas.openxmlformats.org/officeDocument/2006/relationships/slide" Target="/ppt/slides/slide6.xml" Id="R1dcf2050dd5946bc" /><Relationship Type="http://schemas.openxmlformats.org/officeDocument/2006/relationships/slide" Target="/ppt/slides/slide7.xml" Id="R6092f2298ea54ec8" /><Relationship Type="http://schemas.openxmlformats.org/officeDocument/2006/relationships/slide" Target="/ppt/slides/slide8.xml" Id="R0717555812e44b6c" /><Relationship Type="http://schemas.openxmlformats.org/officeDocument/2006/relationships/slide" Target="/ppt/slides/slide9.xml" Id="Rbdaff6b43c254725" /><Relationship Type="http://schemas.openxmlformats.org/officeDocument/2006/relationships/slide" Target="/ppt/slides/slide10.xml" Id="R313fef1e082849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c49511717854f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5d9883e234299" /><Relationship Type="http://schemas.openxmlformats.org/officeDocument/2006/relationships/notesMaster" Target="/ppt/notesMasters/notesMaster1.xml" Id="R68d6cf6bfcd840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79277086c4eba" /><Relationship Type="http://schemas.openxmlformats.org/officeDocument/2006/relationships/notesMaster" Target="/ppt/notesMasters/notesMaster1.xml" Id="Rbe9a555902a14d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5f0d74ed64b59" /><Relationship Type="http://schemas.openxmlformats.org/officeDocument/2006/relationships/notesMaster" Target="/ppt/notesMasters/notesMaster1.xml" Id="R38cecfe6d4814a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f73ce25a8f4f1c" /><Relationship Type="http://schemas.openxmlformats.org/officeDocument/2006/relationships/notesMaster" Target="/ppt/notesMasters/notesMaster1.xml" Id="R011243cd0fe544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fbf9d5f2834c08" /><Relationship Type="http://schemas.openxmlformats.org/officeDocument/2006/relationships/notesMaster" Target="/ppt/notesMasters/notesMaster1.xml" Id="Ra66e932f76de44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2b887057d446ae" /><Relationship Type="http://schemas.openxmlformats.org/officeDocument/2006/relationships/notesMaster" Target="/ppt/notesMasters/notesMaster1.xml" Id="Rda0cc11a63704f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cc4e76a3924076" /><Relationship Type="http://schemas.openxmlformats.org/officeDocument/2006/relationships/notesMaster" Target="/ppt/notesMasters/notesMaster1.xml" Id="Rfdde16b0292c44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89233cad6e4817" /><Relationship Type="http://schemas.openxmlformats.org/officeDocument/2006/relationships/notesMaster" Target="/ppt/notesMasters/notesMaster1.xml" Id="Raaeb8a995e8c42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c82323738f486a" /><Relationship Type="http://schemas.openxmlformats.org/officeDocument/2006/relationships/notesMaster" Target="/ppt/notesMasters/notesMaster1.xml" Id="Rda3b5106851c4c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b710766bbd4413" /><Relationship Type="http://schemas.openxmlformats.org/officeDocument/2006/relationships/notesMaster" Target="/ppt/notesMasters/notesMaster1.xml" Id="R0735d3f36a3a42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1597aa99742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ed6d2a816b0493b" /><Relationship Type="http://schemas.openxmlformats.org/officeDocument/2006/relationships/slideLayout" Target="/ppt/slideLayouts/slideLayout2.xml" Id="R9bbd0725acd840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d0725acd840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4edf6394fb4f54" /><Relationship Type="http://schemas.openxmlformats.org/officeDocument/2006/relationships/image" Target="/ppt/media/image.png" Id="R8789449b01ee4c1c" /><Relationship Type="http://schemas.openxmlformats.org/officeDocument/2006/relationships/notesSlide" Target="/ppt/notesSlides/notesSlide1.xml" Id="Rd8e82441f7b044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52dbc9d2304da2" /><Relationship Type="http://schemas.openxmlformats.org/officeDocument/2006/relationships/image" Target="/ppt/media/image2.png" Id="Ra29d5ea63d114e2b" /><Relationship Type="http://schemas.openxmlformats.org/officeDocument/2006/relationships/notesSlide" Target="/ppt/notesSlides/notesSlide2.xml" Id="Rb59a8b3ec1ee44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83159fcd744ced" /><Relationship Type="http://schemas.openxmlformats.org/officeDocument/2006/relationships/image" Target="/ppt/media/image3.png" Id="R14e19458e06541ba" /><Relationship Type="http://schemas.openxmlformats.org/officeDocument/2006/relationships/notesSlide" Target="/ppt/notesSlides/notesSlide3.xml" Id="R6ff9f7e9d0e24d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c7de7194d84355" /><Relationship Type="http://schemas.openxmlformats.org/officeDocument/2006/relationships/image" Target="/ppt/media/image4.png" Id="R33206654c3b64aa7" /><Relationship Type="http://schemas.openxmlformats.org/officeDocument/2006/relationships/notesSlide" Target="/ppt/notesSlides/notesSlide4.xml" Id="Rc8a7ed7caebb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d95653f0f4340" /><Relationship Type="http://schemas.openxmlformats.org/officeDocument/2006/relationships/image" Target="/ppt/media/image5.png" Id="R7e0d5defd65e48a9" /><Relationship Type="http://schemas.openxmlformats.org/officeDocument/2006/relationships/notesSlide" Target="/ppt/notesSlides/notesSlide5.xml" Id="Reab953b14fc7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542403ca0401c" /><Relationship Type="http://schemas.openxmlformats.org/officeDocument/2006/relationships/image" Target="/ppt/media/image6.png" Id="R5d6019ef6b6243cd" /><Relationship Type="http://schemas.openxmlformats.org/officeDocument/2006/relationships/notesSlide" Target="/ppt/notesSlides/notesSlide6.xml" Id="R3e765a98292144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a6fc95544b49c5" /><Relationship Type="http://schemas.openxmlformats.org/officeDocument/2006/relationships/image" Target="/ppt/media/image7.png" Id="Raca14a1dc130446e" /><Relationship Type="http://schemas.openxmlformats.org/officeDocument/2006/relationships/notesSlide" Target="/ppt/notesSlides/notesSlide7.xml" Id="R0f1e21ac285b4f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b5e7dc63f24483" /><Relationship Type="http://schemas.openxmlformats.org/officeDocument/2006/relationships/image" Target="/ppt/media/image8.png" Id="Ra76a7168938c4723" /><Relationship Type="http://schemas.openxmlformats.org/officeDocument/2006/relationships/notesSlide" Target="/ppt/notesSlides/notesSlide8.xml" Id="Rcbb5ff30aa594e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b06625fe1f453a" /><Relationship Type="http://schemas.openxmlformats.org/officeDocument/2006/relationships/image" Target="/ppt/media/image9.png" Id="Rfc3a9ae7b4b44ac7" /><Relationship Type="http://schemas.openxmlformats.org/officeDocument/2006/relationships/notesSlide" Target="/ppt/notesSlides/notesSlide9.xml" Id="R8a1a47474ee246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6cfddce014570" /><Relationship Type="http://schemas.openxmlformats.org/officeDocument/2006/relationships/image" Target="/ppt/media/image10.png" Id="R9c0498d7e33344c5" /><Relationship Type="http://schemas.openxmlformats.org/officeDocument/2006/relationships/notesSlide" Target="/ppt/notesSlides/notesSlide10.xml" Id="R7805a5b6547e4e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87561-952C-4DF7-B4BE-EBAF4279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0F79B-AEBF-498C-A461-4F42DB7C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9449b01ee4c1c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8C976-B720-489E-9C32-CEF2C657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DÜŞÜK RISKLI TICARILEŞME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26B1D-81D4-4C57-94BF-B0F89F8F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44EB-2502-49C9-98C5-B920092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ANA TEZ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E7A55-6C5E-45EF-9E12-3A4151A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Kuvoz 3.0 ayrı bir startup gibi değil, Vetmarketi’nin mevcut ticari gücüyle başlamalı.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172F9-0F26-431E-997E-31020B66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2016’dan beri pazarda olan Kuvoz v1 ve yaklaşık 100 bilinen müşteri, ilk ürün-pazar doğrulamasını sıfırdan müşteri aramadan yapma şansı veriyor.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E0923-08AF-41AC-91A2-1DDB7E24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BF7C8-CCE3-43AF-8D39-609D7D93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Revize karar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D1D6E-F3C6-4DBD-9A14-2A10D509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İlk 12 ay yeni şirket kurma baskısını azalt; Vetmarketi içinde V1 Refresh + 3.0 Upgrade Kit ile gerçek ödeme niyetini kanıtla.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E94BE-008C-485E-8513-AF8096E4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ED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8CED3"/>
                </a:solidFill>
                <a:latin typeface="Aptos"/>
                <a:ea typeface="Aptos"/>
                <a:cs typeface="Aptos"/>
              </a:rPr>
              <a:t>Şirketleşme, Teknopark veya spin-off kararı satış, pilot ve servis verisi oluşunca verilmeli.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A043C-CDD7-4ADA-86BB-E192501D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017B7-B039-426D-8D6C-115DBD03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480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13920-A3C7-4B33-917E-A5490602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PAZAR GEÇMIŞI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9DE36-E5E0-4A54-A628-F9E8E8B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00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Kuvoz v1 ile saha güveni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B149C-9980-47A5-A9FE-E7B160E0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88D8F-2D47-47E0-8CA3-B2A8755A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~100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777F3-DD6F-4A3B-B414-96340E76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BILINEN MÜŞTERI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743BC-823F-4F5E-BF2E-F93DD34D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0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CRM ve upgrade tabanı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2DC16-AD81-4FAF-AF0D-D673B6CE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FD5B0-3EA4-47CA-B78F-D90B075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02A93-DFA5-4A7E-9C37-82AEB19F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0-90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3D3F3-FBED-4A4E-840B-34A70EEB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DOĞRULAMA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0ABC43-F43F-4D7D-B8A3-C00B8970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+ 2-3 ücretli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85DF42-6BE8-4B1C-A3B3-0A5CBA0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EBB40B-0B90-4DC4-A243-D57EC4A8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6B8C9-6597-42DB-A87B-661A958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6 AY KAYNAK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8FC44-CDCF-4ADC-8299-FD505689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ödemeli pilot/upgrade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CAEAFA-754D-4D2D-ACB2-68431CFE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19D1CD-797F-452A-83BD-85000E1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15-30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0723CB-3961-4059-8F99-40B119A5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HEDEF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C4D46-36B2-4FB4-B67D-D9E44AD0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veya imzalı sipariş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503B8B-F0E6-47D4-9C36-E770BBC1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0A86E4-318D-413C-B640-7B362ADB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483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12. 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2FE0E1-48E1-4C1D-8BB9-ED9F5694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29300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YAPI KARARI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5E4DBE-319B-417D-B2F4-E48214F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0007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/ Teknopark / spin-off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76C104-92A5-4939-8035-08E931A8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EBB960-2C02-4BB8-9646-7ED3DEAB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7297459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59F2D-5B11-44CB-8D91-C377ED79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BE295-DBBB-4046-99D0-FEC8D97E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d5ea63d114e2b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29745-36F4-4A6A-86C4-FF309537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STRATEJI DEĞIŞIMI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4F279-E9E0-48CF-AA80-4B9AF1A5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2B582-5EC3-43B0-8EC8-62D142A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PIVOT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7E24F-19A2-4079-8347-5CD96642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Risk, yeni şirket kurarak değil; mevcut kanalı kullanarak azaltılmalı.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2DE74-CABF-4A5B-8097-8AD56F4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ticari olarak var olduğu için ilk hedef yatırım turu değil, eski müşteri tabanında ücretli doğrulama olmalı.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34BF-63D5-46C3-9560-FED74391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B4131-1746-4F15-B53E-FE013D18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3D20D-7E3E-4C6A-84EB-6F745EB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Önceki yaklaşım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47A06-8058-4D8B-A1C0-5180CC5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Yeni Kuvoz Teknoloji A.Ş. + Teknopark + yatırım arayışı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5647F-C44A-4FCF-BC63-1D7EB9AC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Daha temiz yatırım yapısı sağlar; ancak müşteri, operasyon ve nakit riski daha erken doğar.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B542D-26A7-45FC-A54B-19AA73D2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Ne zaman?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D3BAD-AA7B-4602-93A8-FCAE15E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148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verisi, SaaS ihtiyacı veya yatırım gereği netleşince.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D9F2E-591A-4B5B-B9F6-4EE29889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DE41B-63DB-430D-B00B-D966EBB3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BE6EC-F346-4B52-8EA7-5AE04DD3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193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Revize yaklaşım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812C4-2ECD-4716-959E-AB8D457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Vetmarketi içinde ürün hattı + V1 müşteri tabanı + ücretli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4E807-B56A-440F-A1F0-18C54819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marka, faturalama, müşteri ilişkisi ve saha geçmişi ilk 12 ayda sermaye ihtiyacını düşürür.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7238C-2904-4010-A6E8-D8D6A30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 zaman ayrışır?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63056-E3C7-46F1-B41F-F4D44B06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291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15+ ödeme, servis verisi ve ikinci yıl büyüme ihtiyacı oluşunca.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D57CD-3820-4B11-A232-821EC289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DAB896-61DB-4741-A22B-6005C6AA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E69D2-B751-4323-9078-D95434A9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Şirket riski azalır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ED3ED-61D6-49F7-ACB8-B601B5B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operasyon, muhasebe ve yönetim yükü ertelenir.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81B51-6063-4660-9B8F-F3C2D58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8C460-0BFA-4DBC-9C95-8E14149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227F8-3174-41A7-8A27-DAC1AF38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Müşteri riski azalır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31671-C82F-4DE6-9E07-62254513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temaslar mevcut V1 kullanıcılarından başlar.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695C3-D7C4-4E71-9438-6AEDDBA6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18808-F1BE-4197-8EDC-B38B8B29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AF9F52-E1C4-48E0-833D-30BE3C7D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riski azalır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18C3D6-465D-4A80-BBDF-6A67F1DD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 ve siparişe yakın üretim uygulanır.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A70BC4-F7CA-4252-89FE-B99B225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629F52-2780-4D47-82BC-23333AB1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4277866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391F8-E4DB-4084-82FF-B216B85F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800B1-B356-4D66-974A-0EAB3EC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19458e06541ba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BF207-45A5-4578-B725-4BA851CA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MEVCUT MÜŞTERI TABANI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CC78C-FD4B-40D4-A909-AEB77E7C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A01CA-80FD-4CC3-9C7A-0BAA2C22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CRM MOTORU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8CD55-5FDC-4283-96DC-A7155F70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Yaklaşık 100 V1 müşterisi, Kuvoz 3.0’ın ilk satış hunisidir.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BB47B-93BF-439A-8149-D81975E2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Liste repo içine kopyalanmamalı; CRM’de tutulup segment, memnuniyet, servis ihtiyacı ve upgrade potansiyeline göre yönetilmelidir.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F1E9F-A102-4161-A301-78441AD4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1103F-36A4-4EFB-91E7-BD4FF20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100 müşteri için hedef funnel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90AAD-2C85-4FF9-8751-DD10E4A8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Liste temizliği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3020A-FA69-4212-81EE-55190FA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4D89F-87C2-4110-9703-60FE92B3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66B83-4945-4932-8411-D1B6D0F4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051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5B4BE-7F3F-4C70-BF15-FDD21D7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Ulaşılabilen müşteri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681FA-7B68-4793-91C6-6908DCEB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54065-86AC-462C-9B3E-19FCEE5A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139255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391F7-A2E6-4B02-BA6E-94D17DFA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05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60-70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F09AF-C0C4-4D39-B0F4-9D74A427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Memnuniyet/servis görüşmesi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A1E94-1BAF-44D9-B4FE-2C21630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6F0E9-3852-4192-952E-9AE2C14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9829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F58B9-4C24-4BF5-8062-9E328917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40-50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90B07-DC97-4754-871F-E11C065E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Demo ilgisi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E814A-C587-4F3D-B249-905212A7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A92AC-445B-4B0D-B0D1-53ACBCA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57340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157A0-7421-439F-A988-DD49ACD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05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20-30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EB9D7-3F00-425B-A176-3B708253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Pilot/upgrade teklifi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7AE3EE-AA29-4A42-908C-8CB6D231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75A98-8760-4B0B-9A59-5640E3F0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3071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40016-2525-407F-91DA-B672F3C8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053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10-15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44CFA-CA4A-44DA-8593-DD238932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ödemeli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3055F-544C-45D8-8245-E6F4136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C71C30-3F62-48E8-A750-44E0096C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1638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91F91-DDE6-407B-95B9-6C868BFD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5-8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C58C0F-0CD8-4B32-9B14-4308D83B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191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90915-BA60-4C05-9E68-C4D198B2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Segmentasyon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C47255-9EDC-4569-B83B-BB81804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9BCE3B-F3FD-4837-BBE6-0A37DE30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E2BB39-12EE-4B1C-A615-3E9E90C4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ve memnun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0D203-670E-4C04-A44E-56364010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İlk referans ve upgrade adayı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11F643-D5C9-4B40-B627-AE70431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623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504C76-19E3-4BFC-B4EA-FBE878A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690260-ECFE-4AB9-8CA5-BA6E120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6232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ama servis ihtiyacı var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18429E-53AD-4A86-AA05-0B6CA7D1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528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Önce güven onarımı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59DBC4-72FA-4480-85E5-359E2AB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393808-2FAA-42E3-A81B-F07BDBC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0981D4-1D97-482F-8D31-30F369A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Kullanımı azalmış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F4522D-FEE9-48F9-A053-56D78E7F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Refresh kampanyası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76F983-18B1-49B7-AB91-76E5CD1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957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3A4DFD-12BD-49E8-B26E-A7649F80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FDA63C-A7CB-45BC-BE4D-00AADABA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9577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Büyük klinik/hastane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94789F-7AD4-4CD3-B350-BEBE8364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862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Smart ICU pilotu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08F714-11FB-419F-A4EC-19DEBD45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C54FEE-7D3A-439B-9A61-7DA73E9B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01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F44D0D-716C-400A-AD50-17690363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Negatif deneyimli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BD2D62-62F1-4A66-AF74-5939569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Satış değil, dinleme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503A9F-3DF7-4FE8-A94B-7218631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AEE494-F5C7-40F6-AA0B-80FDA00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E383B0-A637-4835-B616-2AA5199D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038850"/>
            <a:ext cx="7105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Temel prensip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357F42-0F28-42CF-9C0F-62AAB7CB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305550"/>
            <a:ext cx="7105650" cy="-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müşterisi satış listesi değil; önce saha gerçekliği, güven ve servis ihtiyacı anlaşılacak bir öğrenme tabanıdır.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362DB2-F402-4F89-B069-839238F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1BC051-8FD9-4806-9AF9-E88EBBB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8448448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880CD-AB80-42B1-8A53-960E64D3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844E2-A5B5-418D-AE8B-1D43C6AC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06654c3b64aa7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D1643-3C97-4AB5-BB28-631D531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MERDIVENI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AEB6E-4CF2-4215-BABE-806BAFE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93DEA-8A94-442F-A4C8-00BA40E6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SIRALAMASI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910AD-9782-48DE-950F-807B44B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Tam cihazdan önce V1 Refresh ve Upgrade Kit satılmalı.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5E65D-D9E5-488E-88CB-375EE9FD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merdiven hem eski müşteriyi yeniden aktive eder hem de Kuvoz 3.0 için gerçek ödeme niyetini daha düşük maliyetle ölçer.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C81B4-254E-4508-817C-7FDD4520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744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E61D6-A4EF-4317-9805-17825F41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2AA07-890E-443C-8989-0EA5A17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2C2FF-79DF-4E09-8C9D-DB32F379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V1 Refresh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897A0-D883-4867-BF09-731FFFE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Servis, bakım, sensör kontrolü, upgrade uygunluk raporu.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5D098-19B2-4305-A305-5B60DB05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EBF09-CF11-40DE-A936-EA3DB2F5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E695B-DF17-4C6A-9D1C-31A09745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440B1-1339-45CE-950F-CA16D10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CDAEA-5645-4AF4-8D34-A0C086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3.0 Upgrade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A8806-451C-4BB0-8E44-168C9ABC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Kontrol, sensör, log, alarm ve web panel.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D6A04-29B8-40C0-A8A3-B7B6328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C4662-16DB-4CFB-B35C-1CC9BE55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44056-52C3-40CE-87F5-E9B2038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20A27-CCD3-437C-972A-7A46824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C7A64-C85D-443B-8274-FE4B6918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Retrofit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B7FB5-0854-4200-9002-221F357F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Kamera, uzaktan erişim, gelişmiş uyarı.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85FEA0-90C6-40FD-A70A-C39DBC6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D2E8C5-05BA-4672-AAEA-5439A92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9D0002-6D1A-446D-B2C3-4B0FBB14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3FE69-1BD0-4152-B70D-1A4265FD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D2FB4-D3FA-4CEA-9521-847A2E6C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ICU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8381E-4042-4096-88F1-21A02FD0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Kabin + Kuvoz 3.0 kontrol sistemi.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B5281F-2B98-467B-A13F-7BBE30D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E14088-796B-410C-8126-AAA395D5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E75269-2F59-4132-8946-0540131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2051D2-3BC1-4394-809E-9BE12900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84B314-FAC0-493B-BBF5-1370AC3F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Cloud Panel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4E2AC9-8031-4D90-8EF0-D8ED6B0E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Çoklu cihaz, rapor, servis ve AI katmanı.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B2F662-50E6-47FA-BFA6-5B8927E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B5F54C-8BFF-4EE4-963B-08FBD98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Neden bu sıra?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F9C6A3-3AA5-4C31-BBBA-7F20C234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57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Eski müşteriyle güven yenilenir; mekanik üretim riski gecikir; yazılım katmanı sahada öğrenir.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A67292-3355-4EDE-ADB2-50C626D2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3D7E2B-0F25-42B2-9E4F-DA0EF59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Satış açısı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0546C4-13A5-4C26-816B-A67BCBC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“Mevcut cihazınızı Kuvoz 3.0 Smart seviyesine taşıyalım” mesajı yeni cihaz bütçesinden daha hızlı kapanır.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3B2141-E517-4590-913D-0B9A824C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57B35F-A003-407C-94D2-29915A34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Karar kapısı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7601E3-92F0-4254-8B27-2D35A7FF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5+ ücretli upgrade ve 60 gün stabil saha verisi olmadan tam cihaz ana ürün yapılmamalı.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0C02D6-89FC-413D-B251-88D3FC47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65B8BB-6B9F-4CAD-9BF8-585EA6C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584185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766C7-6749-40C4-9566-CBDFEFB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E53AF-C0BF-4EB5-82BA-AF6711EA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d5defd65e48a9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4572E-E67C-4C84-BB8B-4925C627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NAKIT RISKI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DFF11-6793-47A5-A699-51DBD97E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D2658-5DCB-402F-80C5-37B7F40A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FINANSMAN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FB9F7-EF50-4704-BF01-ADF30E5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modeli ilk 90 gün maliyetini 750 bin-1,5 milyon TL bandına indirir.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1E55B-4136-4D4A-8A08-0A7E0EA9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 büyük stok yerine; prototip, CRM, ücretli pilot, servis/refresh geliri ve ön ödeme ile ilerlenmelidir.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25164-782C-426A-9646-BF3FB092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E2D6F-26BA-4327-84CE-43DAC9AB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90 gün bütçesi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51721-B1CA-4A25-89F8-177FE406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Prototip parçaları ve sensörler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7B8C2-3F72-4043-822F-17D46D2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0ECE6-E6B4-4742-BF83-4841A329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E0740-B11F-4296-B419-528D1C29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7F36C-3DA0-40B4-B691-F364F2A9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Yazılım ve arayüz sertleştirme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BDDCB-50D8-4C84-A394-B0E044C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755E3-98BE-4008-B8B1-8848A9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7AD46-1EFF-4BA4-9448-1C8EA1C2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06E7A-2F5C-464D-BB9C-857038BE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Saha servis/demolar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5CFCE-8B81-4A30-B0EA-7CD27814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FBECE-97A0-48CD-BA5F-690CA13B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6400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556D1-C896-4135-800C-8620CF4F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100-250K 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5C932-AF8B-4B75-A8E5-B26EB9E3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Video, datasheet, ürün sayfası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9FE27-376A-4988-BB5A-9D6AAD68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B0388-3534-4978-AC0C-A270EF6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80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11C342-F2BB-4259-889F-6A0DFDD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75-200K 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6B58B-5C95-4711-8996-075434C8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Hukuk/KVKK/sözleşme taslakları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F902A-4683-4354-AC55-82E8985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B4F56-1AEA-4BEA-99F7-068BAE7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9721A9-AAF5-4808-A6AC-507E16A6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75-150K TL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FB4B4C-5610-4B44-A1B2-0894DB65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BA791-FAF2-4B36-8EA3-0E02BCE4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C69CDC-58EA-4B5D-BE24-507A7DB8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40-50%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82ACF6-7A90-4466-87BC-7B63325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ÖN ÖDEME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31EE4D-91AC-4A47-A2DA-3B28029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Upgrade ve tam cihazda stok riski azaltılır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8B61D7-9066-4849-AEA8-03D58916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528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42CF38-F98A-4C4F-9D86-506E874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2B3699-6D1E-4667-B9F9-B17C4859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GENIŞ ÜCRETSIZ PILOT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7CF7B9-59DB-4509-86F4-B795CC89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72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disiplini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24D8D-10F2-457E-963C-A714C2F3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CFDA90-6387-4A57-8ED7-8D9AD0D9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CDA520-B8DA-4219-893E-84AB493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066E9D-5378-47E4-94CC-BFEB07A1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6 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E728DE-6543-424B-AFDB-2211603A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ücretli pilot/upgrade hedefi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28A8A7-6866-401E-BEE3-B2CCA33D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7DA15D-599E-4A37-B060-DFA336E9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3.5-6.5M TL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2DFBDB-513A-46A3-AA44-8933892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İLK 12 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B901D4-642B-4865-A2C7-4B0D825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15-30 satış/sipariş + ürün hattı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A45E31-9283-454B-B660-88BA583D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6A8477-DF53-4912-A073-059C21F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8-15M TL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E88C36-5E4E-44F5-962A-71B4999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SONRASI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4DF86F-FF4F-4B6D-B415-922E8008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Tam cihaz/ihracat için şartlı büyüme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D43015-3ADB-4DD0-8B13-60300E4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531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Ana fikir: yatırımcıdan önce müşterinin ödeme niyeti ve servis maliyeti ölçülür.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2A327F-C141-4564-B1C7-F53726B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C347EB-04C9-4420-9454-F92B675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8440414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9E987-7243-4C76-A726-C4B39A62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F8BCD-60B6-4E3A-9672-BDF2600E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019ef6b6243cd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B3F1E-BE98-43E6-8701-D4CB8148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0-12 AY PLANI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78F24-AC77-4B8B-BDA1-876157D4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D6F9B-3215-45F7-8F7A-130205B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YOL HARITASI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05681-27D3-435C-8D83-7AD1EAF1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İlk yılın amacı büyük lansman değil, düşük riskli ticari doğrulama.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2531E-C96E-442A-891C-3C6449D0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Her fazda ödeme, saha stabilitesi ve servis yükü ölçülmeli; Teknopark veya ayrı şirket kararı 12. ayda verilmelidir.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E03DE-8CD2-471D-A5C5-8288C150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BF19B-A905-4A1C-806F-3C80A0DB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CD790-8933-4FC7-87B9-D68ED50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0-30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9C41C-7235-45C2-920E-E4FF61B1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temizliği, ilk 30 müşteri araması, 10 pilot adayı, V1 refresh teklifi.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3A431-D26C-49C0-82DE-1AC1A6D5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AED83-5152-4FAC-A253-CA3EFBDF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CD421-415A-47F6-ABF4-F66A5EA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1-3 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EC929-9AD6-47A4-98CF-3AE7B01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 refresh teklifi, 2-3 ücretli pilot, ilk saha raporu ve montaj checklist.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37FDF-CB25-4EFC-BEC8-C99ECF55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F6D5E-9F44-4A38-B6D3-8434986A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44AE6-D69A-4893-8D23-88445BEA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3-6 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CDC3E-C669-4B91-B728-4DB7E34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ürün sayfası, 5-8 ücretli upgrade, 3 referans klinik.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E1662-8C05-46C6-88C6-D19285F1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598D9-235F-4864-9722-D43FF36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8374D-E7EF-4B97-B06B-6039C9F0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6-9 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0B138-C2F5-4665-B37E-E4F98CA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10-15 satış/sipariş, servis standardı, tam cihaz talep sinyali.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8FA03-468C-42A0-8288-502E2BC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9650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A19F3-F068-4D26-A9D0-D851B7F5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9-12. ay karar kapısı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A9F01-48C6-4E03-8000-863C25AF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15+ ödemeli müşteri, yönetilebilir servis maliyeti, tekrarlanabilir montaj ve gerçek tam cihaz talebi varsa ikinci yıl yapısı seçilir: Vetmarketi ürün hattı, Teknopark Ar-Ge projesi veya Kuvoz Teknoloji spin-off.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DF208-1D93-425E-81B9-625B1F9D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27E72-F980-4DCC-B092-1FB79467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Başarı eşiği: 15-30 satış/sipariş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30DCF-E8C8-4588-98EB-60758C2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11406-20F0-46F3-816B-259BFDE1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 kanıtı: 60+ gün stabil kullanım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B57C96-8F90-451D-9674-EC55B3AD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89E00-3F79-4749-A63B-9DA07C1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Kanal kanıtı: Vetmarketi sayfası + CRM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1DE44-C536-416A-BD38-BFB34CB1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072481-24C3-49A2-9ECD-83D6378A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Yapı kararı: 12. ay verisiyle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403242-FDF9-4AF3-97CA-6DBF9362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8CDF8A-A993-4E02-9A9A-3714A9CE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7117691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F4964-D752-4CD9-80AB-356BC95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0A351-1D10-421F-B86C-B772F480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14a1dc130446e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32A7F-C00F-4718-9E79-73179CC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MIMARISI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82791-71E4-4940-9A9C-BE378A6C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DAF78-AD34-40AE-8417-92BA2D1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AKILLI KATMAN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AA36C-A7D9-4C9F-B0EE-B08AC450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Upgrade kit bir ekran değişimi değil; güvenlik, kayıt ve uzaktan servis katmanı.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F70D2-412E-4FB4-B16D-9CFCC8B1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Mimari hem V1 cihazları yükseltmeli hem de ileride Smart ICU ve klinik paneline taşınmalıdır.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D8535-659E-4306-82DB-23C74667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70E7B-ADFF-4137-BD87-74EF470F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6E363-3517-4393-9B0E-59676FB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Cihaz katmanı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CBA68-17FA-4D98-81E9-06ED5EA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A499A-DD51-40BF-B652-38FC531D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5D2FC-C9C0-49EA-8505-935CDCA5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Sensörler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E5406-7122-4555-988E-306FB411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Isı, nem, CO2/O2, kamera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93AF0-6FF3-4C1B-A46C-31131D06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99A01-4269-4523-AF65-9A40E812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CA36B-85D5-424E-94AB-13464B4E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846B4-3EEC-4325-B99E-7127F899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Raspberry Pi, röle, kiosk panel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3CB58-61F4-41DC-B528-81BF2E51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8BD4E-509A-4222-8939-003232BD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05EB5-A874-4E88-905E-319F9523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Ekipman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638FB-3FE9-4695-8548-BC0684DD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Fan, ısıtıcı, UV, ozon, nebulizatör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F5021-F1BF-424D-8719-1D2C9D56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8877F-38C2-40A1-A332-63537297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2D034-9468-4E12-87FD-833C68B4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Güvenlik katmanı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73ED7-137F-4FC7-AADA-5D49A3A2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0CA71-3CA6-4EBC-BFAE-D3E7223B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5BC42-3FD7-4F45-964A-BF8B9D4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Hasta güvenliği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C5CEC-A8B6-47E9-BAB7-C17FB899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Ozon/UV kilidi, aşırı ısı limiti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C06D55-7F9D-40CF-A037-7128D95D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5E6C9B-965F-4F3A-91E0-17371A58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DDA95C-FA37-484C-97EC-766CD0E4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Alarm mantığı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EC7EDD-8A6D-4559-92E8-648610FA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Eşik, trend, bağlantı ve sensör arızası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5B4689-EACA-48A2-933E-813014FB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B08DE6-D6DE-4815-B482-E9D725D5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D8FE0-2302-4944-84C1-4DAA76D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Güç davranışı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805A9F-190F-4345-B216-19461312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Kesinti sonrası güvenli yeniden başlama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B89BAE-7EDC-46B8-865B-DE8BD210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4138B2-55F1-459D-9CC6-4B414726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EFE6FF-00CF-4DFA-8E34-FA60E2E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Operasyon katmanı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FF849E-B65D-4519-89D4-65304EE5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4D2057-C2EB-44ED-9E58-D665A43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95DD34-4527-4A63-A6EC-EAF1BAA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Kayıt ve grafik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8BECA0-47F1-494A-9F4A-127F70BB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Hasta bazlı log, rapor, geçmiş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7554DA-AA71-4C31-BCA8-3CC019E3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09CDC-9285-4233-8886-4D7B6F7C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32919E-F5B5-4804-8FA6-2C010472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Uzaktan destek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4CB3C6-23BD-4BF9-BE66-CF89B07E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Web panel, servis modu, diagnostik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206431-52E6-4624-AEC8-DCF9F35A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0DECFB-11DD-40B0-ADCA-B5C5C46B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89D1AB-4390-4095-A5C0-AB8DACCE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uyarı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BAE281-E056-47A0-BA5C-C619EF6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Trend, aktivite ve erken risk sinyali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6D2D18-71B3-4D20-974D-6E0C6C8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B3BB4D-D3C6-47F2-B4BA-B2F2692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6224FA-AA52-4E80-98DE-53BA86C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Kanıtlanacak şey: klinikler sadece daha modern ekran istemiyor; güvenilir alarm, kayıt ve servis kolaylığı istiyor.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E2D4A7-9B1E-4892-9733-77FFEF8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E3DEF9-17F2-4598-B470-C2B0E386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1364481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EB8D2-A7E4-469E-AC3F-BB9313B2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382F1-BBCF-4C65-A562-93050E74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a7168938c4723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5D8E7-5E74-49E0-AB4A-7B95E8D2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VE TEKNOPARK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1239F-6930-4F37-AB46-B951CB01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554CB-7A7A-4E3E-9FAE-6DE6B1D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STRATEJISI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C9221-6962-4746-A203-EC8F932D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 modelde ilk finansman yatırımcı değil, müşteri doğrulaması ve ön sipariş olmalı.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73313-C08E-4FF9-9050-330F6CD9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Kamu destekleri ve Teknopark daha sonra hızlandırıcı olur; ilk 6 ayda ticari gerçeklik ölçülmeden yapıyı ağırlaştırmamak gerekir.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77E24-EBAA-4F91-97B1-51F7DBB7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706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3F087-C02E-4B94-BDBC-54E20578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AB149-9E06-4E2B-8E0D-9989CE68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B1703-620A-43DB-819C-170E7986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VETMARKETI NAKDI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3DCD0-79C4-4B72-84BC-D4C09404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operasyon ve satış altyapısı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8B59B-3D99-462A-8535-9EF51BC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516CA-46C3-4087-9393-CA50C46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539FB-6A26-4980-94C8-3E1C57C7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SERVIS/REFRESH GELIRI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058CF-3B61-4B0D-95F5-329EA212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müşteri reaktivasyonu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A7639-5845-432C-817B-B2AE87D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830D5-CFBC-497A-9DD3-8C8DF711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D3DDE-3C99-4909-8F6C-4714E354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UPGRADE ÖN ÖDEMESI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95E39-C228-4533-AE46-4B0A8B3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Stok ve nakit riski azaltılır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6D7EF-40AA-496B-9C0F-81BE2F9F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D0CBC-711C-4185-86C0-2EE16DB4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32C3E-E4E0-401C-B8D9-4A03AE27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KAMU DESTEKLERI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E75F2-3CD6-464E-8BF4-9C22CEFB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1707/1507/KOSGEB uygunluk kontrolü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FA66D-1ADF-449F-810B-D6CF3657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22E24-BE38-4F2D-BDDE-03329F3E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308CD-AABF-48F6-A730-C4A8692F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1707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94C967-4F5C-4FC0-BFEE-44161D63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gibi müşteri/kanal tarafı hazır olduğunda siparişe dayalı Ar-Ge kurgusu BiGG’den daha uyumlu olabilir.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746DD-CE8E-489C-BBC0-E12FA070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5AA6F1-776A-4463-9DFC-4A6C587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A16D7C-2E73-4AC7-AB93-46F49196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1507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C8BEE6-5769-4EAE-B510-16A9C7E8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Sensör füzyonu, güvenlik kilidi, offline-first uzaktan izleme ve AI alarm eşikleri için teknik Ar-Ge dosyası.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06711E-462E-4455-B093-D1C5D3A4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F9840C-D630-4B62-A697-B58EDDF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808CF-9655-4C7F-8AF3-87C76B8F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Teknopark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2A0823-9C37-4A75-BBA7-FB41A67B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gün şart değil. 6-12 ayda yazılım/AI ekibi ve ayrımlı muhasebe ihtiyacı netleşince değerlendirilmeli.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62FAD2-6DA9-439D-A2E6-4026C905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Sıralama: pazar doğrulaması → destek dosyası → Teknopark veya spin-off kararı.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A71B19-B368-47FB-833A-5337B7F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5C8693-0B6B-45E3-9C2D-E260AB33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TÜBİTAK 1707/1507, KOSGEB 2026 ve revize Kuvoz yol haritası</a:t>
            </a:r>
          </a:p>
        </p:txBody>
      </p:sp>
    </p:spTree>
    <p:extLst>
      <p:ext uri="{BB962C8B-B14F-4D97-AF65-F5344CB8AC3E}">
        <p14:creationId xmlns:p14="http://schemas.microsoft.com/office/powerpoint/2010/main" val="10836279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AD5315-FD48-4E05-B7F8-FDE17CE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CD244-020B-4C65-A560-D2BF6C56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a9ae7b4b44ac7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41F86-3FEE-4DDD-A81A-A2015708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RISK YÖNETIMI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4CAE0-59A4-439B-B328-E0B1663C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4234D-F10C-405B-A721-AE1F3E3D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KONTROL LISTESI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1D5A9-1198-4448-999F-42A4FE99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markasıyla çıkmak avantajdır; teknik hata aynı zamanda marka riskidir.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17522-0C0A-4F08-8766-74479169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yüzden ilk lansman geniş kampanya değil, sınırlı ücretli pilot ve net güvenlik/servis dokümanı ile yapılmalıdır.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32EE4-4606-49E0-87FB-6C20BC17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73CB6-673E-426A-8F52-C30AB8A9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1598F-B50D-4430-AAD5-91864B15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A7FAB-C0C3-4518-ADA1-E68818C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9F030-3470-49C8-AA14-15D2DF0F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Eski V1 müşterisinde negatif deneyim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E5DD9-EB01-421C-988F-A5E2751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 servis/refresh ve dinleme; direkt satış baskısı yok.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A38AA-13AF-4B2D-A000-BC0DA675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7AFE3-9ACD-4D95-8203-7FFEB9FF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6FD38-51D5-4F39-AA4A-442A65F9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Ücretsiz pilotların ciddiye alınmaması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817CF-F734-49DC-AB93-D54DC5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ve geri bildirim/referans taahhüdü.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67CCC-350A-4781-9977-9546452A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42497-829F-4669-BD93-45A47ECA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7BE7F-AFEB-4379-BEC2-FB10D83D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957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ve nakit riski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67D14-D446-4F5E-AB1C-EE65CF2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ödeme, siparişe yakın üretim, sınırlı parça stoku.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68F8A-9510-4B3C-9760-35BF038E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C10A7-A8CC-4A76-A36A-18874ED5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DE879-FA96-4765-818A-43ADCDB2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Teknik arızanın Vetmarketi markasına etkisi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6EB75-2195-49A5-80D8-5F1DA1D6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5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Sınırlı pilot, güvenlik kilidi, garanti ve servis checklist.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8432A-75EB-4313-BA68-01D66250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42B0E-8F5D-4BCF-907F-29911858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64C7E-DA41-412D-A10C-89800C60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vaatlerinin fazla iddialı olması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97391-932D-4D60-A437-277B67A7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Tanı/tedavi vaadi yok; karar destek ve erken uyarı dili.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A37E7-06A0-432D-8715-B2E590EA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13D731-B3C3-49D6-A720-4FDCD053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23D0AB-FC15-400C-AFE7-DEE026E5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KVKK ve müşteri verisi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398A0B-59CD-4B77-A779-0A487D1B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67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Müşteri listesi repo dışında; kamera/uzaktan erişim onayları.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378246-1EE8-4103-993D-DB6C66E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6265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41977A-F24D-47F0-AC3D-4E234185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57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 / no-go kuralı: hasta güvenliği, uzaktan erişim onayı ve servis dokümanı tamamlanmadan geniş satış yapılmaz.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E23FC8-4C35-44F3-A4E6-5FBB4325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1AE61-826F-4B79-A016-7B1D2201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336030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35D7A-5B08-4F32-8050-75795AA4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E81E7-BCEA-4D8B-84F9-A9CE2E5F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498d7e33344c5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0CE32-399A-44A3-81CE-17DAF4EA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NET KARAR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E0883-522F-4CA5-AED6-94DEE25E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2003-8082-4B7E-9880-05C0E270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ÖNERI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391D2-6390-4BB8-BB6C-0C29A7AD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Bugünkü karar: Kuvoz 3.0’ı Vetmarketi içinden, 90 günlük ücretli pilot disipliniyle başlatmak.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4A23E-450A-4E59-AA2B-53A0F30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veya Teknopark kararı satış verisinden sonra verilmeli; ilk iş müşteri tabanını çalıştırmak ve teknik güveni sahada kanıtlamak.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E17B-0772-4C22-B4DD-FF7394D0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591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1D753-D212-4DA7-807F-2E0ED89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7D21C-BBA6-4371-9E5A-8EC9139C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3CA3D-691B-4697-90D1-9C80D88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CRM + ARAMA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FC1BC-AFDB-4D13-A1B2-FC95175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100 kayıt temizliği, ilk 30 müşteri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B6F20-04C2-4BC5-AEEB-A5C4706C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D16B2-AAC4-46F1-8899-72E2C02B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B2377-EA8A-4860-B20C-3E15D3E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ÜCRETLI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D561F-D6DC-4A6D-9D0E-E4520570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upgrade saha kurulumu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27E4A-FF30-41CB-9467-BE9ACC96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29172-62E8-495B-ADAF-106818B5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10-15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99DCC-27A3-4C01-89B2-E78F91B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TEKLIF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FBC7F-33D3-4E91-9EEB-A459D17F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Servis/refresh + upgrade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9EC60-3100-47AF-B30C-D3917673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4307F-6B9E-4B04-AE62-122ACA56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197C1-87EE-4180-8C71-0D911156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KARAR VERISI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403-A96C-4C04-B8D3-DCD06DC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Saha raporu + referans + maliyet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46D30-F0C4-4902-BB16-C712BD33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34EE5-EF03-4DAF-9C48-C5EB6FA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87583-3956-4120-9A11-9E71C857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yapılacak iş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2B4354-EFC0-4270-9CCA-CA7D9BE7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Google Sheets müşteri listesini CRM formatına çevir; A/B/C/D/E segmentlerine ayır; ilk 30 aramayı başlat.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0A4152-9F1A-4505-816A-E3D3CF8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41213-65BA-48B4-9FC4-24C251A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6ABE4F-3FFC-4020-AC13-49F6B4D6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satılacak teklif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3C744A-E0C2-4E02-88F9-26F285E1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Refresh Paketi + Kuvoz 3.0 Upgrade Kit. Ücretsiz pilot yerine indirimli ücretli pilot.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31039-95A2-46FB-938E-AD089CA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4E635-2708-4A14-AB59-DBD2CB30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A88911-1C00-44F4-B718-35411A62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karar kapısı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ACCA95-A34B-4956-A757-38DFE9C3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90 gün sonunda: pilot kuruluyor mu, müşteri ödüyor mu, servis maliyeti yönetilebilir mi?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4221A3-02A4-4230-85D4-59F8344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912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C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0013D-CDEA-4ACF-BE7E-494478E2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15025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Kuvoz 3.0’ın avantajı artık sadece teknoloji değil; Vetmarketi’nin 2016’dan beri oluşan saha güveniyle birleşen teknoloji.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197580-5FA3-4CFB-B957-DE871CC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36107-1A35-4798-B5D3-4427C818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451009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2026-05-10T12:42:55.5480000Z</dcterms:created>
  <dcterms:modified xsi:type="dcterms:W3CDTF">2026-05-10T12:42:55.5480000Z</dcterms:modified>
</coreProperties>
</file>