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TEZ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0" y="347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C6E"/>
                </a:solidFill>
              </a:rPr>
              <a:t>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841248" cy="3200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9611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224"/>
                </a:solidFill>
              </a:rPr>
              <a:t>Kuvoz 3.0 | Vetmarketi üzerinden düşük riskli ticarileşme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2224"/>
                </a:solidFill>
              </a:rPr>
              <a:t>Büyüyen hayvan kuvözü pazarına yeni şirket riskiyle değil, Vetmarketi’nin mevcut güveni ve V1 müşteri tabanıyla girilmeli.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240280"/>
            <a:ext cx="10881360" cy="1115568"/>
          </a:xfrm>
          <a:prstGeom prst="rect">
            <a:avLst/>
          </a:prstGeom>
          <a:solidFill>
            <a:srgbClr val="062D35"/>
          </a:solidFill>
          <a:ln w="12700">
            <a:solidFill>
              <a:srgbClr val="062D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871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İlk 12 ay hedefi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V1 Refresh + 3.0 Upgrade Kit ile gerçek ödeme niyetini kanıtlamak; şirketleşme ve Teknopark kararını saha verisine bırakmak.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18120" y="2404872"/>
            <a:ext cx="1097280" cy="786384"/>
          </a:xfrm>
          <a:prstGeom prst="roundRect">
            <a:avLst>
              <a:gd name="adj" fmla="val 6977"/>
            </a:avLst>
          </a:prstGeom>
          <a:solidFill>
            <a:srgbClr val="EEF4F2"/>
          </a:solidFill>
          <a:ln w="8890">
            <a:solidFill>
              <a:srgbClr val="D5E3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27848" y="2532888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5C6E"/>
                </a:solidFill>
              </a:rPr>
              <a:t>2016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927848" y="288036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D5B5F"/>
                </a:solidFill>
              </a:rPr>
              <a:t>pazar geçmişi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9098280" y="2404872"/>
            <a:ext cx="1325880" cy="786384"/>
          </a:xfrm>
          <a:prstGeom prst="roundRect">
            <a:avLst>
              <a:gd name="adj" fmla="val 6977"/>
            </a:avLst>
          </a:prstGeom>
          <a:solidFill>
            <a:srgbClr val="EEF4F2"/>
          </a:solidFill>
          <a:ln w="8890">
            <a:solidFill>
              <a:srgbClr val="D5E3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08008" y="2532888"/>
            <a:ext cx="110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7D5C"/>
                </a:solidFill>
              </a:rPr>
              <a:t>~100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208008" y="2880360"/>
            <a:ext cx="1106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D5B5F"/>
                </a:solidFill>
              </a:rPr>
              <a:t>V1 müşteri tabanı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10607040" y="2404872"/>
            <a:ext cx="786384" cy="786384"/>
          </a:xfrm>
          <a:prstGeom prst="roundRect">
            <a:avLst>
              <a:gd name="adj" fmla="val 6977"/>
            </a:avLst>
          </a:prstGeom>
          <a:solidFill>
            <a:srgbClr val="EEF4F2"/>
          </a:solidFill>
          <a:ln w="8890">
            <a:solidFill>
              <a:srgbClr val="D5E3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16768" y="253288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8B1F"/>
                </a:solidFill>
              </a:rPr>
              <a:t>90 gün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716768" y="288036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D5B5F"/>
                </a:solidFill>
              </a:rPr>
              <a:t>ücretli pilot ritmi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594360" y="41605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160520"/>
            <a:ext cx="2331720" cy="5486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436168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C6E"/>
                </a:solidFill>
              </a:rPr>
              <a:t>0-90 gün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" y="4709160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CRM + ücretli pilot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3337560" y="41605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4160520"/>
            <a:ext cx="2331720" cy="54864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38728" y="436168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5C"/>
                </a:solidFill>
              </a:rPr>
              <a:t>1.8-3.5M TL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38728" y="4709160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ilk 6 ay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080760" y="41605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4160520"/>
            <a:ext cx="2331720" cy="54864"/>
          </a:xfrm>
          <a:prstGeom prst="rect">
            <a:avLst/>
          </a:prstGeom>
          <a:solidFill>
            <a:srgbClr val="C68B1F"/>
          </a:solidFill>
          <a:ln w="12700">
            <a:solidFill>
              <a:srgbClr val="C68B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81928" y="436168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8B1F"/>
                </a:solidFill>
              </a:rPr>
              <a:t>3.5-6.5M TL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81928" y="4709160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ilk 12 ay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8823960" y="41605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23960" y="4160520"/>
            <a:ext cx="2331720" cy="54864"/>
          </a:xfrm>
          <a:prstGeom prst="rect">
            <a:avLst/>
          </a:prstGeom>
          <a:solidFill>
            <a:srgbClr val="B65347"/>
          </a:solidFill>
          <a:ln w="12700">
            <a:solidFill>
              <a:srgbClr val="B653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25128" y="436168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5347"/>
                </a:solidFill>
              </a:rPr>
              <a:t>12. ay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025128" y="4709160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şirket/Teknopark kararı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PAZAR DINAMIKLERI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0" y="347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C6E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841248" cy="3200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9611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224"/>
                </a:solidFill>
              </a:rPr>
              <a:t>Talep üç ana koldan büyüyor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2224"/>
                </a:solidFill>
              </a:rPr>
              <a:t>Türkiye’de hayvan kuvözü pazarı tek bir klinik ekipmanı değil, üç talep koluyla büyüyen niş bir medikal segment.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46888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468880"/>
            <a:ext cx="3383280" cy="5486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670048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C6E"/>
                </a:solidFill>
              </a:rPr>
              <a:t>Veteriner klinikleri ve hastaneler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" y="3017520"/>
            <a:ext cx="29809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Operasyon sonrası uyanma, hipotermi önleme, oksijen/nem kontrollü hospitalizasyon ve yoğun bakım desteği.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389120" y="246888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468880"/>
            <a:ext cx="3383280" cy="54864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2670048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5C"/>
                </a:solidFill>
              </a:rPr>
              <a:t>Pet breeding / yetiştiricilik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90288" y="3017520"/>
            <a:ext cx="29809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Safkan kedi ve köpek yetiştiricileri yenidoğan kayıplarını azaltmak ve bakım standardını yükseltmek ister.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183880" y="246888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2468880"/>
            <a:ext cx="3291840" cy="54864"/>
          </a:xfrm>
          <a:prstGeom prst="rect">
            <a:avLst/>
          </a:prstGeom>
          <a:solidFill>
            <a:srgbClr val="C68B1F"/>
          </a:solidFill>
          <a:ln w="12700">
            <a:solidFill>
              <a:srgbClr val="C68B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5048" y="2670048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8B1F"/>
                </a:solidFill>
              </a:rPr>
              <a:t>Yaban hayatı ve rehabilitasyon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85048" y="3017520"/>
            <a:ext cx="28895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Belediye, barınak ve rehabilitasyon merkezlerinde yaralı/öksüz hayvan bakımı için gelişmiş kuvöz ihtiyacı artıyor.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94360" y="6089904"/>
            <a:ext cx="6858000" cy="292608"/>
          </a:xfrm>
          <a:prstGeom prst="roundRect">
            <a:avLst>
              <a:gd name="adj" fmla="val 18750"/>
            </a:avLst>
          </a:prstGeom>
          <a:solidFill>
            <a:srgbClr val="EEF6F8"/>
          </a:solidFill>
          <a:ln w="8890">
            <a:solidFill>
              <a:srgbClr val="0F5C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6172200"/>
            <a:ext cx="6492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5C6E"/>
                </a:solidFill>
              </a:rPr>
              <a:t>GTM yorumu: klinik satış kanalı ana motor; yetiştirici ve rehabilitasyon segmentleri ayrı paketlerle açılmalı.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SEKTÖR BEKLENTILERI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0" y="347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C6E"/>
                </a:solidFill>
              </a:rPr>
              <a:t>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841248" cy="3200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9611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224"/>
                </a:solidFill>
              </a:rPr>
              <a:t>Basit sıcak kabinden akıllı bakım ünitesine geçiş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2224"/>
                </a:solidFill>
              </a:rPr>
              <a:t>Beklenti artık yalnızca sıcaklık değil; oksijen, nebülizasyon, enerji güvenliği, hijyen ve uzaktan takip birlikte isteniyor.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331720"/>
            <a:ext cx="3246120" cy="5486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532888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C6E"/>
                </a:solidFill>
              </a:rPr>
              <a:t>Oksijen + nebülizasyon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" y="2880360"/>
            <a:ext cx="2843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Solunum sıkıntısı olan hastalarda hassas oksijen takibi ve ilaç uygulama iş akışı.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297680" y="23317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2331720"/>
            <a:ext cx="3246120" cy="54864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2532888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5C"/>
                </a:solidFill>
              </a:rPr>
              <a:t>Enerji + UPS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98848" y="2880360"/>
            <a:ext cx="2843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Düşük tüketim, kesinti güvenliği ve güvenli yeniden başlama.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001000" y="23317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2331720"/>
            <a:ext cx="3246120" cy="54864"/>
          </a:xfrm>
          <a:prstGeom prst="rect">
            <a:avLst/>
          </a:prstGeom>
          <a:solidFill>
            <a:srgbClr val="C68B1F"/>
          </a:solidFill>
          <a:ln w="12700">
            <a:solidFill>
              <a:srgbClr val="C68B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02168" y="2532888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8B1F"/>
                </a:solidFill>
              </a:rPr>
              <a:t>Hijyen + sterilizasyon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02168" y="2880360"/>
            <a:ext cx="2843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Kolay dezenfeksiyon, köşesiz iç tasarım ve güvenli UV/ozon kilitleri.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94360" y="374904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749040"/>
            <a:ext cx="3246120" cy="54864"/>
          </a:xfrm>
          <a:prstGeom prst="rect">
            <a:avLst/>
          </a:prstGeom>
          <a:solidFill>
            <a:srgbClr val="315C9B"/>
          </a:solidFill>
          <a:ln w="12700">
            <a:solidFill>
              <a:srgbClr val="315C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3950208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5C9B"/>
                </a:solidFill>
              </a:rPr>
              <a:t>Yerli servis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" y="4297680"/>
            <a:ext cx="2843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İthal ürünlerdeki yedek parça ve servis maliyetini azaltan yerli destek.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297680" y="374904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3749040"/>
            <a:ext cx="3246120" cy="54864"/>
          </a:xfrm>
          <a:prstGeom prst="rect">
            <a:avLst/>
          </a:prstGeom>
          <a:solidFill>
            <a:srgbClr val="B65347"/>
          </a:solidFill>
          <a:ln w="12700">
            <a:solidFill>
              <a:srgbClr val="B653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8848" y="3950208"/>
            <a:ext cx="2843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5347"/>
                </a:solidFill>
              </a:rPr>
              <a:t>Akıllı takip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98848" y="4297680"/>
            <a:ext cx="28437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Kayıt, trend, alarm ve uzaktan erişim ile bakım kalitesini görünür kılma.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594360" y="6089904"/>
            <a:ext cx="6858000" cy="292608"/>
          </a:xfrm>
          <a:prstGeom prst="roundRect">
            <a:avLst>
              <a:gd name="adj" fmla="val 18750"/>
            </a:avLst>
          </a:prstGeom>
          <a:solidFill>
            <a:srgbClr val="EEF6F8"/>
          </a:solidFill>
          <a:ln w="8890">
            <a:solidFill>
              <a:srgbClr val="0F5C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6172200"/>
            <a:ext cx="6492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5C6E"/>
                </a:solidFill>
              </a:rPr>
              <a:t>Ku­voz 3.0 yorumu: yazılım, alarm, servis ve kayıt katmanı ürünün ana ayrıştırıcı gücü olmalı.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STRATEJI DEĞIŞIMI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0" y="347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C6E"/>
                </a:solidFill>
              </a:rPr>
              <a:t>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841248" cy="3200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9611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224"/>
                </a:solidFill>
              </a:rPr>
              <a:t>Risk yeni şirketle değil, mevcut kanalla azaltılmalı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2224"/>
                </a:solidFill>
              </a:rPr>
              <a:t>Vetmarketi ticari olarak var olduğu için ilk hedef yatırım turu değil, eski müşteri tabanında ücretli doğrulama olmalı.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4937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423160"/>
            <a:ext cx="4937760" cy="54864"/>
          </a:xfrm>
          <a:prstGeom prst="rect">
            <a:avLst/>
          </a:prstGeom>
          <a:solidFill>
            <a:srgbClr val="B65347"/>
          </a:solidFill>
          <a:ln w="12700">
            <a:solidFill>
              <a:srgbClr val="B653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624328"/>
            <a:ext cx="4535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5347"/>
                </a:solidFill>
              </a:rPr>
              <a:t>Önceki yaklaşım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2971800"/>
            <a:ext cx="453542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Yeni Kuvoz Teknoloji A.Ş. + Teknopark + yatırım arayışı. Temiz yapı sağlar ama müşteri, operasyon ve nakit riskini erken doğurur.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400800" y="2423160"/>
            <a:ext cx="49377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423160"/>
            <a:ext cx="4937760" cy="5486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2624328"/>
            <a:ext cx="4535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C6E"/>
                </a:solidFill>
              </a:rPr>
              <a:t>Revize yaklaşım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01968" y="2971800"/>
            <a:ext cx="453542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Vetmarketi içinden ürün hattı + V1 müşteri tabanı + ücretli pilot. İlk 90 gün düşük maliyetli kanıtlama ritmi kurar.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77240" y="4754880"/>
            <a:ext cx="64008" cy="685800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" y="4782312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5C6E"/>
                </a:solidFill>
              </a:rPr>
              <a:t>Şirket daha sonra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923544" y="5010912"/>
            <a:ext cx="2907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62224"/>
                </a:solidFill>
              </a:rPr>
              <a:t>Satış verisi, SaaS ihtiyacı veya yatırım gereği netleşince ayrı yapı kurulabilir.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434840" y="4754880"/>
            <a:ext cx="64008" cy="68580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81144" y="4782312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F7D5C"/>
                </a:solidFill>
              </a:rPr>
              <a:t>Müşteri önce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4581144" y="5010912"/>
            <a:ext cx="2907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62224"/>
                </a:solidFill>
              </a:rPr>
              <a:t>Müşteri ödeme niyeti ve servis yükü ölçülmeden yapı ağırlaştırılmamalı.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092440" y="4754880"/>
            <a:ext cx="64008" cy="685800"/>
          </a:xfrm>
          <a:prstGeom prst="rect">
            <a:avLst/>
          </a:prstGeom>
          <a:solidFill>
            <a:srgbClr val="C68B1F"/>
          </a:solidFill>
          <a:ln w="12700">
            <a:solidFill>
              <a:srgbClr val="C68B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38744" y="4782312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68B1F"/>
                </a:solidFill>
              </a:rPr>
              <a:t>Stok az olsun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8238744" y="5010912"/>
            <a:ext cx="2907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62224"/>
                </a:solidFill>
              </a:rPr>
              <a:t>Büyük stok yerine upgrade ön ödemesi ve pilot üretim tercih edilmeli.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MEVCUT MÜŞTERI TABANI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0" y="347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C6E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841248" cy="3200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9611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224"/>
                </a:solidFill>
              </a:rPr>
              <a:t>Yaklaşık 100 V1 müşterisi ilk satış hunisidir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2224"/>
                </a:solidFill>
              </a:rPr>
              <a:t>Liste repo içine kopyalanmamalı; CRM’de segment, memnuniyet, servis ihtiyacı ve upgrade potansiyeline göre yönetilmelidir.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62224"/>
                </a:solidFill>
              </a:rPr>
              <a:t>Ulaşılabilen müşteri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246120" y="2487168"/>
            <a:ext cx="3291840" cy="14630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4597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5B5F"/>
                </a:solidFill>
              </a:rPr>
              <a:t>60-70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29992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62224"/>
                </a:solidFill>
              </a:rPr>
              <a:t>Memnuniyet + görüşme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246120" y="2999232"/>
            <a:ext cx="2468880" cy="146304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9718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5B5F"/>
                </a:solidFill>
              </a:rPr>
              <a:t>40-50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35112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62224"/>
                </a:solidFill>
              </a:rPr>
              <a:t>Demo talebi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246120" y="3511296"/>
            <a:ext cx="1737360" cy="146304"/>
          </a:xfrm>
          <a:prstGeom prst="rect">
            <a:avLst/>
          </a:prstGeom>
          <a:solidFill>
            <a:srgbClr val="C68B1F"/>
          </a:solidFill>
          <a:ln w="12700">
            <a:solidFill>
              <a:srgbClr val="C68B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34838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5B5F"/>
                </a:solidFill>
              </a:rPr>
              <a:t>20-30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4400" y="40233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62224"/>
                </a:solidFill>
              </a:rPr>
              <a:t>Pilot uygunluk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3246120" y="4023360"/>
            <a:ext cx="1097280" cy="146304"/>
          </a:xfrm>
          <a:prstGeom prst="rect">
            <a:avLst/>
          </a:prstGeom>
          <a:solidFill>
            <a:srgbClr val="B65347"/>
          </a:solidFill>
          <a:ln w="12700">
            <a:solidFill>
              <a:srgbClr val="B653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39959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5B5F"/>
                </a:solidFill>
              </a:rPr>
              <a:t>10-15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589520" y="214884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2148840"/>
            <a:ext cx="3291840" cy="54864"/>
          </a:xfrm>
          <a:prstGeom prst="rect">
            <a:avLst/>
          </a:prstGeom>
          <a:solidFill>
            <a:srgbClr val="062D35"/>
          </a:solidFill>
          <a:ln w="12700">
            <a:solidFill>
              <a:srgbClr val="062D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90688" y="2350008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2D35"/>
                </a:solidFill>
              </a:rPr>
              <a:t>Segmentasyon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90688" y="2697480"/>
            <a:ext cx="288950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A: Aktif/memnun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B: Aktif ama sorun yaşayan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C: Pasif ama ulaşılabilir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D: Referans olabilecek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E: Negatif deneyimli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94360" y="6089904"/>
            <a:ext cx="6858000" cy="292608"/>
          </a:xfrm>
          <a:prstGeom prst="roundRect">
            <a:avLst>
              <a:gd name="adj" fmla="val 18750"/>
            </a:avLst>
          </a:prstGeom>
          <a:solidFill>
            <a:srgbClr val="EEF6F8"/>
          </a:solidFill>
          <a:ln w="8890">
            <a:solidFill>
              <a:srgbClr val="0F5C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6172200"/>
            <a:ext cx="6492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5C6E"/>
                </a:solidFill>
              </a:rPr>
              <a:t>KVKK notu: müşteri isimleri ve iletişim detayları sunum/reposu yerine güvenli CRM’de tutulmalı.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ÜRÜN MERDIVENI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0" y="347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C6E"/>
                </a:solidFill>
              </a:rPr>
              <a:t>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841248" cy="3200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9611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224"/>
                </a:solidFill>
              </a:rPr>
              <a:t>Tam cihazdan önce V1 Refresh ve Upgrade Kit satılmalı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2224"/>
                </a:solidFill>
              </a:rPr>
              <a:t>Bu merdiven eski müşteriyi yeniden aktive eder ve Kuvoz 3.0 için ödeme niyetini düşük maliyetle ölçer.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58368" y="2642616"/>
            <a:ext cx="2044598" cy="0"/>
          </a:xfrm>
          <a:prstGeom prst="line">
            <a:avLst/>
          </a:prstGeom>
          <a:noFill/>
          <a:ln w="15240">
            <a:solidFill>
              <a:srgbClr val="0F5C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4231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5C6E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74320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62224"/>
                </a:solidFill>
              </a:rPr>
              <a:t>V1 Refresh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658368" y="3026664"/>
            <a:ext cx="20445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D5B5F"/>
                </a:solidFill>
              </a:rPr>
              <a:t>Servis, bakım, sensör kontrolü, upgrade uygunluk raporu.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867558" y="2642616"/>
            <a:ext cx="2044598" cy="0"/>
          </a:xfrm>
          <a:prstGeom prst="line">
            <a:avLst/>
          </a:prstGeom>
          <a:noFill/>
          <a:ln w="15240">
            <a:solidFill>
              <a:srgbClr val="2F7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67558" y="24231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5C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67558" y="274320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62224"/>
                </a:solidFill>
              </a:rPr>
              <a:t>3.0 Upgrade Kit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2867558" y="3026664"/>
            <a:ext cx="20445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D5B5F"/>
                </a:solidFill>
              </a:rPr>
              <a:t>Raspberry Pi, arayüz, sensör paketi ve güvenlik kilitleri.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5076749" y="2642616"/>
            <a:ext cx="2044598" cy="0"/>
          </a:xfrm>
          <a:prstGeom prst="line">
            <a:avLst/>
          </a:prstGeom>
          <a:noFill/>
          <a:ln w="15240">
            <a:solidFill>
              <a:srgbClr val="315C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6749" y="24231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5C9B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6749" y="274320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62224"/>
                </a:solidFill>
              </a:rPr>
              <a:t>Smart Retrofit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5076749" y="3026664"/>
            <a:ext cx="20445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D5B5F"/>
                </a:solidFill>
              </a:rPr>
              <a:t>Kamera, alarm geçmişi, uzaktan izleme hazırlığı.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7285939" y="2642616"/>
            <a:ext cx="2044598" cy="0"/>
          </a:xfrm>
          <a:prstGeom prst="line">
            <a:avLst/>
          </a:prstGeom>
          <a:noFill/>
          <a:ln w="15240">
            <a:solidFill>
              <a:srgbClr val="C68B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85939" y="24231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8B1F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85939" y="274320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62224"/>
                </a:solidFill>
              </a:rPr>
              <a:t>Smart ICU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7285939" y="3026664"/>
            <a:ext cx="20445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D5B5F"/>
                </a:solidFill>
              </a:rPr>
              <a:t>Yeni kabin, standardize iç hacim ve güvenli sterilizasyon.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9495130" y="2642616"/>
            <a:ext cx="2044598" cy="0"/>
          </a:xfrm>
          <a:prstGeom prst="line">
            <a:avLst/>
          </a:prstGeom>
          <a:noFill/>
          <a:ln w="15240">
            <a:solidFill>
              <a:srgbClr val="B653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95130" y="24231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65347"/>
                </a:solidFill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495130" y="274320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62224"/>
                </a:solidFill>
              </a:rPr>
              <a:t>Cloud Panel</a:t>
            </a: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9495130" y="3026664"/>
            <a:ext cx="20445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D5B5F"/>
                </a:solidFill>
              </a:rPr>
              <a:t>Klinik ve servis paneli, bakım raporu ve abonelik.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731520" y="493776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937760"/>
            <a:ext cx="3291840" cy="5486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5138928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C6E"/>
                </a:solidFill>
              </a:rPr>
              <a:t>Neden bu sıra?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2688" y="5486400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Tam cihaz stok riski doğmadan önce eski müşteri tabanından ödeme sinyali alınır.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4434840" y="493776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34840" y="4937760"/>
            <a:ext cx="3291840" cy="54864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36008" y="5138928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5C"/>
                </a:solidFill>
              </a:rPr>
              <a:t>Satış vaadi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36008" y="5486400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Mevcut cihazınızı akıllı takip ve kayıt sistemine yükseltin.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8138160" y="493776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38160" y="4937760"/>
            <a:ext cx="3291840" cy="54864"/>
          </a:xfrm>
          <a:prstGeom prst="rect">
            <a:avLst/>
          </a:prstGeom>
          <a:solidFill>
            <a:srgbClr val="C68B1F"/>
          </a:solidFill>
          <a:ln w="12700">
            <a:solidFill>
              <a:srgbClr val="C68B1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39328" y="5138928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8B1F"/>
                </a:solidFill>
              </a:rPr>
              <a:t>Karar kapısı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39328" y="5486400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10-15 ücretli pilot ve ölçülen servis yükü sonrası tam cihaz üretimine geçilir.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NAKIT RISKI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0" y="347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C6E"/>
                </a:solidFill>
              </a:rPr>
              <a:t>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841248" cy="3200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9611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224"/>
                </a:solidFill>
              </a:rPr>
              <a:t>Vetmarketi modeli ilk 90 gün maliyetini düşürür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2224"/>
                </a:solidFill>
              </a:rPr>
              <a:t>Yeni şirket ve büyük stok yerine prototip, CRM, ücretli pilot, servis/refresh geliri ve ön ödeme ile ilerlenmelidir.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377440"/>
            <a:ext cx="3931920" cy="5486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578608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C6E"/>
                </a:solidFill>
              </a:rPr>
              <a:t>Prototip parçaları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2926080"/>
            <a:ext cx="3529584" cy="-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250-500K TL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31520" y="3163824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163824"/>
            <a:ext cx="3931920" cy="54864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364992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5C"/>
                </a:solidFill>
              </a:rPr>
              <a:t>Yazılım ve arayüz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3712464"/>
            <a:ext cx="3529584" cy="-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250-500K TL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31520" y="3950208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950208"/>
            <a:ext cx="3931920" cy="54864"/>
          </a:xfrm>
          <a:prstGeom prst="rect">
            <a:avLst/>
          </a:prstGeom>
          <a:solidFill>
            <a:srgbClr val="C68B1F"/>
          </a:solidFill>
          <a:ln w="12700">
            <a:solidFill>
              <a:srgbClr val="C68B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151376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8B1F"/>
                </a:solidFill>
              </a:rPr>
              <a:t>Saha servis/kurulum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4498848"/>
            <a:ext cx="3529584" cy="-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150-300K TL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731520" y="4736592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736592"/>
            <a:ext cx="3931920" cy="54864"/>
          </a:xfrm>
          <a:prstGeom prst="rect">
            <a:avLst/>
          </a:prstGeom>
          <a:solidFill>
            <a:srgbClr val="B65347"/>
          </a:solidFill>
          <a:ln w="12700">
            <a:solidFill>
              <a:srgbClr val="B653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93776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5347"/>
                </a:solidFill>
              </a:rPr>
              <a:t>Video, doküman, satış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5285232"/>
            <a:ext cx="3529584" cy="-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100-200K TL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669280" y="2514600"/>
            <a:ext cx="2194560" cy="786384"/>
          </a:xfrm>
          <a:prstGeom prst="roundRect">
            <a:avLst>
              <a:gd name="adj" fmla="val 6977"/>
            </a:avLst>
          </a:prstGeom>
          <a:solidFill>
            <a:srgbClr val="EEF4F2"/>
          </a:solidFill>
          <a:ln w="8890">
            <a:solidFill>
              <a:srgbClr val="D5E3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79008" y="2642616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5C6E"/>
                </a:solidFill>
              </a:rPr>
              <a:t>750K-1.5M TL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779008" y="299008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D5B5F"/>
                </a:solidFill>
              </a:rPr>
              <a:t>ilk 90 gün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8183880" y="2514600"/>
            <a:ext cx="1828800" cy="786384"/>
          </a:xfrm>
          <a:prstGeom prst="roundRect">
            <a:avLst>
              <a:gd name="adj" fmla="val 6977"/>
            </a:avLst>
          </a:prstGeom>
          <a:solidFill>
            <a:srgbClr val="EEF4F2"/>
          </a:solidFill>
          <a:ln w="8890">
            <a:solidFill>
              <a:srgbClr val="D5E3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64261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7D5C"/>
                </a:solidFill>
              </a:rPr>
              <a:t>1.8-3.5M TL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93608" y="2990088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D5B5F"/>
                </a:solidFill>
              </a:rPr>
              <a:t>ilk 6 ay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5669280" y="3657600"/>
            <a:ext cx="2194560" cy="786384"/>
          </a:xfrm>
          <a:prstGeom prst="roundRect">
            <a:avLst>
              <a:gd name="adj" fmla="val 6977"/>
            </a:avLst>
          </a:prstGeom>
          <a:solidFill>
            <a:srgbClr val="EEF4F2"/>
          </a:solidFill>
          <a:ln w="8890">
            <a:solidFill>
              <a:srgbClr val="D5E3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79008" y="3785616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8B1F"/>
                </a:solidFill>
              </a:rPr>
              <a:t>3.5-6.5M TL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779008" y="413308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D5B5F"/>
                </a:solidFill>
              </a:rPr>
              <a:t>ilk 12 ay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8183880" y="3657600"/>
            <a:ext cx="1828800" cy="786384"/>
          </a:xfrm>
          <a:prstGeom prst="roundRect">
            <a:avLst>
              <a:gd name="adj" fmla="val 6977"/>
            </a:avLst>
          </a:prstGeom>
          <a:solidFill>
            <a:srgbClr val="EEF4F2"/>
          </a:solidFill>
          <a:ln w="8890">
            <a:solidFill>
              <a:srgbClr val="D5E3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93608" y="378561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65347"/>
                </a:solidFill>
              </a:rPr>
              <a:t>8-15M TL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293608" y="4133088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D5B5F"/>
                </a:solidFill>
              </a:rPr>
              <a:t>büyüme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594360" y="6089904"/>
            <a:ext cx="6858000" cy="292608"/>
          </a:xfrm>
          <a:prstGeom prst="roundRect">
            <a:avLst>
              <a:gd name="adj" fmla="val 18750"/>
            </a:avLst>
          </a:prstGeom>
          <a:solidFill>
            <a:srgbClr val="EEF6F8"/>
          </a:solidFill>
          <a:ln w="8890">
            <a:solidFill>
              <a:srgbClr val="0F5C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6172200"/>
            <a:ext cx="6492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5C6E"/>
                </a:solidFill>
              </a:rPr>
              <a:t>Önce müşteri doğrulaması; sonra stok, yatırım ve ayrı şirket kararı.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0-12 AY PLANI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0" y="347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C6E"/>
                </a:solidFill>
              </a:rPr>
              <a:t>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841248" cy="3200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9611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224"/>
                </a:solidFill>
              </a:rPr>
              <a:t>İlk yılın amacı büyük lansman değil, düşük riskli doğrulama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2224"/>
                </a:solidFill>
              </a:rPr>
              <a:t>Her fazda ödeme, saha stabilitesi ve servis yükü ölçülmeli; Teknopark veya ayrı şirket kararı 12. ayda verilmelidir.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58368" y="2596896"/>
            <a:ext cx="2596896" cy="0"/>
          </a:xfrm>
          <a:prstGeom prst="line">
            <a:avLst/>
          </a:prstGeom>
          <a:noFill/>
          <a:ln w="15240">
            <a:solidFill>
              <a:srgbClr val="0F5C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37744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5C6E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69748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62224"/>
                </a:solidFill>
              </a:rPr>
              <a:t>0-30 gün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658368" y="2980944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D5B5F"/>
                </a:solidFill>
              </a:rPr>
              <a:t>CRM temizliği, ilk 30 müşteri araması, 10 pilot adayı.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419856" y="2596896"/>
            <a:ext cx="2596896" cy="0"/>
          </a:xfrm>
          <a:prstGeom prst="line">
            <a:avLst/>
          </a:prstGeom>
          <a:noFill/>
          <a:ln w="15240">
            <a:solidFill>
              <a:srgbClr val="2F7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237744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5C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19856" y="269748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62224"/>
                </a:solidFill>
              </a:rPr>
              <a:t>1-3 ay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3419856" y="2980944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D5B5F"/>
                </a:solidFill>
              </a:rPr>
              <a:t>3 ücretli pilot, V1 refresh teklifleri, kurulum checklist’i.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181344" y="2596896"/>
            <a:ext cx="2596896" cy="0"/>
          </a:xfrm>
          <a:prstGeom prst="line">
            <a:avLst/>
          </a:prstGeom>
          <a:noFill/>
          <a:ln w="15240">
            <a:solidFill>
              <a:srgbClr val="315C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237744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5C9B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81344" y="269748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62224"/>
                </a:solidFill>
              </a:rPr>
              <a:t>3-6 ay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6181344" y="2980944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D5B5F"/>
                </a:solidFill>
              </a:rPr>
              <a:t>10-15 pilot, referans video, servis dokümanı.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8942832" y="2596896"/>
            <a:ext cx="2596896" cy="0"/>
          </a:xfrm>
          <a:prstGeom prst="line">
            <a:avLst/>
          </a:prstGeom>
          <a:noFill/>
          <a:ln w="15240">
            <a:solidFill>
              <a:srgbClr val="C68B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42832" y="237744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8B1F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42832" y="269748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62224"/>
                </a:solidFill>
              </a:rPr>
              <a:t>6-12 ay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8942832" y="2980944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D5B5F"/>
                </a:solidFill>
              </a:rPr>
              <a:t>Upgrade kit satış paketi, Cloud beta, karar kapısı.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731520" y="4709160"/>
            <a:ext cx="10789920" cy="804672"/>
          </a:xfrm>
          <a:prstGeom prst="rect">
            <a:avLst/>
          </a:prstGeom>
          <a:solidFill>
            <a:srgbClr val="062D35"/>
          </a:solidFill>
          <a:ln w="12700">
            <a:solidFill>
              <a:srgbClr val="062D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96519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12. ay karar kapısı: satış, saha stabilitesi ve marka riski yeterince iyi değilse yeni şirket/Teknopark yapısı ertelenir.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ÜRÜN MIMARISI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0" y="347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C6E"/>
                </a:solidFill>
              </a:rPr>
              <a:t>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841248" cy="3200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9611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224"/>
                </a:solidFill>
              </a:rPr>
              <a:t>Upgrade Kit ekran değişimi değil, güvenlik ve kayıt katmanıdır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2224"/>
                </a:solidFill>
              </a:rPr>
              <a:t>Mimari hem V1 cihazları yükseltmeli hem de ileride Smart ICU ve klinik paneline taşınmalıdır.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331720"/>
            <a:ext cx="3291840" cy="5486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532888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C6E"/>
                </a:solidFill>
              </a:rPr>
              <a:t>Cihaz katmanı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2880360"/>
            <a:ext cx="28895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Isı, nem, O2/CO2, kamera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Raspberry Pi + röle kontrolü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Lokal kiosk ekran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434840" y="23317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2331720"/>
            <a:ext cx="3291840" cy="54864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2532888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5C"/>
                </a:solidFill>
              </a:rPr>
              <a:t>Güvenlik katmanı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36008" y="2880360"/>
            <a:ext cx="28895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Hasta içerideyken UV/ozon kilidi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Alarm geçmişi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Güvenli yeniden başlama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138160" y="23317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2331720"/>
            <a:ext cx="3291840" cy="54864"/>
          </a:xfrm>
          <a:prstGeom prst="rect">
            <a:avLst/>
          </a:prstGeom>
          <a:solidFill>
            <a:srgbClr val="C68B1F"/>
          </a:solidFill>
          <a:ln w="12700">
            <a:solidFill>
              <a:srgbClr val="C68B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9328" y="2532888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8B1F"/>
                </a:solidFill>
              </a:rPr>
              <a:t>Operasyon katmanı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39328" y="2880360"/>
            <a:ext cx="28895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Kayıt ve grafik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Bakım raporu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Uzaktan servis ve Cloud hazırlığı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94360" y="6089904"/>
            <a:ext cx="6858000" cy="292608"/>
          </a:xfrm>
          <a:prstGeom prst="roundRect">
            <a:avLst>
              <a:gd name="adj" fmla="val 18750"/>
            </a:avLst>
          </a:prstGeom>
          <a:solidFill>
            <a:srgbClr val="EEF6F8"/>
          </a:solidFill>
          <a:ln w="8890">
            <a:solidFill>
              <a:srgbClr val="0F5C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6172200"/>
            <a:ext cx="6492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5C6E"/>
                </a:solidFill>
              </a:rPr>
              <a:t>Konumlandırma: karar yerine geçen sistem değil, hekimin farkındalığını artıran bakım asistanı.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DESTEK VE TEKNOPARK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0" y="347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C6E"/>
                </a:solidFill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841248" cy="3200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9611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224"/>
                </a:solidFill>
              </a:rPr>
              <a:t>İlk finansman yatırımcı değil, müşteri doğrulaması olmalı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2224"/>
                </a:solidFill>
              </a:rPr>
              <a:t>Kamu destekleri ve Teknopark hızlandırıcıdır; ilk 6 ayda ticari gerçeklik ölçülmeden yapıyı ağırlaştırmamak gerekir.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423160"/>
            <a:ext cx="2331720" cy="5486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62432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C6E"/>
                </a:solidFill>
              </a:rPr>
              <a:t>Vetmarketi nakdi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2971800"/>
            <a:ext cx="1929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Mevcut operasyon ve satış altyapısı.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3474720" y="2423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2423160"/>
            <a:ext cx="2331720" cy="54864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262432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5C"/>
                </a:solidFill>
              </a:rPr>
              <a:t>Servis/refresh geliri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75888" y="2971800"/>
            <a:ext cx="1929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Eski müşteriden hızlı gelir ve temas.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217920" y="2423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423160"/>
            <a:ext cx="2331720" cy="54864"/>
          </a:xfrm>
          <a:prstGeom prst="rect">
            <a:avLst/>
          </a:prstGeom>
          <a:solidFill>
            <a:srgbClr val="C68B1F"/>
          </a:solidFill>
          <a:ln w="12700">
            <a:solidFill>
              <a:srgbClr val="C68B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262432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8B1F"/>
                </a:solidFill>
              </a:rPr>
              <a:t>Upgrade ön ödemesi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19088" y="2971800"/>
            <a:ext cx="1929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Pilotları ciddileştirir, stok riskini azaltır.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8961120" y="24231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2423160"/>
            <a:ext cx="2331720" cy="54864"/>
          </a:xfrm>
          <a:prstGeom prst="rect">
            <a:avLst/>
          </a:prstGeom>
          <a:solidFill>
            <a:srgbClr val="315C9B"/>
          </a:solidFill>
          <a:ln w="12700">
            <a:solidFill>
              <a:srgbClr val="315C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62288" y="262432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5C9B"/>
                </a:solidFill>
              </a:rPr>
              <a:t>Kamu destekleri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62288" y="2971800"/>
            <a:ext cx="1929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TÜBİTAK 1707/1507 ve KOSGEB araçları.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777240" y="4709160"/>
            <a:ext cx="64008" cy="685800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" y="473659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5C6E"/>
                </a:solidFill>
              </a:rPr>
              <a:t>TÜBİTAK 1707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923544" y="4965192"/>
            <a:ext cx="3090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62224"/>
                </a:solidFill>
              </a:rPr>
              <a:t>KOBİ ve müşteri doğrulaması mantığı Vetmarketi modeliyle daha uyumlu.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4434840" y="4709160"/>
            <a:ext cx="64008" cy="68580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81144" y="473659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F7D5C"/>
                </a:solidFill>
              </a:rPr>
              <a:t>Teknopark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4581144" y="4965192"/>
            <a:ext cx="3090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62224"/>
                </a:solidFill>
              </a:rPr>
              <a:t>Ar-Ge personeli ve vergi avantajı sağlar; operasyon oturmadan acele edilmemeli.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8092440" y="4709160"/>
            <a:ext cx="64008" cy="685800"/>
          </a:xfrm>
          <a:prstGeom prst="rect">
            <a:avLst/>
          </a:prstGeom>
          <a:solidFill>
            <a:srgbClr val="C68B1F"/>
          </a:solidFill>
          <a:ln w="12700">
            <a:solidFill>
              <a:srgbClr val="C68B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38744" y="473659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68B1F"/>
                </a:solidFill>
              </a:rPr>
              <a:t>Yatırımcı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8238744" y="4965192"/>
            <a:ext cx="3090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62224"/>
                </a:solidFill>
              </a:rPr>
              <a:t>Satış verisi, SaaS ihtiyacı ve üretim ölçeği netleşince gündeme alınmalı.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YÖNETIMI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0" y="347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C6E"/>
                </a:solidFill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841248" cy="3200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9611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224"/>
                </a:solidFill>
              </a:rPr>
              <a:t>Vetmarketi markası avantajdır; teknik hata marka riskidir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2224"/>
                </a:solidFill>
              </a:rPr>
              <a:t>İlk lansman geniş kampanya değil, sınırlı ücretli pilot ve net güvenlik/servis dokümanı ile yapılmalıdır.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" cy="685800"/>
          </a:xfrm>
          <a:prstGeom prst="rect">
            <a:avLst/>
          </a:prstGeom>
          <a:solidFill>
            <a:srgbClr val="B65347"/>
          </a:solidFill>
          <a:ln w="12700">
            <a:solidFill>
              <a:srgbClr val="B653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267712"/>
            <a:ext cx="9674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65347"/>
                </a:solidFill>
              </a:rPr>
              <a:t>Eski V1 müşterisinde negatif deneyim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969264" y="2496312"/>
            <a:ext cx="96743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62224"/>
                </a:solidFill>
              </a:rPr>
              <a:t>Önce dinleme + servis/refresh; direkt satış baskısı yok.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822960" y="2898648"/>
            <a:ext cx="64008" cy="685800"/>
          </a:xfrm>
          <a:prstGeom prst="rect">
            <a:avLst/>
          </a:prstGeom>
          <a:solidFill>
            <a:srgbClr val="C68B1F"/>
          </a:solidFill>
          <a:ln w="12700">
            <a:solidFill>
              <a:srgbClr val="C68B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2926080"/>
            <a:ext cx="9674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68B1F"/>
                </a:solidFill>
              </a:rPr>
              <a:t>Ücretsiz pilotların ciddiye alınmaması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969264" y="3154680"/>
            <a:ext cx="96743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62224"/>
                </a:solidFill>
              </a:rPr>
              <a:t>Pilot ücretli olmalı; rapor ve referans üretmeli.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22960" y="3557016"/>
            <a:ext cx="64008" cy="685800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3584448"/>
            <a:ext cx="9674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5C6E"/>
                </a:solidFill>
              </a:rPr>
              <a:t>Stok ve nakit riski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969264" y="3813048"/>
            <a:ext cx="96743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62224"/>
                </a:solidFill>
              </a:rPr>
              <a:t>Ön ödeme ve sınırlı üretim disiplini.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822960" y="4215384"/>
            <a:ext cx="64008" cy="685800"/>
          </a:xfrm>
          <a:prstGeom prst="rect">
            <a:avLst/>
          </a:prstGeom>
          <a:solidFill>
            <a:srgbClr val="315C9B"/>
          </a:solidFill>
          <a:ln w="12700">
            <a:solidFill>
              <a:srgbClr val="315C9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4242816"/>
            <a:ext cx="9674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315C9B"/>
                </a:solidFill>
              </a:rPr>
              <a:t>AI kaynaklı beklenti riski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969264" y="4471416"/>
            <a:ext cx="96743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62224"/>
                </a:solidFill>
              </a:rPr>
              <a:t>Teşhis değil erken uyarı/farkındalık mesajı.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822960" y="4873752"/>
            <a:ext cx="64008" cy="68580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901184"/>
            <a:ext cx="9674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F7D5C"/>
                </a:solidFill>
              </a:rPr>
              <a:t>KVKK ve müşteri verisi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969264" y="5129784"/>
            <a:ext cx="96743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62224"/>
                </a:solidFill>
              </a:rPr>
              <a:t>CRM dışına kişisel veri taşınmamalı.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KARAR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0" y="347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C6E"/>
                </a:solidFill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841248" cy="3200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9611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224"/>
                </a:solidFill>
              </a:rPr>
              <a:t>Vetmarketi içinden, bağımsız cihaz + opsiyonel Cloud ile başla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2224"/>
                </a:solidFill>
              </a:rPr>
              <a:t>Yeni şirket veya Teknopark kararı satış verisinden sonra verilmeli; ilk iş müşteri tabanını çalıştırmak ve teknik güveni sahada kanıtlamak.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2514600"/>
            <a:ext cx="1554480" cy="786384"/>
          </a:xfrm>
          <a:prstGeom prst="roundRect">
            <a:avLst>
              <a:gd name="adj" fmla="val 6977"/>
            </a:avLst>
          </a:prstGeom>
          <a:solidFill>
            <a:srgbClr val="EEF4F2"/>
          </a:solidFill>
          <a:ln w="8890">
            <a:solidFill>
              <a:srgbClr val="D5E3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64261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5C6E"/>
                </a:solidFill>
              </a:rPr>
              <a:t>30 gün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86968" y="299008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D5B5F"/>
                </a:solidFill>
              </a:rPr>
              <a:t>CRM + arama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834640" y="2514600"/>
            <a:ext cx="1554480" cy="786384"/>
          </a:xfrm>
          <a:prstGeom prst="roundRect">
            <a:avLst>
              <a:gd name="adj" fmla="val 6977"/>
            </a:avLst>
          </a:prstGeom>
          <a:solidFill>
            <a:srgbClr val="EEF4F2"/>
          </a:solidFill>
          <a:ln w="8890">
            <a:solidFill>
              <a:srgbClr val="D5E3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4368" y="264261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7D5C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44368" y="299008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D5B5F"/>
                </a:solidFill>
              </a:rPr>
              <a:t>ücretli pilot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4892040" y="2514600"/>
            <a:ext cx="1554480" cy="786384"/>
          </a:xfrm>
          <a:prstGeom prst="roundRect">
            <a:avLst>
              <a:gd name="adj" fmla="val 6977"/>
            </a:avLst>
          </a:prstGeom>
          <a:solidFill>
            <a:srgbClr val="EEF4F2"/>
          </a:solidFill>
          <a:ln w="8890">
            <a:solidFill>
              <a:srgbClr val="D5E3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1768" y="264261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8B1F"/>
                </a:solidFill>
              </a:rPr>
              <a:t>10-15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01768" y="299008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D5B5F"/>
                </a:solidFill>
              </a:rPr>
              <a:t>pilot hedefi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949440" y="2514600"/>
            <a:ext cx="1554480" cy="786384"/>
          </a:xfrm>
          <a:prstGeom prst="roundRect">
            <a:avLst>
              <a:gd name="adj" fmla="val 6977"/>
            </a:avLst>
          </a:prstGeom>
          <a:solidFill>
            <a:srgbClr val="EEF4F2"/>
          </a:solidFill>
          <a:ln w="8890">
            <a:solidFill>
              <a:srgbClr val="D5E3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59168" y="264261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65347"/>
                </a:solidFill>
              </a:rPr>
              <a:t>90 gün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59168" y="299008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D5B5F"/>
                </a:solidFill>
              </a:rPr>
              <a:t>karar raporu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777240" y="416052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160520"/>
            <a:ext cx="3108960" cy="5486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4361688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C6E"/>
                </a:solidFill>
              </a:rPr>
              <a:t>İlk ürün paketi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8408" y="4709160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V1 Refresh + 3.0 Upgrade Kit.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251960" y="416052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51960" y="4160520"/>
            <a:ext cx="3108960" cy="54864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53128" y="4361688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5C"/>
                </a:solidFill>
              </a:rPr>
              <a:t>İlk satış dili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53128" y="4709160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İnternet olmasa da çalışır; Cloud izleme ve kayıt içindir.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7726680" y="416052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26680" y="4160520"/>
            <a:ext cx="3108960" cy="54864"/>
          </a:xfrm>
          <a:prstGeom prst="rect">
            <a:avLst/>
          </a:prstGeom>
          <a:solidFill>
            <a:srgbClr val="C68B1F"/>
          </a:solidFill>
          <a:ln w="12700">
            <a:solidFill>
              <a:srgbClr val="C68B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27848" y="4361688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8B1F"/>
                </a:solidFill>
              </a:rPr>
              <a:t>İlk başarı ölçüsü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27848" y="4709160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Referans klinik, ödeme niyeti ve düşük servis yükü.</a:t>
            </a:r>
            <a:endParaRPr lang="en-US" sz="10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BAŞARI ŞANSI VE KANITLAMA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0" y="347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C6E"/>
                </a:solidFill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841248" cy="3200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9611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224"/>
                </a:solidFill>
              </a:rPr>
              <a:t>Başarı şansı yüksek ama koşullu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2224"/>
                </a:solidFill>
              </a:rPr>
              <a:t>Kuvoz 3.0’ın başarı potansiyeli teknik özellikten çok kanıt, güven ve referans disiplinine bağlı.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955280" y="1325880"/>
            <a:ext cx="2194560" cy="2194560"/>
          </a:xfrm>
          <a:prstGeom prst="ellipse">
            <a:avLst/>
          </a:prstGeom>
          <a:solidFill>
            <a:srgbClr val="EAF5F1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56448" y="1984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7D5C"/>
                </a:solidFill>
              </a:rPr>
              <a:t>%80-85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156448" y="2487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224"/>
                </a:solidFill>
              </a:rPr>
              <a:t>kuvvetli ama koşullu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38862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86200"/>
            <a:ext cx="2331720" cy="5486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408736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C6E"/>
                </a:solidFill>
              </a:rPr>
              <a:t>Mevcut kanal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" y="4434840"/>
            <a:ext cx="1929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Vetmarketi ticari olarak var; güven ve satış ilişkisi başlangıç maliyetini düşürür.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3429000" y="38862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3886200"/>
            <a:ext cx="2331720" cy="54864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0168" y="408736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5C"/>
                </a:solidFill>
              </a:rPr>
              <a:t>V1 tabanı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30168" y="4434840"/>
            <a:ext cx="1929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Yaklaşık 100 eski müşteri ilk doğrulama ve upgrade hunisi olarak kullanılabilir.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3886200"/>
            <a:ext cx="2331720" cy="54864"/>
          </a:xfrm>
          <a:prstGeom prst="rect">
            <a:avLst/>
          </a:prstGeom>
          <a:solidFill>
            <a:srgbClr val="C68B1F"/>
          </a:solidFill>
          <a:ln w="12700">
            <a:solidFill>
              <a:srgbClr val="C68B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408736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8B1F"/>
                </a:solidFill>
              </a:rPr>
              <a:t>Upgrade Kit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73368" y="4434840"/>
            <a:ext cx="1929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Tam cihaz stok riski yerine ücretli saha doğrulaması sağlar.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915400" y="38862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15400" y="3886200"/>
            <a:ext cx="2331720" cy="54864"/>
          </a:xfrm>
          <a:prstGeom prst="rect">
            <a:avLst/>
          </a:prstGeom>
          <a:solidFill>
            <a:srgbClr val="315C9B"/>
          </a:solidFill>
          <a:ln w="12700">
            <a:solidFill>
              <a:srgbClr val="315C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16568" y="408736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5C9B"/>
                </a:solidFill>
              </a:rPr>
              <a:t>Platform vizyonu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16568" y="4434840"/>
            <a:ext cx="1929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Takip, kayıt, alarm ve servis verisi ürünü bakım platformuna taşır.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594360" y="6089904"/>
            <a:ext cx="6858000" cy="292608"/>
          </a:xfrm>
          <a:prstGeom prst="roundRect">
            <a:avLst>
              <a:gd name="adj" fmla="val 18750"/>
            </a:avLst>
          </a:prstGeom>
          <a:solidFill>
            <a:srgbClr val="EEF6F8"/>
          </a:solidFill>
          <a:ln w="8890">
            <a:solidFill>
              <a:srgbClr val="0F5C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6172200"/>
            <a:ext cx="6492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5C6E"/>
                </a:solidFill>
              </a:rPr>
              <a:t>Teknik üstünlük tek başına yetmez; kanıtlanmış saha güveni satışı açar.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BAŞARI ŞANSI VE KANITLAMA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0" y="347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C6E"/>
                </a:solidFill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841248" cy="3200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9611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224"/>
                </a:solidFill>
              </a:rPr>
              <a:t>Kritik riskler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2224"/>
                </a:solidFill>
              </a:rPr>
              <a:t>Başarıyı engelleyebilecek ana riskler teknik arızadan çok yanlış vaat, montaj standardı ve maliyet baskısıdır.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228600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286000"/>
            <a:ext cx="3337560" cy="54864"/>
          </a:xfrm>
          <a:prstGeom prst="rect">
            <a:avLst/>
          </a:prstGeom>
          <a:solidFill>
            <a:srgbClr val="B65347"/>
          </a:solidFill>
          <a:ln w="12700">
            <a:solidFill>
              <a:srgbClr val="B653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487168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5347"/>
                </a:solidFill>
              </a:rPr>
              <a:t>AI vaadi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" y="2834640"/>
            <a:ext cx="29352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Teşhis koyan sistem değil; trend izleyen, erken uyarı veren ve hekimin farkındalığını artıran asistan.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434840" y="228600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2286000"/>
            <a:ext cx="3337560" cy="54864"/>
          </a:xfrm>
          <a:prstGeom prst="rect">
            <a:avLst/>
          </a:prstGeom>
          <a:solidFill>
            <a:srgbClr val="C68B1F"/>
          </a:solidFill>
          <a:ln w="12700">
            <a:solidFill>
              <a:srgbClr val="C68B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2487168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8B1F"/>
                </a:solidFill>
              </a:rPr>
              <a:t>Montaj karmaşası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36008" y="2834640"/>
            <a:ext cx="29352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Farklı kabinlere uygulanacak Upgrade Kit için 2-4 saatlik standart kurulum checklist’i gerekir.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183880" y="228600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2286000"/>
            <a:ext cx="3337560" cy="5486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5048" y="2487168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C6E"/>
                </a:solidFill>
              </a:rPr>
              <a:t>Döviz ve maliyet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85048" y="2834640"/>
            <a:ext cx="29352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Raspberry Pi ve sensör fiyatları küçük-orta klinik bütçesini zorlayabilir; fiyatlama kademeli olmalı.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777240" y="4434840"/>
            <a:ext cx="64008" cy="685800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" y="446227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F7D5C"/>
                </a:solidFill>
              </a:rPr>
              <a:t>Referans klinik videoları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923544" y="4690872"/>
            <a:ext cx="3090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62224"/>
                </a:solidFill>
              </a:rPr>
              <a:t>İlk 3 klinikten kısa vaka videosu, hekim yorumu ve bakım iş akışı görüntüsü alınmalı.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434840" y="4434840"/>
            <a:ext cx="64008" cy="685800"/>
          </a:xfrm>
          <a:prstGeom prst="rect">
            <a:avLst/>
          </a:prstGeom>
          <a:solidFill>
            <a:srgbClr val="315C9B"/>
          </a:solidFill>
          <a:ln w="12700">
            <a:solidFill>
              <a:srgbClr val="315C9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81144" y="446227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315C9B"/>
                </a:solidFill>
              </a:rPr>
              <a:t>Kiralama / lisans modeli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4581144" y="4690872"/>
            <a:ext cx="3090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62224"/>
                </a:solidFill>
              </a:rPr>
              <a:t>Cloud aboneliği ve bakım paketi ilk satın alma bariyerini düşürebilir.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8092440" y="4434840"/>
            <a:ext cx="64008" cy="685800"/>
          </a:xfrm>
          <a:prstGeom prst="rect">
            <a:avLst/>
          </a:prstGeom>
          <a:solidFill>
            <a:srgbClr val="C68B1F"/>
          </a:solidFill>
          <a:ln w="12700">
            <a:solidFill>
              <a:srgbClr val="C68B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38744" y="446227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68B1F"/>
                </a:solidFill>
              </a:rPr>
              <a:t>Sertifikasyon hazırlığı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8238744" y="4690872"/>
            <a:ext cx="3090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62224"/>
                </a:solidFill>
              </a:rPr>
              <a:t>Balkanlar, Körfez ve Orta Asya hedefi için CE/EMC dosyası erkenden hazırlanmalı.</a:t>
            </a:r>
            <a:endParaRPr lang="en-US" sz="8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KUVOZ CLOUD KARARI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0" y="347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C6E"/>
                </a:solidFill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841248" cy="3200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9611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224"/>
                </a:solidFill>
              </a:rPr>
              <a:t>Offline-first + cloud-assisted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2224"/>
                </a:solidFill>
              </a:rPr>
              <a:t>Öncelik merkezi panel değil; internet olmasa da güvenle çalışan bağımsız cihaz olmalı.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58368" y="2779776"/>
            <a:ext cx="3517392" cy="0"/>
          </a:xfrm>
          <a:prstGeom prst="line">
            <a:avLst/>
          </a:prstGeom>
          <a:noFill/>
          <a:ln w="15240">
            <a:solidFill>
              <a:srgbClr val="2F7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56032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5C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880360"/>
            <a:ext cx="3517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62224"/>
                </a:solidFill>
              </a:rPr>
              <a:t>0-6 ay: Bağımsız cihaz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658368" y="3163824"/>
            <a:ext cx="3517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D5B5F"/>
                </a:solidFill>
              </a:rPr>
              <a:t>Lokal ekran, kayıt, alarm geçmişi, güvenlik kilitleri ve temel kontrol.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4340352" y="2779776"/>
            <a:ext cx="3517392" cy="0"/>
          </a:xfrm>
          <a:prstGeom prst="line">
            <a:avLst/>
          </a:prstGeom>
          <a:noFill/>
          <a:ln w="15240">
            <a:solidFill>
              <a:srgbClr val="0F5C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0352" y="256032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5C6E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40352" y="2880360"/>
            <a:ext cx="3517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62224"/>
                </a:solidFill>
              </a:rPr>
              <a:t>6-12 ay: Opsiyonel Cloud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4340352" y="3163824"/>
            <a:ext cx="3517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D5B5F"/>
                </a:solidFill>
              </a:rPr>
              <a:t>Uzaktan takip, grafik, bildirim, bakım kaydı ve servis paneli.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8022336" y="2779776"/>
            <a:ext cx="3517392" cy="0"/>
          </a:xfrm>
          <a:prstGeom prst="line">
            <a:avLst/>
          </a:prstGeom>
          <a:noFill/>
          <a:ln w="15240">
            <a:solidFill>
              <a:srgbClr val="315C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2336" y="256032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5C9B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22336" y="2880360"/>
            <a:ext cx="3517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62224"/>
                </a:solidFill>
              </a:rPr>
              <a:t>12+ ay: Merkezi panel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8022336" y="3163824"/>
            <a:ext cx="3517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4D5B5F"/>
                </a:solidFill>
              </a:rPr>
              <a:t>Çok şubeli klinikler, hastaneler, barınaklar ve Vetmarketi servis operasyonu.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685800" y="4919472"/>
            <a:ext cx="10789920" cy="640080"/>
          </a:xfrm>
          <a:prstGeom prst="roundRect">
            <a:avLst>
              <a:gd name="adj" fmla="val 8571"/>
            </a:avLst>
          </a:prstGeom>
          <a:solidFill>
            <a:srgbClr val="FFF8E7"/>
          </a:solidFill>
          <a:ln w="12700">
            <a:solidFill>
              <a:srgbClr val="E5C1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1389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8B1F"/>
                </a:solidFill>
              </a:rPr>
              <a:t>Güvenlik prensibi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51760" y="50749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62224"/>
                </a:solidFill>
              </a:rPr>
              <a:t>Cloud ilk sürümde okuma ağırlıklı olmalı: trend, kayıt, uyarı, rapor ve bakım. Kritik uzaktan kontrol yerel onay gerektirmeli.</a:t>
            </a:r>
            <a:endParaRPr lang="en-US" sz="9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840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5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EK: YERLI ÜRETIM VE SWOT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0" y="347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5C6E"/>
                </a:solidFill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841248" cy="3200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9611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2224"/>
                </a:solidFill>
              </a:rPr>
              <a:t>SWOT özeti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681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2224"/>
                </a:solidFill>
              </a:rPr>
              <a:t>Yerli üretim fırsatı güçlü; ama servis standardı ve düşük kaliteli ithal rekabeti aynı anda yönetilmeli.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240280"/>
            <a:ext cx="5074920" cy="54864"/>
          </a:xfrm>
          <a:prstGeom prst="rect">
            <a:avLst/>
          </a:prstGeom>
          <a:solidFill>
            <a:srgbClr val="2F7D5C"/>
          </a:solidFill>
          <a:ln w="12700">
            <a:solidFill>
              <a:srgbClr val="2F7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441448"/>
            <a:ext cx="4672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5C"/>
                </a:solidFill>
              </a:rPr>
              <a:t>Güçlü yönler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" y="2788920"/>
            <a:ext cx="46725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Tıbbi cihaz üretim tecrübesi, modern klinik sayısındaki artış ve Vetmarketi’nin sahadaki V1 geçmişi.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355080" y="224028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2240280"/>
            <a:ext cx="5074920" cy="54864"/>
          </a:xfrm>
          <a:prstGeom prst="rect">
            <a:avLst/>
          </a:prstGeom>
          <a:solidFill>
            <a:srgbClr val="C68B1F"/>
          </a:solidFill>
          <a:ln w="12700">
            <a:solidFill>
              <a:srgbClr val="C68B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2441448"/>
            <a:ext cx="4672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8B1F"/>
                </a:solidFill>
              </a:rPr>
              <a:t>Zayıf yönler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56248" y="2788920"/>
            <a:ext cx="46725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Döviz bazlı bileşen maliyeti, standart eksikliği ve saha servis yükünün marka güvenini hızla etkileyebilmesi.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977640"/>
            <a:ext cx="5074920" cy="54864"/>
          </a:xfrm>
          <a:prstGeom prst="rect">
            <a:avLst/>
          </a:prstGeom>
          <a:solidFill>
            <a:srgbClr val="0F5C6E"/>
          </a:solidFill>
          <a:ln w="12700">
            <a:solidFill>
              <a:srgbClr val="0F5C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4178808"/>
            <a:ext cx="4672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C6E"/>
                </a:solidFill>
              </a:rPr>
              <a:t>Fırsatlar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" y="4526280"/>
            <a:ext cx="46725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Orta Doğu, Balkanlar ve Orta Asya ihracatı; AI destekli erken uyarı ve kayıtlı bakım standardı.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355080" y="397764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3977640"/>
            <a:ext cx="5074920" cy="54864"/>
          </a:xfrm>
          <a:prstGeom prst="rect">
            <a:avLst/>
          </a:prstGeom>
          <a:solidFill>
            <a:srgbClr val="B65347"/>
          </a:solidFill>
          <a:ln w="12700">
            <a:solidFill>
              <a:srgbClr val="B653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4178808"/>
            <a:ext cx="4672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5347"/>
                </a:solidFill>
              </a:rPr>
              <a:t>Tehditler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56248" y="4526280"/>
            <a:ext cx="46725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62224"/>
                </a:solidFill>
              </a:rPr>
              <a:t>Ekonomik dalgalanmalar, sertifikasız ithal ürünler ve yanlış AI/medikal sorumluluk beklentisi.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Vetmarketi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Kuvoz 3.0 Vetmarketi Strateji Sunumu</dc:title>
  <dc:subject>Kuvoz 3.0 Vetmarketi düşük riskli ticarileşme sunumu</dc:subject>
  <dc:creator>Vetmarketi / Kuvoz</dc:creator>
  <cp:lastModifiedBy>Vetmarketi / Kuvoz</cp:lastModifiedBy>
  <cp:revision>1</cp:revision>
  <dcterms:created xsi:type="dcterms:W3CDTF">2026-05-10T14:58:51Z</dcterms:created>
  <dcterms:modified xsi:type="dcterms:W3CDTF">2026-05-10T14:58:51Z</dcterms:modified>
</cp:coreProperties>
</file>