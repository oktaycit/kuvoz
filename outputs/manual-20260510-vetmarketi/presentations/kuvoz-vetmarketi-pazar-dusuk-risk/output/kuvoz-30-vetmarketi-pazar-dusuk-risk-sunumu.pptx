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notesMasters/notesMaster1.xml" ContentType="application/vnd.openxmlformats-officedocument.presentationml.notesMaster+xml"/>
  <Override PartName="/ppt/notesMasters/theme/theme2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Layouts/slideLayout2.xml" ContentType="application/vnd.openxmlformats-officedocument.presentationml.slideLayout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9dd71eec034a4f7b" /><Relationship Type="http://schemas.openxmlformats.org/officeDocument/2006/relationships/extended-properties" Target="/docProps/app.xml" Id="R671eb09412a5412b" /><Relationship Type="http://schemas.openxmlformats.org/officeDocument/2006/relationships/officeDocument" Target="/ppt/presentation.xml" Id="Rdfe1a770f41b4814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36ccd12a435147d2"/>
  </p:sldMasterIdLst>
  <p:notesMasterIdLst>
    <p:notesMasterId xmlns:r="http://schemas.openxmlformats.org/officeDocument/2006/relationships" r:id="R2cdd589c11174ffb"/>
  </p:notesMasterIdLst>
  <p:sldIdLst>
    <p:sldId xmlns:r="http://schemas.openxmlformats.org/officeDocument/2006/relationships" id="256" r:id="R34ce1a1a65eb43ba"/>
    <p:sldId xmlns:r="http://schemas.openxmlformats.org/officeDocument/2006/relationships" id="257" r:id="R01fb4778d1d545ac"/>
    <p:sldId xmlns:r="http://schemas.openxmlformats.org/officeDocument/2006/relationships" id="258" r:id="Ra201c0d2b9554164"/>
    <p:sldId xmlns:r="http://schemas.openxmlformats.org/officeDocument/2006/relationships" id="259" r:id="Rd670b17725b74504"/>
    <p:sldId xmlns:r="http://schemas.openxmlformats.org/officeDocument/2006/relationships" id="260" r:id="Rfdbee7701ef443a2"/>
    <p:sldId xmlns:r="http://schemas.openxmlformats.org/officeDocument/2006/relationships" id="261" r:id="Ra5a8b5685d9540e6"/>
    <p:sldId xmlns:r="http://schemas.openxmlformats.org/officeDocument/2006/relationships" id="262" r:id="R33fd4e16b8e44241"/>
    <p:sldId xmlns:r="http://schemas.openxmlformats.org/officeDocument/2006/relationships" id="263" r:id="R6523302649cf4a8c"/>
    <p:sldId xmlns:r="http://schemas.openxmlformats.org/officeDocument/2006/relationships" id="264" r:id="R31f0115a8858485c"/>
    <p:sldId xmlns:r="http://schemas.openxmlformats.org/officeDocument/2006/relationships" id="265" r:id="Rf1ad511dbd254041"/>
    <p:sldId xmlns:r="http://schemas.openxmlformats.org/officeDocument/2006/relationships" id="266" r:id="R8fec56c78a6145cb"/>
    <p:sldId xmlns:r="http://schemas.openxmlformats.org/officeDocument/2006/relationships" id="267" r:id="Rfacc593a57e04b65"/>
    <p:sldId xmlns:r="http://schemas.openxmlformats.org/officeDocument/2006/relationships" id="268" r:id="R072dd1cda9564052"/>
  </p:sldIdLst>
  <p:sldSz cx="12192000" cy="6858000"/>
  <p:notesSz cx="6858000" cy="9144000"/>
  <p:defaultTextStyle>
    <a:defPPr xmlns:a="http://schemas.openxmlformats.org/drawingml/2006/main">
      <a:defRPr lang="en-US"/>
    </a:defPPr>
    <a:lvl1pPr xmlns:a="http://schemas.openxmlformats.org/drawingml/2006/main"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xmlns:a="http://schemas.openxmlformats.org/drawingml/2006/main"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xmlns:a="http://schemas.openxmlformats.org/drawingml/2006/main"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xmlns:a="http://schemas.openxmlformats.org/drawingml/2006/main"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xmlns:a="http://schemas.openxmlformats.org/drawingml/2006/main"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xmlns:a="http://schemas.openxmlformats.org/drawingml/2006/main"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xmlns:a="http://schemas.openxmlformats.org/drawingml/2006/main"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xmlns:a="http://schemas.openxmlformats.org/drawingml/2006/main"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xmlns:a="http://schemas.openxmlformats.org/drawingml/2006/main"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p="http://schemas.openxmlformats.org/presentationml/2006/main">
  <p:normalViewPr>
    <p:restoredLeft sz="15611"/>
    <p:restoredTop sz="94658"/>
  </p:normalViewPr>
  <p:slideViewPr>
    <p:cSldViewPr snapToGrid="0">
      <p:cViewPr varScale="1">
        <p:scale>
          <a:sx xmlns:a="http://schemas.openxmlformats.org/drawingml/2006/main" n="120" d="100"/>
          <a:sy xmlns:a="http://schemas.openxmlformats.org/drawingml/2006/main" n="120" d="100"/>
        </p:scale>
        <p:origin x="800" y="184"/>
      </p:cViewPr>
      <p:guideLst/>
    </p:cSldViewPr>
  </p:slideViewPr>
  <p:notesTextViewPr>
    <p:cViewPr>
      <p:scale>
        <a:sx xmlns:a="http://schemas.openxmlformats.org/drawingml/2006/main" n="1" d="1"/>
        <a:sy xmlns:a="http://schemas.openxmlformats.org/drawingml/2006/main" n="1" d="1"/>
      </p:scale>
      <p:origin x="0" y="0"/>
    </p:cViewPr>
  </p:notesTextViewPr>
  <p:gridSpacing cx="76200" cy="76200"/>
</p:viewPr>
</file>

<file path=ppt/_rels/presentation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36ccd12a435147d2" /><Relationship Type="http://schemas.openxmlformats.org/officeDocument/2006/relationships/theme" Target="/ppt/theme/theme1.xml" Id="R9f78677c64b340f3" /><Relationship Type="http://schemas.openxmlformats.org/officeDocument/2006/relationships/notesMaster" Target="/ppt/notesMasters/notesMaster1.xml" Id="R2cdd589c11174ffb" /><Relationship Type="http://schemas.openxmlformats.org/officeDocument/2006/relationships/presProps" Target="/ppt/presProps.xml" Id="Re46d7716614f42d7" /><Relationship Type="http://schemas.openxmlformats.org/officeDocument/2006/relationships/viewProps" Target="/ppt/viewProps.xml" Id="R66b4596f3cfd44b4" /><Relationship Type="http://schemas.openxmlformats.org/officeDocument/2006/relationships/tableStyles" Target="/ppt/tableStyles.xml" Id="R56a444d433124077" /><Relationship Type="http://schemas.openxmlformats.org/officeDocument/2006/relationships/slide" Target="/ppt/slides/slide1.xml" Id="R34ce1a1a65eb43ba" /><Relationship Type="http://schemas.openxmlformats.org/officeDocument/2006/relationships/slide" Target="/ppt/slides/slide2.xml" Id="R01fb4778d1d545ac" /><Relationship Type="http://schemas.openxmlformats.org/officeDocument/2006/relationships/slide" Target="/ppt/slides/slide3.xml" Id="Ra201c0d2b9554164" /><Relationship Type="http://schemas.openxmlformats.org/officeDocument/2006/relationships/slide" Target="/ppt/slides/slide4.xml" Id="Rd670b17725b74504" /><Relationship Type="http://schemas.openxmlformats.org/officeDocument/2006/relationships/slide" Target="/ppt/slides/slide5.xml" Id="Rfdbee7701ef443a2" /><Relationship Type="http://schemas.openxmlformats.org/officeDocument/2006/relationships/slide" Target="/ppt/slides/slide6.xml" Id="Ra5a8b5685d9540e6" /><Relationship Type="http://schemas.openxmlformats.org/officeDocument/2006/relationships/slide" Target="/ppt/slides/slide7.xml" Id="R33fd4e16b8e44241" /><Relationship Type="http://schemas.openxmlformats.org/officeDocument/2006/relationships/slide" Target="/ppt/slides/slide8.xml" Id="R6523302649cf4a8c" /><Relationship Type="http://schemas.openxmlformats.org/officeDocument/2006/relationships/slide" Target="/ppt/slides/slide9.xml" Id="R31f0115a8858485c" /><Relationship Type="http://schemas.openxmlformats.org/officeDocument/2006/relationships/slide" Target="/ppt/slides/slide10.xml" Id="Rf1ad511dbd254041" /><Relationship Type="http://schemas.openxmlformats.org/officeDocument/2006/relationships/slide" Target="/ppt/slides/slide11.xml" Id="R8fec56c78a6145cb" /><Relationship Type="http://schemas.openxmlformats.org/officeDocument/2006/relationships/slide" Target="/ppt/slides/slide12.xml" Id="Rfacc593a57e04b65" /><Relationship Type="http://schemas.openxmlformats.org/officeDocument/2006/relationships/slide" Target="/ppt/slides/slide13.xml" Id="R072dd1cda9564052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2.xml" Id="R05ae6e95184f4118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05697ac038c14f15" /><Relationship Type="http://schemas.openxmlformats.org/officeDocument/2006/relationships/notesMaster" Target="/ppt/notesMasters/notesMaster1.xml" Id="Ra255861a8e42469d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b7b0ce3d9a1943b1" /><Relationship Type="http://schemas.openxmlformats.org/officeDocument/2006/relationships/notesMaster" Target="/ppt/notesMasters/notesMaster1.xml" Id="R4b443853edde461c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a243481fa6d7481e" /><Relationship Type="http://schemas.openxmlformats.org/officeDocument/2006/relationships/notesMaster" Target="/ppt/notesMasters/notesMaster1.xml" Id="Rb6598194d56241fc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b625007ab0d44b19" /><Relationship Type="http://schemas.openxmlformats.org/officeDocument/2006/relationships/notesMaster" Target="/ppt/notesMasters/notesMaster1.xml" Id="Rcf1dfa9a98c64f57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e7cf798dc62e4300" /><Relationship Type="http://schemas.openxmlformats.org/officeDocument/2006/relationships/notesMaster" Target="/ppt/notesMasters/notesMaster1.xml" Id="R88338cb4d34d4df3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fc6c74ea37b8429b" /><Relationship Type="http://schemas.openxmlformats.org/officeDocument/2006/relationships/notesMaster" Target="/ppt/notesMasters/notesMaster1.xml" Id="R5a5057fcf50c407c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2afb73b0bb34453a" /><Relationship Type="http://schemas.openxmlformats.org/officeDocument/2006/relationships/notesMaster" Target="/ppt/notesMasters/notesMaster1.xml" Id="R7cedffe1d7b64c7a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5991e6c121e84f66" /><Relationship Type="http://schemas.openxmlformats.org/officeDocument/2006/relationships/notesMaster" Target="/ppt/notesMasters/notesMaster1.xml" Id="R2a8640d2e70e4774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847196c417da4f10" /><Relationship Type="http://schemas.openxmlformats.org/officeDocument/2006/relationships/notesMaster" Target="/ppt/notesMasters/notesMaster1.xml" Id="R10ab6ec3c2fd4be4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40ecc26a5e354de1" /><Relationship Type="http://schemas.openxmlformats.org/officeDocument/2006/relationships/notesMaster" Target="/ppt/notesMasters/notesMaster1.xml" Id="R27ea37a9d10e46b8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e7e1cd613bdd458d" /><Relationship Type="http://schemas.openxmlformats.org/officeDocument/2006/relationships/notesMaster" Target="/ppt/notesMasters/notesMaster1.xml" Id="R0ecd4d68e0a94eca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14b797dccc264681" /><Relationship Type="http://schemas.openxmlformats.org/officeDocument/2006/relationships/notesMaster" Target="/ppt/notesMasters/notesMaster1.xml" Id="Rb2413046e443436a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f849bf13514f461c" /><Relationship Type="http://schemas.openxmlformats.org/officeDocument/2006/relationships/notesMaster" Target="/ppt/notesMasters/notesMaster1.xml" Id="R948e33bc9d114c65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e04f60b407d04972" /></Relationships>
</file>

<file path=ppt/slideLayouts/slideLayout2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theme/theme1.xml" Id="Rc2733c904c7d48d8" /><Relationship Type="http://schemas.openxmlformats.org/officeDocument/2006/relationships/slideLayout" Target="/ppt/slideLayouts/slideLayout2.xml" Id="Rcfe4216cbd4140a6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cfe4216cbd4140a6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610b764e2f0a4e3b" /><Relationship Type="http://schemas.openxmlformats.org/officeDocument/2006/relationships/image" Target="/ppt/media/image.png" Id="R9ba34a21f2844f62" /><Relationship Type="http://schemas.openxmlformats.org/officeDocument/2006/relationships/notesSlide" Target="/ppt/notesSlides/notesSlide1.xml" Id="Rfc7f468173e34563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61b8912aeae44be1" /><Relationship Type="http://schemas.openxmlformats.org/officeDocument/2006/relationships/image" Target="/ppt/media/image2.png" Id="Rb2b0ac03b129409b" /><Relationship Type="http://schemas.openxmlformats.org/officeDocument/2006/relationships/notesSlide" Target="/ppt/notesSlides/notesSlide2.xml" Id="Rc45c29ec92984825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dc37421208424cce" /><Relationship Type="http://schemas.openxmlformats.org/officeDocument/2006/relationships/image" Target="/ppt/media/image3.png" Id="R838f72956bdc4e99" /><Relationship Type="http://schemas.openxmlformats.org/officeDocument/2006/relationships/notesSlide" Target="/ppt/notesSlides/notesSlide3.xml" Id="Rf67a40abaf90442e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30cd9875dcb34282" /><Relationship Type="http://schemas.openxmlformats.org/officeDocument/2006/relationships/image" Target="/ppt/media/image4.png" Id="Rac686b46929844e6" /><Relationship Type="http://schemas.openxmlformats.org/officeDocument/2006/relationships/notesSlide" Target="/ppt/notesSlides/notesSlide4.xml" Id="R39bd801cb4f04321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b3cb0605e1d04b1e" /><Relationship Type="http://schemas.openxmlformats.org/officeDocument/2006/relationships/image" Target="/ppt/media/image5.png" Id="Ree47937e043741d2" /><Relationship Type="http://schemas.openxmlformats.org/officeDocument/2006/relationships/notesSlide" Target="/ppt/notesSlides/notesSlide5.xml" Id="R894058b8f6174bf4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f266dac1ee8d4cdd" /><Relationship Type="http://schemas.openxmlformats.org/officeDocument/2006/relationships/image" Target="/ppt/media/image6.png" Id="Ra7a4a33e7169490f" /><Relationship Type="http://schemas.openxmlformats.org/officeDocument/2006/relationships/notesSlide" Target="/ppt/notesSlides/notesSlide6.xml" Id="R70679f0410d24f40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8650c9090bb24d76" /><Relationship Type="http://schemas.openxmlformats.org/officeDocument/2006/relationships/image" Target="/ppt/media/image7.png" Id="Rb1dbb1009c22406d" /><Relationship Type="http://schemas.openxmlformats.org/officeDocument/2006/relationships/notesSlide" Target="/ppt/notesSlides/notesSlide7.xml" Id="R79120188aea24898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7b91df6025264b70" /><Relationship Type="http://schemas.openxmlformats.org/officeDocument/2006/relationships/image" Target="/ppt/media/image8.png" Id="R05a9ad63019d4e20" /><Relationship Type="http://schemas.openxmlformats.org/officeDocument/2006/relationships/notesSlide" Target="/ppt/notesSlides/notesSlide8.xml" Id="Rb379e614e88b4ba1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e4f52a1b48e74f8c" /><Relationship Type="http://schemas.openxmlformats.org/officeDocument/2006/relationships/image" Target="/ppt/media/image9.png" Id="R7f7c0b0eb4074040" /><Relationship Type="http://schemas.openxmlformats.org/officeDocument/2006/relationships/notesSlide" Target="/ppt/notesSlides/notesSlide9.xml" Id="Rca9561a14f1c4597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9f238560b8944084" /><Relationship Type="http://schemas.openxmlformats.org/officeDocument/2006/relationships/image" Target="/ppt/media/image10.png" Id="R8382a59dee2a4747" /><Relationship Type="http://schemas.openxmlformats.org/officeDocument/2006/relationships/notesSlide" Target="/ppt/notesSlides/notesSlide10.xml" Id="R1f39788b6f6f40f0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3be6d44758994eac" /><Relationship Type="http://schemas.openxmlformats.org/officeDocument/2006/relationships/image" Target="/ppt/media/image11.png" Id="R0b01309bb7574ee5" /><Relationship Type="http://schemas.openxmlformats.org/officeDocument/2006/relationships/notesSlide" Target="/ppt/notesSlides/notesSlide11.xml" Id="Rb25b65e0279f4a12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2a6410d858664563" /><Relationship Type="http://schemas.openxmlformats.org/officeDocument/2006/relationships/image" Target="/ppt/media/image12.png" Id="Rbd719e9b377b4e6e" /><Relationship Type="http://schemas.openxmlformats.org/officeDocument/2006/relationships/notesSlide" Target="/ppt/notesSlides/notesSlide12.xml" Id="R4d4ee3d1c8514984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4812efe7e60548f5" /><Relationship Type="http://schemas.openxmlformats.org/officeDocument/2006/relationships/image" Target="/ppt/media/image13.png" Id="R61bfa2b6def144b1" /><Relationship Type="http://schemas.openxmlformats.org/officeDocument/2006/relationships/notesSlide" Target="/ppt/notesSlides/notesSlide13.xml" Id="R2617de96137747d5" /></Relationships>
</file>

<file path=ppt/slides/slide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536CA263-4449-4AB4-96B6-88EA8F6006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5E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449F6C2-6EDA-4F46-99C6-7F7080624A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5C6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pic>
        <p:nvPicPr>
          <p:cNvPr id="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ba34a21f2844f62"/>
          <a:stretch xmlns:a="http://schemas.openxmlformats.org/drawingml/2006/main"/>
        </p:blipFill>
        <p:spPr>
          <a:xfrm xmlns:a="http://schemas.openxmlformats.org/drawingml/2006/main">
            <a:off x="10610850" y="323850"/>
            <a:ext cx="609600" cy="609600"/>
          </a:xfrm>
          <a:prstGeom xmlns:a="http://schemas.openxmlformats.org/drawingml/2006/main" prst="rect">
            <a:avLst/>
          </a:prstGeom>
        </p:spPr>
      </p:pic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CD8D839-50D4-496B-9F2E-A77B5B5F82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0050"/>
            <a:ext cx="4381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0F5C6E"/>
                </a:solidFill>
                <a:latin typeface="Aptos"/>
                <a:ea typeface="Aptos"/>
                <a:cs typeface="Aptos"/>
              </a:defRPr>
            </a:pPr>
            <a:r>
              <a:rPr sz="750" b="1">
                <a:solidFill>
                  <a:srgbClr val="0F5C6E"/>
                </a:solidFill>
                <a:latin typeface="Aptos"/>
                <a:ea typeface="Aptos"/>
                <a:cs typeface="Aptos"/>
              </a:rPr>
              <a:t>PAZAR VE DÜŞÜK RISKLI TICARILEŞME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8CA4FE5-87BD-4605-8D01-61063B6DF5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82375" y="476250"/>
            <a:ext cx="4000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5D6A70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5D6A70"/>
                </a:solidFill>
                <a:latin typeface="Aptos"/>
                <a:ea typeface="Aptos"/>
                <a:cs typeface="Aptos"/>
              </a:rPr>
              <a:t>01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35012E1-9B95-44E7-A703-E10075C5F9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81050"/>
            <a:ext cx="3429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0F5C6E"/>
                </a:solidFill>
                <a:latin typeface="Aptos"/>
                <a:ea typeface="Aptos"/>
                <a:cs typeface="Aptos"/>
              </a:defRPr>
            </a:pPr>
            <a:r>
              <a:rPr sz="750" b="1">
                <a:solidFill>
                  <a:srgbClr val="0F5C6E"/>
                </a:solidFill>
                <a:latin typeface="Aptos"/>
                <a:ea typeface="Aptos"/>
                <a:cs typeface="Aptos"/>
              </a:rPr>
              <a:t>ANA TEZ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0C83C60-3B98-477F-B213-C96B512EBD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047750"/>
            <a:ext cx="8858250" cy="1123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325" b="1">
                <a:solidFill>
                  <a:srgbClr val="102B34"/>
                </a:solidFill>
                <a:latin typeface="Aptos Display"/>
                <a:ea typeface="Aptos Display"/>
                <a:cs typeface="Aptos Display"/>
              </a:defRPr>
            </a:pPr>
            <a:r>
              <a:rPr sz="2325" b="1">
                <a:solidFill>
                  <a:srgbClr val="102B34"/>
                </a:solidFill>
                <a:latin typeface="Aptos Display"/>
                <a:ea typeface="Aptos Display"/>
                <a:cs typeface="Aptos Display"/>
              </a:rPr>
              <a:t>Kuvoz 3.0, büyüyen hayvan kuvözü pazarına Vetmarketi’nin mevcut güveniyle girmeli.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CD795B3-485C-4620-AC2C-92179ED338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114550"/>
            <a:ext cx="87630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23" b="0">
                <a:solidFill>
                  <a:srgbClr val="5D6A70"/>
                </a:solidFill>
                <a:latin typeface="Aptos"/>
                <a:ea typeface="Aptos"/>
                <a:cs typeface="Aptos"/>
              </a:defRPr>
            </a:pPr>
            <a:r>
              <a:rPr sz="923" b="0">
                <a:solidFill>
                  <a:srgbClr val="5D6A70"/>
                </a:solidFill>
                <a:latin typeface="Aptos"/>
                <a:ea typeface="Aptos"/>
                <a:cs typeface="Aptos"/>
              </a:rPr>
              <a:t>Pazar basit ısı kutularından akıllı yaşam destek ünitelerine evrilirken, Vetmarketi’nin 2016’dan beri oluşan V1 müşteri tabanı ilk doğrulama avantajı yaratıyor.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8E4E756-5730-4114-931C-EF4D59CE63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781300"/>
            <a:ext cx="10820400" cy="2000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252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7E69A33-CD53-4A41-A7A1-C4A15C4EBF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3067050"/>
            <a:ext cx="15240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58AFC4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58AFC4"/>
                </a:solidFill>
                <a:latin typeface="Aptos"/>
                <a:ea typeface="Aptos"/>
                <a:cs typeface="Aptos"/>
              </a:rPr>
              <a:t>Revize karar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50F5CDB-CF73-4091-B67A-DA4F5026B4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3390900"/>
            <a:ext cx="6286500" cy="723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defRPr>
            </a:pPr>
            <a:r>
              <a:rPr sz="1875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rPr>
              <a:t>İlk 12 ay yeni şirket kurma baskısını azalt; Vetmarketi içinde V1 Refresh + 3.0 Upgrade Kit ile gerçek ödeme niyetini kanıtla.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E62AF7E-CD4F-4016-B3B0-DCA53E65F2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4267200"/>
            <a:ext cx="62865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CFE1E5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CFE1E5"/>
                </a:solidFill>
                <a:latin typeface="Aptos"/>
                <a:ea typeface="Aptos"/>
                <a:cs typeface="Aptos"/>
              </a:rPr>
              <a:t>Şirketleşme, Teknopark veya spin-off kararı satış, pilot ve servis verisi oluşunca verilmeli.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179A38C-19E4-47E4-989A-8D615A81D5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62875" y="3086100"/>
            <a:ext cx="381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8AFC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88A16EB-F383-4101-BA4F-2FAA948AD5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34325" y="3048000"/>
            <a:ext cx="14478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defRPr>
            </a:pPr>
            <a:r>
              <a:rPr sz="1950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rPr>
              <a:t>2016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3D46828-4D2F-4CB2-ADE1-90956D9330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34325" y="3429000"/>
            <a:ext cx="14478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38" b="1">
                <a:solidFill>
                  <a:srgbClr val="58AFC4"/>
                </a:solidFill>
                <a:latin typeface="Aptos"/>
                <a:ea typeface="Aptos"/>
                <a:cs typeface="Aptos"/>
              </a:defRPr>
            </a:pPr>
            <a:r>
              <a:rPr sz="638" b="1">
                <a:solidFill>
                  <a:srgbClr val="58AFC4"/>
                </a:solidFill>
                <a:latin typeface="Aptos"/>
                <a:ea typeface="Aptos"/>
                <a:cs typeface="Aptos"/>
              </a:rPr>
              <a:t>PAZAR GEÇMIŞI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0D4B30F7-C1A5-48F4-A115-D1E4E2CD85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34325" y="3600450"/>
            <a:ext cx="14478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90" b="0">
                <a:solidFill>
                  <a:srgbClr val="CFE1E5"/>
                </a:solidFill>
                <a:latin typeface="Aptos"/>
                <a:ea typeface="Aptos"/>
                <a:cs typeface="Aptos"/>
              </a:defRPr>
            </a:pPr>
            <a:r>
              <a:rPr sz="690" b="0">
                <a:solidFill>
                  <a:srgbClr val="CFE1E5"/>
                </a:solidFill>
                <a:latin typeface="Aptos"/>
                <a:ea typeface="Aptos"/>
                <a:cs typeface="Aptos"/>
              </a:rPr>
              <a:t>Kuvoz v1 ile saha güveni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71AD9D43-8719-43E7-929C-4FFDFEE1BF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3086100"/>
            <a:ext cx="381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902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6AFC000D-83E7-4E58-8947-A0D176001B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96450" y="3048000"/>
            <a:ext cx="154305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defRPr>
            </a:pPr>
            <a:r>
              <a:rPr sz="1950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rPr>
              <a:t>~100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61B7C6DE-5D2D-4F3C-A02C-F2953ADDE4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96450" y="3429000"/>
            <a:ext cx="154305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38" b="1">
                <a:solidFill>
                  <a:srgbClr val="C9902E"/>
                </a:solidFill>
                <a:latin typeface="Aptos"/>
                <a:ea typeface="Aptos"/>
                <a:cs typeface="Aptos"/>
              </a:defRPr>
            </a:pPr>
            <a:r>
              <a:rPr sz="638" b="1">
                <a:solidFill>
                  <a:srgbClr val="C9902E"/>
                </a:solidFill>
                <a:latin typeface="Aptos"/>
                <a:ea typeface="Aptos"/>
                <a:cs typeface="Aptos"/>
              </a:rPr>
              <a:t>BILINEN MÜŞTERI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E01BFD32-E3FA-404C-9531-A6389A30C7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96450" y="3600450"/>
            <a:ext cx="15430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90" b="0">
                <a:solidFill>
                  <a:srgbClr val="CFE1E5"/>
                </a:solidFill>
                <a:latin typeface="Aptos"/>
                <a:ea typeface="Aptos"/>
                <a:cs typeface="Aptos"/>
              </a:defRPr>
            </a:pPr>
            <a:r>
              <a:rPr sz="690" b="0">
                <a:solidFill>
                  <a:srgbClr val="CFE1E5"/>
                </a:solidFill>
                <a:latin typeface="Aptos"/>
                <a:ea typeface="Aptos"/>
                <a:cs typeface="Aptos"/>
              </a:rPr>
              <a:t>CRM ve upgrade tabanı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F9AB069B-7565-40F7-BB65-A2BFA70DBC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219700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BD4D1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B359C90D-2BE5-4F1F-9D52-9C21B41E91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5486400"/>
            <a:ext cx="381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5C6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F597223D-F3F1-4E67-BBC6-1FE7E9ADF3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5448300"/>
            <a:ext cx="22098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102B34"/>
                </a:solidFill>
                <a:latin typeface="Aptos Display"/>
                <a:ea typeface="Aptos Display"/>
                <a:cs typeface="Aptos Display"/>
              </a:defRPr>
            </a:pPr>
            <a:r>
              <a:rPr sz="1950" b="1">
                <a:solidFill>
                  <a:srgbClr val="102B34"/>
                </a:solidFill>
                <a:latin typeface="Aptos Display"/>
                <a:ea typeface="Aptos Display"/>
                <a:cs typeface="Aptos Display"/>
              </a:rPr>
              <a:t>0-90 gün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7A044CF2-20BC-4CE8-9C24-DB1A753142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5829300"/>
            <a:ext cx="22098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38" b="1">
                <a:solidFill>
                  <a:srgbClr val="0F5C6E"/>
                </a:solidFill>
                <a:latin typeface="Aptos"/>
                <a:ea typeface="Aptos"/>
                <a:cs typeface="Aptos"/>
              </a:defRPr>
            </a:pPr>
            <a:r>
              <a:rPr sz="638" b="1">
                <a:solidFill>
                  <a:srgbClr val="0F5C6E"/>
                </a:solidFill>
                <a:latin typeface="Aptos"/>
                <a:ea typeface="Aptos"/>
                <a:cs typeface="Aptos"/>
              </a:rPr>
              <a:t>İLK DOĞRULAMA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FF77B4DC-211B-4DA8-8172-935C0132B7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6000750"/>
            <a:ext cx="22098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90" b="0">
                <a:solidFill>
                  <a:srgbClr val="5D6A70"/>
                </a:solidFill>
                <a:latin typeface="Aptos"/>
                <a:ea typeface="Aptos"/>
                <a:cs typeface="Aptos"/>
              </a:defRPr>
            </a:pPr>
            <a:r>
              <a:rPr sz="690" b="0">
                <a:solidFill>
                  <a:srgbClr val="5D6A70"/>
                </a:solidFill>
                <a:latin typeface="Aptos"/>
                <a:ea typeface="Aptos"/>
                <a:cs typeface="Aptos"/>
              </a:rPr>
              <a:t>CRM + 2-3 ücretli pilot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82F077A7-553A-4207-8631-90557851B2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71875" y="5486400"/>
            <a:ext cx="381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E7D6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4BB0EC42-6C25-4BF7-B35D-29F69FEC0A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43325" y="5448300"/>
            <a:ext cx="22098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102B34"/>
                </a:solidFill>
                <a:latin typeface="Aptos Display"/>
                <a:ea typeface="Aptos Display"/>
                <a:cs typeface="Aptos Display"/>
              </a:defRPr>
            </a:pPr>
            <a:r>
              <a:rPr sz="1950" b="1">
                <a:solidFill>
                  <a:srgbClr val="102B34"/>
                </a:solidFill>
                <a:latin typeface="Aptos Display"/>
                <a:ea typeface="Aptos Display"/>
                <a:cs typeface="Aptos Display"/>
              </a:rPr>
              <a:t>1.8-3.5M TL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0B264047-D0FD-4646-8CD3-610F866E66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43325" y="5829300"/>
            <a:ext cx="22098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38" b="1">
                <a:solidFill>
                  <a:srgbClr val="2E7D6B"/>
                </a:solidFill>
                <a:latin typeface="Aptos"/>
                <a:ea typeface="Aptos"/>
                <a:cs typeface="Aptos"/>
              </a:defRPr>
            </a:pPr>
            <a:r>
              <a:rPr sz="638" b="1">
                <a:solidFill>
                  <a:srgbClr val="2E7D6B"/>
                </a:solidFill>
                <a:latin typeface="Aptos"/>
                <a:ea typeface="Aptos"/>
                <a:cs typeface="Aptos"/>
              </a:rPr>
              <a:t>6 AY KAYNAK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024196D6-FCED-45FD-84FC-19B366B058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43325" y="6000750"/>
            <a:ext cx="22098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90" b="0">
                <a:solidFill>
                  <a:srgbClr val="5D6A70"/>
                </a:solidFill>
                <a:latin typeface="Aptos"/>
                <a:ea typeface="Aptos"/>
                <a:cs typeface="Aptos"/>
              </a:defRPr>
            </a:pPr>
            <a:r>
              <a:rPr sz="690" b="0">
                <a:solidFill>
                  <a:srgbClr val="5D6A70"/>
                </a:solidFill>
                <a:latin typeface="Aptos"/>
                <a:ea typeface="Aptos"/>
                <a:cs typeface="Aptos"/>
              </a:rPr>
              <a:t>5-8 ödemeli pilot/upgrade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41BED4A2-F2FB-4FEF-8EEB-3BEF909803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5486400"/>
            <a:ext cx="381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902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2E2E8A47-3EE9-4269-B99D-CDAA9AC1E4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5448300"/>
            <a:ext cx="22098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102B34"/>
                </a:solidFill>
                <a:latin typeface="Aptos Display"/>
                <a:ea typeface="Aptos Display"/>
                <a:cs typeface="Aptos Display"/>
              </a:defRPr>
            </a:pPr>
            <a:r>
              <a:rPr sz="1950" b="1">
                <a:solidFill>
                  <a:srgbClr val="102B34"/>
                </a:solidFill>
                <a:latin typeface="Aptos Display"/>
                <a:ea typeface="Aptos Display"/>
                <a:cs typeface="Aptos Display"/>
              </a:rPr>
              <a:t>15-30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94DCE82C-2F19-4DCF-BB76-59E64CA90B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5829300"/>
            <a:ext cx="22098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38" b="1">
                <a:solidFill>
                  <a:srgbClr val="C9902E"/>
                </a:solidFill>
                <a:latin typeface="Aptos"/>
                <a:ea typeface="Aptos"/>
                <a:cs typeface="Aptos"/>
              </a:defRPr>
            </a:pPr>
            <a:r>
              <a:rPr sz="638" b="1">
                <a:solidFill>
                  <a:srgbClr val="C9902E"/>
                </a:solidFill>
                <a:latin typeface="Aptos"/>
                <a:ea typeface="Aptos"/>
                <a:cs typeface="Aptos"/>
              </a:rPr>
              <a:t>12 AY HEDEF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3EE212C9-6E43-4928-87DE-DD1D20516F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6000750"/>
            <a:ext cx="22098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90" b="0">
                <a:solidFill>
                  <a:srgbClr val="5D6A70"/>
                </a:solidFill>
                <a:latin typeface="Aptos"/>
                <a:ea typeface="Aptos"/>
                <a:cs typeface="Aptos"/>
              </a:defRPr>
            </a:pPr>
            <a:r>
              <a:rPr sz="690" b="0">
                <a:solidFill>
                  <a:srgbClr val="5D6A70"/>
                </a:solidFill>
                <a:latin typeface="Aptos"/>
                <a:ea typeface="Aptos"/>
                <a:cs typeface="Aptos"/>
              </a:rPr>
              <a:t>Satış veya imzalı sipariş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FF18713B-B023-47F0-BBC5-0FBCCEC849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9250" y="5486400"/>
            <a:ext cx="381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54B4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50FA8EB9-DFA0-45A6-8DA9-347B9D5153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10700" y="5448300"/>
            <a:ext cx="20193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102B34"/>
                </a:solidFill>
                <a:latin typeface="Aptos Display"/>
                <a:ea typeface="Aptos Display"/>
                <a:cs typeface="Aptos Display"/>
              </a:defRPr>
            </a:pPr>
            <a:r>
              <a:rPr sz="1950" b="1">
                <a:solidFill>
                  <a:srgbClr val="102B34"/>
                </a:solidFill>
                <a:latin typeface="Aptos Display"/>
                <a:ea typeface="Aptos Display"/>
                <a:cs typeface="Aptos Display"/>
              </a:rPr>
              <a:t>12. ay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711BC4C9-7075-45E1-AD61-11AA32DB06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10700" y="5829300"/>
            <a:ext cx="20193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38" b="1">
                <a:solidFill>
                  <a:srgbClr val="B54B45"/>
                </a:solidFill>
                <a:latin typeface="Aptos"/>
                <a:ea typeface="Aptos"/>
                <a:cs typeface="Aptos"/>
              </a:defRPr>
            </a:pPr>
            <a:r>
              <a:rPr sz="638" b="1">
                <a:solidFill>
                  <a:srgbClr val="B54B45"/>
                </a:solidFill>
                <a:latin typeface="Aptos"/>
                <a:ea typeface="Aptos"/>
                <a:cs typeface="Aptos"/>
              </a:rPr>
              <a:t>YAPI KARARI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589B1991-BF4E-4BBD-B5A1-8C14D907DE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10700" y="6000750"/>
            <a:ext cx="20193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90" b="0">
                <a:solidFill>
                  <a:srgbClr val="5D6A70"/>
                </a:solidFill>
                <a:latin typeface="Aptos"/>
                <a:ea typeface="Aptos"/>
                <a:cs typeface="Aptos"/>
              </a:defRPr>
            </a:pPr>
            <a:r>
              <a:rPr sz="690" b="0">
                <a:solidFill>
                  <a:srgbClr val="5D6A70"/>
                </a:solidFill>
                <a:latin typeface="Aptos"/>
                <a:ea typeface="Aptos"/>
                <a:cs typeface="Aptos"/>
              </a:rPr>
              <a:t>Vetmarketi / Teknopark / spin-off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0E3ECB57-59BE-4FFA-8C69-C22D38C95D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24600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BD4D1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7593A75E-061C-4384-8CB2-C97F726EF9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48425"/>
            <a:ext cx="942975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38" b="0">
                <a:solidFill>
                  <a:srgbClr val="5D6A70"/>
                </a:solidFill>
                <a:latin typeface="Aptos"/>
                <a:ea typeface="Aptos"/>
                <a:cs typeface="Aptos"/>
              </a:defRPr>
            </a:pPr>
            <a:r>
              <a:rPr sz="638" b="0">
                <a:solidFill>
                  <a:srgbClr val="5D6A70"/>
                </a:solidFill>
                <a:latin typeface="Aptos"/>
                <a:ea typeface="Aptos"/>
                <a:cs typeface="Aptos"/>
              </a:rPr>
              <a:t>Kaynak: Kuvoz 3.0 revize yol haritasi ve pazar notlari, 10 Mayis 2026</a:t>
            </a:r>
          </a:p>
        </p:txBody>
      </p:sp>
    </p:spTree>
    <p:extLst>
      <p:ext uri="{BB962C8B-B14F-4D97-AF65-F5344CB8AC3E}">
        <p14:creationId xmlns:p14="http://schemas.microsoft.com/office/powerpoint/2010/main" val="1167080287"/>
      </p:ext>
    </p:extLst>
  </p:cSld>
</p:sld>
</file>

<file path=ppt/slides/slide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9BA43F52-0D68-4C0D-A3BC-0A0004BD28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5E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724D1A4-698C-47CB-BD77-0E4A1FCD45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5C6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pic>
        <p:nvPicPr>
          <p:cNvPr id="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2b0ac03b129409b"/>
          <a:stretch xmlns:a="http://schemas.openxmlformats.org/drawingml/2006/main"/>
        </p:blipFill>
        <p:spPr>
          <a:xfrm xmlns:a="http://schemas.openxmlformats.org/drawingml/2006/main">
            <a:off x="10610850" y="323850"/>
            <a:ext cx="609600" cy="609600"/>
          </a:xfrm>
          <a:prstGeom xmlns:a="http://schemas.openxmlformats.org/drawingml/2006/main" prst="rect">
            <a:avLst/>
          </a:prstGeom>
        </p:spPr>
      </p:pic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9D99C3D-71DE-41DA-BF8D-CB3D50A414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0050"/>
            <a:ext cx="4381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0F5C6E"/>
                </a:solidFill>
                <a:latin typeface="Aptos"/>
                <a:ea typeface="Aptos"/>
                <a:cs typeface="Aptos"/>
              </a:defRPr>
            </a:pPr>
            <a:r>
              <a:rPr sz="750" b="1">
                <a:solidFill>
                  <a:srgbClr val="0F5C6E"/>
                </a:solidFill>
                <a:latin typeface="Aptos"/>
                <a:ea typeface="Aptos"/>
                <a:cs typeface="Aptos"/>
              </a:rPr>
              <a:t>PAZAR DINAMIKLERI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534416E-6333-4BCF-BBC6-5984E30F24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82375" y="476250"/>
            <a:ext cx="4000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5D6A70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5D6A70"/>
                </a:solidFill>
                <a:latin typeface="Aptos"/>
                <a:ea typeface="Aptos"/>
                <a:cs typeface="Aptos"/>
              </a:rPr>
              <a:t>02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6C09625-8642-4B67-8E63-3A4FCA814B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81050"/>
            <a:ext cx="3429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0F5C6E"/>
                </a:solidFill>
                <a:latin typeface="Aptos"/>
                <a:ea typeface="Aptos"/>
                <a:cs typeface="Aptos"/>
              </a:defRPr>
            </a:pPr>
            <a:r>
              <a:rPr sz="750" b="1">
                <a:solidFill>
                  <a:srgbClr val="0F5C6E"/>
                </a:solidFill>
                <a:latin typeface="Aptos"/>
                <a:ea typeface="Aptos"/>
                <a:cs typeface="Aptos"/>
              </a:rPr>
              <a:t>TALEP KAYNAKLARI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A70293F-71E6-4A30-A6D2-62954C4FC4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047750"/>
            <a:ext cx="8858250" cy="78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102B34"/>
                </a:solidFill>
                <a:latin typeface="Aptos Display"/>
                <a:ea typeface="Aptos Display"/>
                <a:cs typeface="Aptos Display"/>
              </a:defRPr>
            </a:pPr>
            <a:r>
              <a:rPr sz="2250" b="1">
                <a:solidFill>
                  <a:srgbClr val="102B34"/>
                </a:solidFill>
                <a:latin typeface="Aptos Display"/>
                <a:ea typeface="Aptos Display"/>
                <a:cs typeface="Aptos Display"/>
              </a:rPr>
              <a:t>Türkiye’de hayvan kuvözü pazarı tek bir klinik ekipmanı değil, üç talep koluyla büyüyen niş bir medikal segment.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19EA961-3868-4C94-A6D2-64E7672387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85950"/>
            <a:ext cx="876300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23" b="0">
                <a:solidFill>
                  <a:srgbClr val="5D6A70"/>
                </a:solidFill>
                <a:latin typeface="Aptos"/>
                <a:ea typeface="Aptos"/>
                <a:cs typeface="Aptos"/>
              </a:defRPr>
            </a:pPr>
            <a:r>
              <a:rPr sz="923" b="0">
                <a:solidFill>
                  <a:srgbClr val="5D6A70"/>
                </a:solidFill>
                <a:latin typeface="Aptos"/>
                <a:ea typeface="Aptos"/>
                <a:cs typeface="Aptos"/>
              </a:rPr>
              <a:t>Evcil hayvan sahiplenme, profesyonel veterinerlik hizmetleri ve rehabilitasyon ihtiyaçları birlikte kuvözü lüks ekipmandan temel bakım altyapısına taşıyor.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8426EDF-7E0F-4B3D-9EDB-80768CE660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381250"/>
            <a:ext cx="3143250" cy="1638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252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B8B048A-00C6-450B-9F14-859BAF7C61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381250"/>
            <a:ext cx="47625" cy="1638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5C6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24CA95A-2167-4E8D-9EAE-381E610D6A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2533650"/>
            <a:ext cx="28003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Veteriner klinikleri ve hastaneler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16FAD7D-1003-4B49-80F6-C27432DDE9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2800350"/>
            <a:ext cx="2800350" cy="11144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65" b="0">
                <a:solidFill>
                  <a:srgbClr val="CFE1E5"/>
                </a:solidFill>
                <a:latin typeface="Aptos"/>
                <a:ea typeface="Aptos"/>
                <a:cs typeface="Aptos"/>
              </a:defRPr>
            </a:pPr>
            <a:r>
              <a:rPr sz="765" b="0">
                <a:solidFill>
                  <a:srgbClr val="CFE1E5"/>
                </a:solidFill>
                <a:latin typeface="Aptos"/>
                <a:ea typeface="Aptos"/>
                <a:cs typeface="Aptos"/>
              </a:rPr>
              <a:t>Operasyon sonrası uyanma, hipotermi önleme, oksijen/nem kontrollü hospitalizasyon ve yoğun bakım desteği için kullanılır.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10E3A22-23BA-437D-9B63-6C1D4C24D4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24375" y="2381250"/>
            <a:ext cx="3143250" cy="1638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252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9B3C64A-094E-4055-A881-310D439A8D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24375" y="2381250"/>
            <a:ext cx="47625" cy="1638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E7D6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94A1FB2-2F67-4133-B9C0-13E18F1AF2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14875" y="2533650"/>
            <a:ext cx="28003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Pet breeding / yetiştiricilik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50F9AF9D-2C73-4142-8F45-444B46BE1F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14875" y="2800350"/>
            <a:ext cx="2800350" cy="11144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65" b="0">
                <a:solidFill>
                  <a:srgbClr val="CFE1E5"/>
                </a:solidFill>
                <a:latin typeface="Aptos"/>
                <a:ea typeface="Aptos"/>
                <a:cs typeface="Aptos"/>
              </a:defRPr>
            </a:pPr>
            <a:r>
              <a:rPr sz="765" b="0">
                <a:solidFill>
                  <a:srgbClr val="CFE1E5"/>
                </a:solidFill>
                <a:latin typeface="Aptos"/>
                <a:ea typeface="Aptos"/>
                <a:cs typeface="Aptos"/>
              </a:rPr>
              <a:t>Safkan kedi ve köpek yetiştiricileri yenidoğan kayıplarını azaltmak ve bakım standardını yükseltmek için profesyonel kuvöz arar.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2A590125-95D6-4297-94E2-EEC623D238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67700" y="2381250"/>
            <a:ext cx="3143250" cy="1638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252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4F6897A0-E541-4BC2-9261-FBCA7E0344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67700" y="2381250"/>
            <a:ext cx="47625" cy="1638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902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A99D9461-9407-420D-99D2-3318AE35AA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58200" y="2533650"/>
            <a:ext cx="28003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Yaban hayatı ve rehabilitasyon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BED1E32D-2F86-4956-B6DD-0CDF5A9A05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58200" y="2800350"/>
            <a:ext cx="2800350" cy="11144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65" b="0">
                <a:solidFill>
                  <a:srgbClr val="CFE1E5"/>
                </a:solidFill>
                <a:latin typeface="Aptos"/>
                <a:ea typeface="Aptos"/>
                <a:cs typeface="Aptos"/>
              </a:defRPr>
            </a:pPr>
            <a:r>
              <a:rPr sz="765" b="0">
                <a:solidFill>
                  <a:srgbClr val="CFE1E5"/>
                </a:solidFill>
                <a:latin typeface="Aptos"/>
                <a:ea typeface="Aptos"/>
                <a:cs typeface="Aptos"/>
              </a:rPr>
              <a:t>Belediye, barınak ve rehabilitasyon merkezlerinde yaralı, öksüz veya hassas yavru hayvan bakımı için talep oluşur.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7482E17F-95D5-4F77-B49C-E7C79B2390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4762500"/>
            <a:ext cx="9944100" cy="857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4D1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76C25E3E-3CA2-4C2B-A466-E64C279088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66850" y="5048250"/>
            <a:ext cx="381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5C6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29A1F0A0-4585-41F7-8B68-419DA5CF2C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38300" y="5010150"/>
            <a:ext cx="192405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102B34"/>
                </a:solidFill>
                <a:latin typeface="Aptos Display"/>
                <a:ea typeface="Aptos Display"/>
                <a:cs typeface="Aptos Display"/>
              </a:defRPr>
            </a:pPr>
            <a:r>
              <a:rPr sz="1950" b="1">
                <a:solidFill>
                  <a:srgbClr val="102B34"/>
                </a:solidFill>
                <a:latin typeface="Aptos Display"/>
                <a:ea typeface="Aptos Display"/>
                <a:cs typeface="Aptos Display"/>
              </a:rPr>
              <a:t>1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907B0F43-7DCE-4D39-800D-DE51B46D0A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38300" y="5391150"/>
            <a:ext cx="192405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38" b="1">
                <a:solidFill>
                  <a:srgbClr val="0F5C6E"/>
                </a:solidFill>
                <a:latin typeface="Aptos"/>
                <a:ea typeface="Aptos"/>
                <a:cs typeface="Aptos"/>
              </a:defRPr>
            </a:pPr>
            <a:r>
              <a:rPr sz="638" b="1">
                <a:solidFill>
                  <a:srgbClr val="0F5C6E"/>
                </a:solidFill>
                <a:latin typeface="Aptos"/>
                <a:ea typeface="Aptos"/>
                <a:cs typeface="Aptos"/>
              </a:rPr>
              <a:t>İLK ODAK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B66969BF-9E7D-465F-935E-C3A179E5B3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38300" y="5562600"/>
            <a:ext cx="19240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90" b="0">
                <a:solidFill>
                  <a:srgbClr val="5D6A70"/>
                </a:solidFill>
                <a:latin typeface="Aptos"/>
                <a:ea typeface="Aptos"/>
                <a:cs typeface="Aptos"/>
              </a:defRPr>
            </a:pPr>
            <a:r>
              <a:rPr sz="690" b="0">
                <a:solidFill>
                  <a:srgbClr val="5D6A70"/>
                </a:solidFill>
                <a:latin typeface="Aptos"/>
                <a:ea typeface="Aptos"/>
                <a:cs typeface="Aptos"/>
              </a:rPr>
              <a:t>Modern klinik/hastane ve mevcut V1 kullanıcıları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08655A69-3635-49B1-9DA3-6F66BEBEC3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19550" y="5048250"/>
            <a:ext cx="381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E7D6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7774CDEF-7943-4280-BF57-5FF4DD7226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0" y="5010150"/>
            <a:ext cx="192405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102B34"/>
                </a:solidFill>
                <a:latin typeface="Aptos Display"/>
                <a:ea typeface="Aptos Display"/>
                <a:cs typeface="Aptos Display"/>
              </a:defRPr>
            </a:pPr>
            <a:r>
              <a:rPr sz="1950" b="1">
                <a:solidFill>
                  <a:srgbClr val="102B34"/>
                </a:solidFill>
                <a:latin typeface="Aptos Display"/>
                <a:ea typeface="Aptos Display"/>
                <a:cs typeface="Aptos Display"/>
              </a:rPr>
              <a:t>2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C7F4F13E-5656-4EC7-9D35-1650C1A81F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0" y="5391150"/>
            <a:ext cx="192405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38" b="1">
                <a:solidFill>
                  <a:srgbClr val="2E7D6B"/>
                </a:solidFill>
                <a:latin typeface="Aptos"/>
                <a:ea typeface="Aptos"/>
                <a:cs typeface="Aptos"/>
              </a:defRPr>
            </a:pPr>
            <a:r>
              <a:rPr sz="638" b="1">
                <a:solidFill>
                  <a:srgbClr val="2E7D6B"/>
                </a:solidFill>
                <a:latin typeface="Aptos"/>
                <a:ea typeface="Aptos"/>
                <a:cs typeface="Aptos"/>
              </a:rPr>
              <a:t>İKINCI HALKA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364EF7FA-C9E6-4941-9522-0AD86F13CE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0" y="5562600"/>
            <a:ext cx="19240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90" b="0">
                <a:solidFill>
                  <a:srgbClr val="5D6A70"/>
                </a:solidFill>
                <a:latin typeface="Aptos"/>
                <a:ea typeface="Aptos"/>
                <a:cs typeface="Aptos"/>
              </a:defRPr>
            </a:pPr>
            <a:r>
              <a:rPr sz="690" b="0">
                <a:solidFill>
                  <a:srgbClr val="5D6A70"/>
                </a:solidFill>
                <a:latin typeface="Aptos"/>
                <a:ea typeface="Aptos"/>
                <a:cs typeface="Aptos"/>
              </a:rPr>
              <a:t>Yetiştiricilik ve yüksek hacimli bakım merkezleri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84EB1ED8-E6CD-41D5-BDC5-86C4932E20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5048250"/>
            <a:ext cx="381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902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F5F110D5-CFD5-4810-B29A-468ECF3119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43700" y="5010150"/>
            <a:ext cx="192405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102B34"/>
                </a:solidFill>
                <a:latin typeface="Aptos Display"/>
                <a:ea typeface="Aptos Display"/>
                <a:cs typeface="Aptos Display"/>
              </a:defRPr>
            </a:pPr>
            <a:r>
              <a:rPr sz="1950" b="1">
                <a:solidFill>
                  <a:srgbClr val="102B34"/>
                </a:solidFill>
                <a:latin typeface="Aptos Display"/>
                <a:ea typeface="Aptos Display"/>
                <a:cs typeface="Aptos Display"/>
              </a:rPr>
              <a:t>3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BC7F0BDF-BE6F-4E86-8FD0-C60B6321E3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43700" y="5391150"/>
            <a:ext cx="192405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38" b="1">
                <a:solidFill>
                  <a:srgbClr val="C9902E"/>
                </a:solidFill>
                <a:latin typeface="Aptos"/>
                <a:ea typeface="Aptos"/>
                <a:cs typeface="Aptos"/>
              </a:defRPr>
            </a:pPr>
            <a:r>
              <a:rPr sz="638" b="1">
                <a:solidFill>
                  <a:srgbClr val="C9902E"/>
                </a:solidFill>
                <a:latin typeface="Aptos"/>
                <a:ea typeface="Aptos"/>
                <a:cs typeface="Aptos"/>
              </a:rPr>
              <a:t>AÇIK ALAN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633CD2E5-A552-423B-BEB6-361FA2B15F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43700" y="5562600"/>
            <a:ext cx="19240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90" b="0">
                <a:solidFill>
                  <a:srgbClr val="5D6A70"/>
                </a:solidFill>
                <a:latin typeface="Aptos"/>
                <a:ea typeface="Aptos"/>
                <a:cs typeface="Aptos"/>
              </a:defRPr>
            </a:pPr>
            <a:r>
              <a:rPr sz="690" b="0">
                <a:solidFill>
                  <a:srgbClr val="5D6A70"/>
                </a:solidFill>
                <a:latin typeface="Aptos"/>
                <a:ea typeface="Aptos"/>
                <a:cs typeface="Aptos"/>
              </a:rPr>
              <a:t>Transport/portatif kuvöz ve rehabilitasyon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3089CC24-1115-4008-A3BF-F1C4B1EFAA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5076825"/>
            <a:ext cx="18097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10" b="1">
                <a:solidFill>
                  <a:srgbClr val="102B34"/>
                </a:solidFill>
                <a:latin typeface="Aptos"/>
                <a:ea typeface="Aptos"/>
                <a:cs typeface="Aptos"/>
              </a:defRPr>
            </a:pPr>
            <a:r>
              <a:rPr sz="810" b="1">
                <a:solidFill>
                  <a:srgbClr val="102B34"/>
                </a:solidFill>
                <a:latin typeface="Aptos"/>
                <a:ea typeface="Aptos"/>
                <a:cs typeface="Aptos"/>
              </a:rPr>
              <a:t>GTM yorumu: İlk satış hunisi tüm pazar değil; Vetmarketi’nin ulaşabildiği yüksek bakım ihtiyacı olan segment olmalı.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5F0C804D-96AD-453F-AA9A-F68EB30D05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24600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BD4D1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3997CEC5-D124-493A-A8AF-EE5E86C621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48425"/>
            <a:ext cx="942975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38" b="0">
                <a:solidFill>
                  <a:srgbClr val="5D6A70"/>
                </a:solidFill>
                <a:latin typeface="Aptos"/>
                <a:ea typeface="Aptos"/>
                <a:cs typeface="Aptos"/>
              </a:defRPr>
            </a:pPr>
            <a:r>
              <a:rPr sz="638" b="0">
                <a:solidFill>
                  <a:srgbClr val="5D6A70"/>
                </a:solidFill>
                <a:latin typeface="Aptos"/>
                <a:ea typeface="Aptos"/>
                <a:cs typeface="Aptos"/>
              </a:rPr>
              <a:t>Kaynak: Kullanıcı pazar notu + Kuvoz 3.0 pazar analizi</a:t>
            </a:r>
          </a:p>
        </p:txBody>
      </p:sp>
    </p:spTree>
    <p:extLst>
      <p:ext uri="{BB962C8B-B14F-4D97-AF65-F5344CB8AC3E}">
        <p14:creationId xmlns:p14="http://schemas.microsoft.com/office/powerpoint/2010/main" val="1314622088"/>
      </p:ext>
    </p:extLst>
  </p:cSld>
</p:sld>
</file>

<file path=ppt/slides/slide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342990F0-DDC5-4F6A-B9A5-1A41F6515B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5E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222E267-015A-481E-9FBA-9479B093F9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5C6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pic>
        <p:nvPicPr>
          <p:cNvPr id="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38f72956bdc4e99"/>
          <a:stretch xmlns:a="http://schemas.openxmlformats.org/drawingml/2006/main"/>
        </p:blipFill>
        <p:spPr>
          <a:xfrm xmlns:a="http://schemas.openxmlformats.org/drawingml/2006/main">
            <a:off x="10610850" y="323850"/>
            <a:ext cx="609600" cy="609600"/>
          </a:xfrm>
          <a:prstGeom xmlns:a="http://schemas.openxmlformats.org/drawingml/2006/main" prst="rect">
            <a:avLst/>
          </a:prstGeom>
        </p:spPr>
      </p:pic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845F227-1AA7-4A06-9F57-46FAAF1C6D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0050"/>
            <a:ext cx="4381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0F5C6E"/>
                </a:solidFill>
                <a:latin typeface="Aptos"/>
                <a:ea typeface="Aptos"/>
                <a:cs typeface="Aptos"/>
              </a:defRPr>
            </a:pPr>
            <a:r>
              <a:rPr sz="750" b="1">
                <a:solidFill>
                  <a:srgbClr val="0F5C6E"/>
                </a:solidFill>
                <a:latin typeface="Aptos"/>
                <a:ea typeface="Aptos"/>
                <a:cs typeface="Aptos"/>
              </a:rPr>
              <a:t>SEKTÖR BEKLENTILERI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A6DD0E5-E9C1-464B-B57F-C7EB2FDAF5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82375" y="476250"/>
            <a:ext cx="4000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5D6A70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5D6A70"/>
                </a:solidFill>
                <a:latin typeface="Aptos"/>
                <a:ea typeface="Aptos"/>
                <a:cs typeface="Aptos"/>
              </a:rPr>
              <a:t>03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5520F19-1ABC-4717-82C9-14CEBDFFFC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81050"/>
            <a:ext cx="3429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0F5C6E"/>
                </a:solidFill>
                <a:latin typeface="Aptos"/>
                <a:ea typeface="Aptos"/>
                <a:cs typeface="Aptos"/>
              </a:defRPr>
            </a:pPr>
            <a:r>
              <a:rPr sz="750" b="1">
                <a:solidFill>
                  <a:srgbClr val="0F5C6E"/>
                </a:solidFill>
                <a:latin typeface="Aptos"/>
                <a:ea typeface="Aptos"/>
                <a:cs typeface="Aptos"/>
              </a:rPr>
              <a:t>ÜRÜN GEREKSINIMI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9E5875D-F256-4652-A958-2568FB1A89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047750"/>
            <a:ext cx="8858250" cy="78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102B34"/>
                </a:solidFill>
                <a:latin typeface="Aptos Display"/>
                <a:ea typeface="Aptos Display"/>
                <a:cs typeface="Aptos Display"/>
              </a:defRPr>
            </a:pPr>
            <a:r>
              <a:rPr sz="2250" b="1">
                <a:solidFill>
                  <a:srgbClr val="102B34"/>
                </a:solidFill>
                <a:latin typeface="Aptos Display"/>
                <a:ea typeface="Aptos Display"/>
                <a:cs typeface="Aptos Display"/>
              </a:rPr>
              <a:t>Beklenti artık sadece sıcak kabin değil; oksijen, hijyen, UPS ve akıllı izleme birlikte isteniyor.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B08A449-DFFB-40B8-B2A1-C5D8EBC0C8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85950"/>
            <a:ext cx="8763000" cy="428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23" b="0">
                <a:solidFill>
                  <a:srgbClr val="5D6A70"/>
                </a:solidFill>
                <a:latin typeface="Aptos"/>
                <a:ea typeface="Aptos"/>
                <a:cs typeface="Aptos"/>
              </a:defRPr>
            </a:pPr>
            <a:r>
              <a:rPr sz="923" b="0">
                <a:solidFill>
                  <a:srgbClr val="5D6A70"/>
                </a:solidFill>
                <a:latin typeface="Aptos"/>
                <a:ea typeface="Aptos"/>
                <a:cs typeface="Aptos"/>
              </a:rPr>
              <a:t>Bu beklenti Kuvoz 3.0’ın yazılım, sensör, alarm ve servis katmanını pazarın gerçek talebiyle hizalıyor.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9BB06BF-6C33-478C-BFA0-4D1A4C9D62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324100"/>
            <a:ext cx="2952750" cy="1104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4D1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C6329F8-DB52-4727-A4B4-9E272A0119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324100"/>
            <a:ext cx="47625" cy="1104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5C6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1B2953A-2B5C-4AFF-B6C8-FC26E6849B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2476500"/>
            <a:ext cx="26289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102B34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102B34"/>
                </a:solidFill>
                <a:latin typeface="Aptos"/>
                <a:ea typeface="Aptos"/>
                <a:cs typeface="Aptos"/>
              </a:rPr>
              <a:t>Oksijen + nebülizasyon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F2DBF12-F6E9-4A3F-B176-7561B37D94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2743200"/>
            <a:ext cx="2628900" cy="5810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65" b="0">
                <a:solidFill>
                  <a:srgbClr val="5D6A70"/>
                </a:solidFill>
                <a:latin typeface="Aptos"/>
                <a:ea typeface="Aptos"/>
                <a:cs typeface="Aptos"/>
              </a:defRPr>
            </a:pPr>
            <a:r>
              <a:rPr sz="765" b="0">
                <a:solidFill>
                  <a:srgbClr val="5D6A70"/>
                </a:solidFill>
                <a:latin typeface="Aptos"/>
                <a:ea typeface="Aptos"/>
                <a:cs typeface="Aptos"/>
              </a:rPr>
              <a:t>Solunum sıkıntısı olan hastalarda hassas oksijen takibi ve ilaç uygulama iş akışı.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4850B5D-26F9-4919-B560-F8A298DC0A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9600" y="2324100"/>
            <a:ext cx="2952750" cy="1104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4D1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0091530-D6FE-4871-8274-D199A4366A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9600" y="2324100"/>
            <a:ext cx="47625" cy="1104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E7D6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832A6AF-07F1-4212-B3EB-5078324F7B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91050" y="2476500"/>
            <a:ext cx="26289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102B34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102B34"/>
                </a:solidFill>
                <a:latin typeface="Aptos"/>
                <a:ea typeface="Aptos"/>
                <a:cs typeface="Aptos"/>
              </a:rPr>
              <a:t>Enerji + UPS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618473F8-F743-4708-B90D-E9B254AB11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91050" y="2743200"/>
            <a:ext cx="2628900" cy="5810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65" b="0">
                <a:solidFill>
                  <a:srgbClr val="5D6A70"/>
                </a:solidFill>
                <a:latin typeface="Aptos"/>
                <a:ea typeface="Aptos"/>
                <a:cs typeface="Aptos"/>
              </a:defRPr>
            </a:pPr>
            <a:r>
              <a:rPr sz="765" b="0">
                <a:solidFill>
                  <a:srgbClr val="5D6A70"/>
                </a:solidFill>
                <a:latin typeface="Aptos"/>
                <a:ea typeface="Aptos"/>
                <a:cs typeface="Aptos"/>
              </a:rPr>
              <a:t>Enerji maliyeti ve kesinti riski nedeniyle düşük tüketim ve güvenli yeniden başlama.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BA096770-E5D7-470C-90F3-C259BBB805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2324100"/>
            <a:ext cx="2952750" cy="1104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4D1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CEDAD278-4917-4790-BB75-E82ADECE22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2324100"/>
            <a:ext cx="47625" cy="1104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902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12DA573A-4A7D-400F-AEA3-3D1386AFF1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34350" y="2476500"/>
            <a:ext cx="26289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102B34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102B34"/>
                </a:solidFill>
                <a:latin typeface="Aptos"/>
                <a:ea typeface="Aptos"/>
                <a:cs typeface="Aptos"/>
              </a:rPr>
              <a:t>Hijyen + sterilizasyon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9FF0D206-6620-430A-9C1B-CA4B712EC8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34350" y="2743200"/>
            <a:ext cx="2628900" cy="5810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65" b="0">
                <a:solidFill>
                  <a:srgbClr val="5D6A70"/>
                </a:solidFill>
                <a:latin typeface="Aptos"/>
                <a:ea typeface="Aptos"/>
                <a:cs typeface="Aptos"/>
              </a:defRPr>
            </a:pPr>
            <a:r>
              <a:rPr sz="765" b="0">
                <a:solidFill>
                  <a:srgbClr val="5D6A70"/>
                </a:solidFill>
                <a:latin typeface="Aptos"/>
                <a:ea typeface="Aptos"/>
                <a:cs typeface="Aptos"/>
              </a:rPr>
              <a:t>Kolay dezenfeksiyon, köşesiz iç tasarım, UV/ozon için hasta güvenliği kilidi.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7C0E3766-791D-4A83-AE36-BB5B6A1ADD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4095750"/>
            <a:ext cx="2952750" cy="1104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4D1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EF124128-7B27-4167-96BE-CC85DAC41F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4095750"/>
            <a:ext cx="47625" cy="1104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8AFC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A9EC806B-4B96-4E44-B04C-8CD6C7BD42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4248150"/>
            <a:ext cx="26289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102B34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102B34"/>
                </a:solidFill>
                <a:latin typeface="Aptos"/>
                <a:ea typeface="Aptos"/>
                <a:cs typeface="Aptos"/>
              </a:rPr>
              <a:t>Yerli servis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B91EF1EE-CA9E-4858-AC43-3BFE8C97D2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4514850"/>
            <a:ext cx="2628900" cy="5810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65" b="0">
                <a:solidFill>
                  <a:srgbClr val="5D6A70"/>
                </a:solidFill>
                <a:latin typeface="Aptos"/>
                <a:ea typeface="Aptos"/>
                <a:cs typeface="Aptos"/>
              </a:defRPr>
            </a:pPr>
            <a:r>
              <a:rPr sz="765" b="0">
                <a:solidFill>
                  <a:srgbClr val="5D6A70"/>
                </a:solidFill>
                <a:latin typeface="Aptos"/>
                <a:ea typeface="Aptos"/>
                <a:cs typeface="Aptos"/>
              </a:rPr>
              <a:t>İthal ürünlerdeki yedek parça/servis maliyetine karşı hızlı ve uygun yerli destek.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BB0821D3-A462-48FB-9BA0-CFF89E7747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9600" y="4095750"/>
            <a:ext cx="2952750" cy="1104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4D1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21476974-2807-479A-BBE6-751BB1C300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9600" y="4095750"/>
            <a:ext cx="47625" cy="1104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54B4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A0B50CAF-24CF-4304-822D-9128AFFD9D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91050" y="4248150"/>
            <a:ext cx="26289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102B34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102B34"/>
                </a:solidFill>
                <a:latin typeface="Aptos"/>
                <a:ea typeface="Aptos"/>
                <a:cs typeface="Aptos"/>
              </a:rPr>
              <a:t>Akıllı takip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42F28DC0-EF8D-4B85-BBC4-3B5F3D9345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91050" y="4514850"/>
            <a:ext cx="2628900" cy="5810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65" b="0">
                <a:solidFill>
                  <a:srgbClr val="5D6A70"/>
                </a:solidFill>
                <a:latin typeface="Aptos"/>
                <a:ea typeface="Aptos"/>
                <a:cs typeface="Aptos"/>
              </a:defRPr>
            </a:pPr>
            <a:r>
              <a:rPr sz="765" b="0">
                <a:solidFill>
                  <a:srgbClr val="5D6A70"/>
                </a:solidFill>
                <a:latin typeface="Aptos"/>
                <a:ea typeface="Aptos"/>
                <a:cs typeface="Aptos"/>
              </a:rPr>
              <a:t>Mobil/web izleme, kayıt, alarm, AI destekli trend ve erken uyarı beklentisi.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58FC438D-EFB2-4F2A-8319-CF6ADE610B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9600" y="4095750"/>
            <a:ext cx="2952750" cy="1104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252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8C962341-AEAB-4F95-8841-8CA020092D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48200" y="4286250"/>
            <a:ext cx="23812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Kuvoz 3.0 yorumu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0647EAC1-31AB-45C2-B3DC-B9D72917A0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48200" y="4552950"/>
            <a:ext cx="2381250" cy="428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88" b="0">
                <a:solidFill>
                  <a:srgbClr val="CFE1E5"/>
                </a:solidFill>
                <a:latin typeface="Aptos"/>
                <a:ea typeface="Aptos"/>
                <a:cs typeface="Aptos"/>
              </a:defRPr>
            </a:pPr>
            <a:r>
              <a:rPr sz="788" b="0">
                <a:solidFill>
                  <a:srgbClr val="CFE1E5"/>
                </a:solidFill>
                <a:latin typeface="Aptos"/>
                <a:ea typeface="Aptos"/>
                <a:cs typeface="Aptos"/>
              </a:rPr>
              <a:t>Rakiple fark donanım listesinde değil; kayıt, uzaktan servis, güvenlik kilidi ve klinik kullanım verisinde kurulmalı.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0530B7EC-F88E-4561-B3BC-9449779901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5619750"/>
            <a:ext cx="104394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0F5C6E"/>
            </a:solidFill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38C88518-E181-4DE3-BD4D-035AC7BCEA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5734050"/>
            <a:ext cx="99060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38" b="1">
                <a:solidFill>
                  <a:srgbClr val="102B34"/>
                </a:solidFill>
                <a:latin typeface="Aptos"/>
                <a:ea typeface="Aptos"/>
                <a:cs typeface="Aptos"/>
              </a:defRPr>
            </a:pPr>
            <a:r>
              <a:rPr sz="938" b="1">
                <a:solidFill>
                  <a:srgbClr val="102B34"/>
                </a:solidFill>
                <a:latin typeface="Aptos"/>
                <a:ea typeface="Aptos"/>
                <a:cs typeface="Aptos"/>
              </a:rPr>
              <a:t>Sonuç: Ürün sayfası “kuvöz özellikleri” değil, klinik güvenliği ve bakım sürekliliği hikayesi anlatmalı.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BEFBAEF7-C527-4BA7-B9FC-7C2BA55C00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24600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BD4D1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0F819AB9-A31F-4C9D-9863-BF7492BDC0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48425"/>
            <a:ext cx="942975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38" b="0">
                <a:solidFill>
                  <a:srgbClr val="5D6A70"/>
                </a:solidFill>
                <a:latin typeface="Aptos"/>
                <a:ea typeface="Aptos"/>
                <a:cs typeface="Aptos"/>
              </a:defRPr>
            </a:pPr>
            <a:r>
              <a:rPr sz="638" b="0">
                <a:solidFill>
                  <a:srgbClr val="5D6A70"/>
                </a:solidFill>
                <a:latin typeface="Aptos"/>
                <a:ea typeface="Aptos"/>
                <a:cs typeface="Aptos"/>
              </a:rPr>
              <a:t>Kaynak: Kullanıcı pazar notu + Kuvoz 3.0 ürün mimarisi</a:t>
            </a:r>
          </a:p>
        </p:txBody>
      </p:sp>
    </p:spTree>
    <p:extLst>
      <p:ext uri="{BB962C8B-B14F-4D97-AF65-F5344CB8AC3E}">
        <p14:creationId xmlns:p14="http://schemas.microsoft.com/office/powerpoint/2010/main" val="1443078586"/>
      </p:ext>
    </p:extLst>
  </p:cSld>
</p:sld>
</file>

<file path=ppt/slides/slide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C0EE9DEA-470C-42EE-9171-A1E2270C6E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5E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02776A6-143D-451A-A187-6B76FB33DE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5C6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pic>
        <p:nvPicPr>
          <p:cNvPr id="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c686b46929844e6"/>
          <a:stretch xmlns:a="http://schemas.openxmlformats.org/drawingml/2006/main"/>
        </p:blipFill>
        <p:spPr>
          <a:xfrm xmlns:a="http://schemas.openxmlformats.org/drawingml/2006/main">
            <a:off x="10610850" y="323850"/>
            <a:ext cx="609600" cy="609600"/>
          </a:xfrm>
          <a:prstGeom xmlns:a="http://schemas.openxmlformats.org/drawingml/2006/main" prst="rect">
            <a:avLst/>
          </a:prstGeom>
        </p:spPr>
      </p:pic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DC16F5A-37A8-437F-873C-030B3F01D2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0050"/>
            <a:ext cx="4381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0F5C6E"/>
                </a:solidFill>
                <a:latin typeface="Aptos"/>
                <a:ea typeface="Aptos"/>
                <a:cs typeface="Aptos"/>
              </a:defRPr>
            </a:pPr>
            <a:r>
              <a:rPr sz="750" b="1">
                <a:solidFill>
                  <a:srgbClr val="0F5C6E"/>
                </a:solidFill>
                <a:latin typeface="Aptos"/>
                <a:ea typeface="Aptos"/>
                <a:cs typeface="Aptos"/>
              </a:rPr>
              <a:t>STRATEJI DEĞIŞIMI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9A5B82B-FE6F-4516-AE9B-54CA99A391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82375" y="476250"/>
            <a:ext cx="4000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5D6A70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5D6A70"/>
                </a:solidFill>
                <a:latin typeface="Aptos"/>
                <a:ea typeface="Aptos"/>
                <a:cs typeface="Aptos"/>
              </a:rPr>
              <a:t>04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26F225F-EB6F-4228-8808-26C12263B4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81050"/>
            <a:ext cx="3429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0F5C6E"/>
                </a:solidFill>
                <a:latin typeface="Aptos"/>
                <a:ea typeface="Aptos"/>
                <a:cs typeface="Aptos"/>
              </a:defRPr>
            </a:pPr>
            <a:r>
              <a:rPr sz="750" b="1">
                <a:solidFill>
                  <a:srgbClr val="0F5C6E"/>
                </a:solidFill>
                <a:latin typeface="Aptos"/>
                <a:ea typeface="Aptos"/>
                <a:cs typeface="Aptos"/>
              </a:rPr>
              <a:t>PIVOT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D5143EC-68B0-447F-9E72-21A575D674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047750"/>
            <a:ext cx="8858250" cy="78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325" b="1">
                <a:solidFill>
                  <a:srgbClr val="102B34"/>
                </a:solidFill>
                <a:latin typeface="Aptos Display"/>
                <a:ea typeface="Aptos Display"/>
                <a:cs typeface="Aptos Display"/>
              </a:defRPr>
            </a:pPr>
            <a:r>
              <a:rPr sz="2325" b="1">
                <a:solidFill>
                  <a:srgbClr val="102B34"/>
                </a:solidFill>
                <a:latin typeface="Aptos Display"/>
                <a:ea typeface="Aptos Display"/>
                <a:cs typeface="Aptos Display"/>
              </a:rPr>
              <a:t>Risk, yeni şirket kurarak değil; mevcut kanalı kullanarak azaltılmalı.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D2D22E1-09A4-4A82-8B4E-C7F180E1FC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85950"/>
            <a:ext cx="8763000" cy="428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23" b="0">
                <a:solidFill>
                  <a:srgbClr val="5D6A70"/>
                </a:solidFill>
                <a:latin typeface="Aptos"/>
                <a:ea typeface="Aptos"/>
                <a:cs typeface="Aptos"/>
              </a:defRPr>
            </a:pPr>
            <a:r>
              <a:rPr sz="923" b="0">
                <a:solidFill>
                  <a:srgbClr val="5D6A70"/>
                </a:solidFill>
                <a:latin typeface="Aptos"/>
                <a:ea typeface="Aptos"/>
                <a:cs typeface="Aptos"/>
              </a:rPr>
              <a:t>Vetmarketi ticari olarak var olduğu için ilk hedef yatırım turu değil, eski müşteri tabanında ücretli doğrulama olmalı.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97BCDD1-A5A4-48D6-A7C1-B548DFB414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286000"/>
            <a:ext cx="4619625" cy="2667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4D1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2E5DC24-C7B0-4C59-BA30-A75C6752F4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286000"/>
            <a:ext cx="4619625" cy="428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6ECE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E70575E-2422-4038-BF2A-2755FAAC04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2409825"/>
            <a:ext cx="28575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5D6A70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5D6A70"/>
                </a:solidFill>
                <a:latin typeface="Aptos"/>
                <a:ea typeface="Aptos"/>
                <a:cs typeface="Aptos"/>
              </a:rPr>
              <a:t>Önceki yaklaşım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FE05BAD-A606-4BC5-B65C-139194EF21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2952750"/>
            <a:ext cx="361950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02B34"/>
                </a:solidFill>
                <a:latin typeface="Aptos Display"/>
                <a:ea typeface="Aptos Display"/>
                <a:cs typeface="Aptos Display"/>
              </a:defRPr>
            </a:pPr>
            <a:r>
              <a:rPr sz="1800" b="1">
                <a:solidFill>
                  <a:srgbClr val="102B34"/>
                </a:solidFill>
                <a:latin typeface="Aptos Display"/>
                <a:ea typeface="Aptos Display"/>
                <a:cs typeface="Aptos Display"/>
              </a:rPr>
              <a:t>Yeni Kuvoz Teknoloji A.Ş. + Teknopark + yatırım arayışı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C622080-D273-4CF2-9E05-BD5A38748A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790950"/>
            <a:ext cx="371475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5D6A70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5D6A70"/>
                </a:solidFill>
                <a:latin typeface="Aptos"/>
                <a:ea typeface="Aptos"/>
                <a:cs typeface="Aptos"/>
              </a:rPr>
              <a:t>Daha temiz yatırım yapısı sağlar; ancak müşteri, operasyon ve nakit riski daha erken doğar.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9D327B3-8C1B-4956-A42B-7B2EB5080A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514850"/>
            <a:ext cx="81915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75" b="1">
                <a:solidFill>
                  <a:srgbClr val="B54B45"/>
                </a:solidFill>
                <a:latin typeface="Aptos"/>
                <a:ea typeface="Aptos"/>
                <a:cs typeface="Aptos"/>
              </a:defRPr>
            </a:pPr>
            <a:r>
              <a:rPr sz="675" b="1">
                <a:solidFill>
                  <a:srgbClr val="B54B45"/>
                </a:solidFill>
                <a:latin typeface="Aptos"/>
                <a:ea typeface="Aptos"/>
                <a:cs typeface="Aptos"/>
              </a:rPr>
              <a:t>Ne zaman?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AC5DDD0-24F3-4D00-988E-5172D56596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52625" y="4514850"/>
            <a:ext cx="29527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5D6A70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5D6A70"/>
                </a:solidFill>
                <a:latin typeface="Aptos"/>
                <a:ea typeface="Aptos"/>
                <a:cs typeface="Aptos"/>
              </a:rPr>
              <a:t>Satış verisi, SaaS ihtiyacı veya yatırım gereği netleşince.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CD8DEC56-3356-4FAF-A59B-303A9913FC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15050" y="2095500"/>
            <a:ext cx="4619625" cy="304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252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42C65D63-A5B4-405B-A6B1-386D710FE2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15050" y="2095500"/>
            <a:ext cx="4619625" cy="428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5C6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DC1D5AE4-EFED-4F62-A82D-C903CC1411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43650" y="2219325"/>
            <a:ext cx="28575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Revize yaklaşım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B11D595C-54ED-445D-8065-29FA2E2FCD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43650" y="2809875"/>
            <a:ext cx="3619500" cy="723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defRPr>
            </a:pPr>
            <a:r>
              <a:rPr sz="1875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rPr>
              <a:t>Vetmarketi içinde ürün hattı + V1 müşteri tabanı + ücretli pilot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B831CDAC-61C7-4746-B64C-155A8712AD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43650" y="3810000"/>
            <a:ext cx="36957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15" b="0">
                <a:solidFill>
                  <a:srgbClr val="CFE1E5"/>
                </a:solidFill>
                <a:latin typeface="Aptos"/>
                <a:ea typeface="Aptos"/>
                <a:cs typeface="Aptos"/>
              </a:defRPr>
            </a:pPr>
            <a:r>
              <a:rPr sz="915" b="0">
                <a:solidFill>
                  <a:srgbClr val="CFE1E5"/>
                </a:solidFill>
                <a:latin typeface="Aptos"/>
                <a:ea typeface="Aptos"/>
                <a:cs typeface="Aptos"/>
              </a:rPr>
              <a:t>Mevcut marka, faturalama, müşteri ilişkisi ve saha geçmişi ilk 12 ayda sermaye ihtiyacını düşürür.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2EEC94ED-321B-47CB-A229-335B2116CF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43650" y="4629150"/>
            <a:ext cx="116205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75" b="1">
                <a:solidFill>
                  <a:srgbClr val="58AFC4"/>
                </a:solidFill>
                <a:latin typeface="Aptos"/>
                <a:ea typeface="Aptos"/>
                <a:cs typeface="Aptos"/>
              </a:defRPr>
            </a:pPr>
            <a:r>
              <a:rPr sz="675" b="1">
                <a:solidFill>
                  <a:srgbClr val="58AFC4"/>
                </a:solidFill>
                <a:latin typeface="Aptos"/>
                <a:ea typeface="Aptos"/>
                <a:cs typeface="Aptos"/>
              </a:rPr>
              <a:t>Ne zaman ayrışır?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64E978D2-D4CF-4934-B8BF-4322238B7A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72375" y="4629150"/>
            <a:ext cx="28575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CFE1E5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CFE1E5"/>
                </a:solidFill>
                <a:latin typeface="Aptos"/>
                <a:ea typeface="Aptos"/>
                <a:cs typeface="Aptos"/>
              </a:rPr>
              <a:t>15+ ödeme, servis verisi ve ikinci yıl büyüme ihtiyacı oluşunca.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1A7068D8-B206-47C7-91A5-9C435F2428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5562600"/>
            <a:ext cx="247650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4D1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7AE694EE-2136-446C-97E3-34D10F2750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5562600"/>
            <a:ext cx="47625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5C6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20BF330C-DBD6-4821-8BB4-17366E0D1C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00200" y="5715000"/>
            <a:ext cx="21526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102B34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102B34"/>
                </a:solidFill>
                <a:latin typeface="Aptos"/>
                <a:ea typeface="Aptos"/>
                <a:cs typeface="Aptos"/>
              </a:rPr>
              <a:t>Şirket riski azalır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77E1A44B-DCBC-4DC0-98D3-31E6514DC3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00200" y="5981700"/>
            <a:ext cx="2152650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65" b="0">
                <a:solidFill>
                  <a:srgbClr val="5D6A70"/>
                </a:solidFill>
                <a:latin typeface="Aptos"/>
                <a:ea typeface="Aptos"/>
                <a:cs typeface="Aptos"/>
              </a:defRPr>
            </a:pPr>
            <a:r>
              <a:rPr sz="765" b="0">
                <a:solidFill>
                  <a:srgbClr val="5D6A70"/>
                </a:solidFill>
                <a:latin typeface="Aptos"/>
                <a:ea typeface="Aptos"/>
                <a:cs typeface="Aptos"/>
              </a:rPr>
              <a:t>Yeni operasyon, muhasebe ve yönetim yükü ertelenir.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516DC822-EDEA-481E-815A-7C253C2DE1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57750" y="5562600"/>
            <a:ext cx="247650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4D1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FA309B87-CDE7-4591-896E-8F5CF7D9DC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57750" y="5562600"/>
            <a:ext cx="47625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E7D6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E17703E8-816A-4996-9F36-53CD14C088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0" y="5715000"/>
            <a:ext cx="21526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102B34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102B34"/>
                </a:solidFill>
                <a:latin typeface="Aptos"/>
                <a:ea typeface="Aptos"/>
                <a:cs typeface="Aptos"/>
              </a:rPr>
              <a:t>Müşteri riski azalır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EFABEF6E-3DD1-4368-B99C-60B0A5DEC2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0" y="5981700"/>
            <a:ext cx="2152650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65" b="0">
                <a:solidFill>
                  <a:srgbClr val="5D6A70"/>
                </a:solidFill>
                <a:latin typeface="Aptos"/>
                <a:ea typeface="Aptos"/>
                <a:cs typeface="Aptos"/>
              </a:defRPr>
            </a:pPr>
            <a:r>
              <a:rPr sz="765" b="0">
                <a:solidFill>
                  <a:srgbClr val="5D6A70"/>
                </a:solidFill>
                <a:latin typeface="Aptos"/>
                <a:ea typeface="Aptos"/>
                <a:cs typeface="Aptos"/>
              </a:rPr>
              <a:t>İlk temaslar mevcut V1 kullanıcılarından başlar.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87A455DC-B402-427E-8FD1-22153BD0BB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5562600"/>
            <a:ext cx="247650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4D1"/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8E619CB4-8438-4CD3-AAC2-A26983C3A0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5562600"/>
            <a:ext cx="47625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902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5069F4E0-BCA4-44D2-9C33-C232B10BC7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58200" y="5715000"/>
            <a:ext cx="21526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102B34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102B34"/>
                </a:solidFill>
                <a:latin typeface="Aptos"/>
                <a:ea typeface="Aptos"/>
                <a:cs typeface="Aptos"/>
              </a:rPr>
              <a:t>Stok riski azalır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A1FCF1B1-AD6E-4334-ADD0-8828CC4F75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58200" y="5981700"/>
            <a:ext cx="2152650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65" b="0">
                <a:solidFill>
                  <a:srgbClr val="5D6A70"/>
                </a:solidFill>
                <a:latin typeface="Aptos"/>
                <a:ea typeface="Aptos"/>
                <a:cs typeface="Aptos"/>
              </a:defRPr>
            </a:pPr>
            <a:r>
              <a:rPr sz="765" b="0">
                <a:solidFill>
                  <a:srgbClr val="5D6A70"/>
                </a:solidFill>
                <a:latin typeface="Aptos"/>
                <a:ea typeface="Aptos"/>
                <a:cs typeface="Aptos"/>
              </a:rPr>
              <a:t>Ön ödeme ve siparişe yakın üretim uygulanır.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303D3CC6-5FF2-4114-B37E-84EE6C8FC0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24600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BD4D1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E6C38E75-DA13-4FF4-A3F2-AC801E3EFC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48425"/>
            <a:ext cx="942975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38" b="0">
                <a:solidFill>
                  <a:srgbClr val="5D6A70"/>
                </a:solidFill>
                <a:latin typeface="Aptos"/>
                <a:ea typeface="Aptos"/>
                <a:cs typeface="Aptos"/>
              </a:defRPr>
            </a:pPr>
            <a:r>
              <a:rPr sz="638" b="0">
                <a:solidFill>
                  <a:srgbClr val="5D6A70"/>
                </a:solidFill>
                <a:latin typeface="Aptos"/>
                <a:ea typeface="Aptos"/>
                <a:cs typeface="Aptos"/>
              </a:rPr>
              <a:t>Kaynak: Kuvoz 3.0 revize yol haritasi ve pazar notlari, 10 Mayis 2026</a:t>
            </a:r>
          </a:p>
        </p:txBody>
      </p:sp>
    </p:spTree>
    <p:extLst>
      <p:ext uri="{BB962C8B-B14F-4D97-AF65-F5344CB8AC3E}">
        <p14:creationId xmlns:p14="http://schemas.microsoft.com/office/powerpoint/2010/main" val="1567341705"/>
      </p:ext>
    </p:extLst>
  </p:cSld>
</p:sld>
</file>

<file path=ppt/slides/slide5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B622CAD5-36F4-4268-9566-121C48BDA2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5E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A37C060-4660-4E68-B438-5454FCAAE6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5C6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pic>
        <p:nvPicPr>
          <p:cNvPr id="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e47937e043741d2"/>
          <a:stretch xmlns:a="http://schemas.openxmlformats.org/drawingml/2006/main"/>
        </p:blipFill>
        <p:spPr>
          <a:xfrm xmlns:a="http://schemas.openxmlformats.org/drawingml/2006/main">
            <a:off x="10610850" y="323850"/>
            <a:ext cx="609600" cy="609600"/>
          </a:xfrm>
          <a:prstGeom xmlns:a="http://schemas.openxmlformats.org/drawingml/2006/main" prst="rect">
            <a:avLst/>
          </a:prstGeom>
        </p:spPr>
      </p:pic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BF8A304-8538-4F35-903D-6268110A4B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0050"/>
            <a:ext cx="4381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0F5C6E"/>
                </a:solidFill>
                <a:latin typeface="Aptos"/>
                <a:ea typeface="Aptos"/>
                <a:cs typeface="Aptos"/>
              </a:defRPr>
            </a:pPr>
            <a:r>
              <a:rPr sz="750" b="1">
                <a:solidFill>
                  <a:srgbClr val="0F5C6E"/>
                </a:solidFill>
                <a:latin typeface="Aptos"/>
                <a:ea typeface="Aptos"/>
                <a:cs typeface="Aptos"/>
              </a:rPr>
              <a:t>MEVCUT MÜŞTERI TABANI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9A16725-421E-4771-9B32-65CEE75B09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82375" y="476250"/>
            <a:ext cx="4000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5D6A70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5D6A70"/>
                </a:solidFill>
                <a:latin typeface="Aptos"/>
                <a:ea typeface="Aptos"/>
                <a:cs typeface="Aptos"/>
              </a:rPr>
              <a:t>05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71B6730-F034-4DEF-97EF-EF1A624F0E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81050"/>
            <a:ext cx="3429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0F5C6E"/>
                </a:solidFill>
                <a:latin typeface="Aptos"/>
                <a:ea typeface="Aptos"/>
                <a:cs typeface="Aptos"/>
              </a:defRPr>
            </a:pPr>
            <a:r>
              <a:rPr sz="750" b="1">
                <a:solidFill>
                  <a:srgbClr val="0F5C6E"/>
                </a:solidFill>
                <a:latin typeface="Aptos"/>
                <a:ea typeface="Aptos"/>
                <a:cs typeface="Aptos"/>
              </a:rPr>
              <a:t>CRM MOTORU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650B05E-1B65-4141-866D-4D1F5E78AF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047750"/>
            <a:ext cx="8858250" cy="78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325" b="1">
                <a:solidFill>
                  <a:srgbClr val="102B34"/>
                </a:solidFill>
                <a:latin typeface="Aptos Display"/>
                <a:ea typeface="Aptos Display"/>
                <a:cs typeface="Aptos Display"/>
              </a:defRPr>
            </a:pPr>
            <a:r>
              <a:rPr sz="2325" b="1">
                <a:solidFill>
                  <a:srgbClr val="102B34"/>
                </a:solidFill>
                <a:latin typeface="Aptos Display"/>
                <a:ea typeface="Aptos Display"/>
                <a:cs typeface="Aptos Display"/>
              </a:rPr>
              <a:t>Yaklaşık 100 V1 müşterisi, Kuvoz 3.0’ın ilk satış hunisidir.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E3200F9-61E4-477C-81F0-B91426C5EF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85950"/>
            <a:ext cx="8763000" cy="428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23" b="0">
                <a:solidFill>
                  <a:srgbClr val="5D6A70"/>
                </a:solidFill>
                <a:latin typeface="Aptos"/>
                <a:ea typeface="Aptos"/>
                <a:cs typeface="Aptos"/>
              </a:defRPr>
            </a:pPr>
            <a:r>
              <a:rPr sz="923" b="0">
                <a:solidFill>
                  <a:srgbClr val="5D6A70"/>
                </a:solidFill>
                <a:latin typeface="Aptos"/>
                <a:ea typeface="Aptos"/>
                <a:cs typeface="Aptos"/>
              </a:rPr>
              <a:t>Liste repo içine kopyalanmamalı; CRM’de tutulup segment, memnuniyet, servis ihtiyacı ve upgrade potansiyeline göre yönetilmelidir.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76125A3-B02A-465C-800D-5510EFF262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190750"/>
            <a:ext cx="5619750" cy="3429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4D1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10AEFED-1930-4149-A6B2-26DE63775A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2419350"/>
            <a:ext cx="34290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02B34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102B34"/>
                </a:solidFill>
                <a:latin typeface="Aptos"/>
                <a:ea typeface="Aptos"/>
                <a:cs typeface="Aptos"/>
              </a:rPr>
              <a:t>İlk 100 müşteri için hedef funnel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4400BA7-A79B-4B07-93E7-BA3DBD3079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2914650"/>
            <a:ext cx="1714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88" b="1">
                <a:solidFill>
                  <a:srgbClr val="102B34"/>
                </a:solidFill>
                <a:latin typeface="Aptos"/>
                <a:ea typeface="Aptos"/>
                <a:cs typeface="Aptos"/>
              </a:defRPr>
            </a:pPr>
            <a:r>
              <a:rPr sz="788" b="1">
                <a:solidFill>
                  <a:srgbClr val="102B34"/>
                </a:solidFill>
                <a:latin typeface="Aptos"/>
                <a:ea typeface="Aptos"/>
                <a:cs typeface="Aptos"/>
              </a:rPr>
              <a:t>Liste temizliği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8F2C8A3-26B0-43C5-85F5-BC9C695439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24175" y="2943225"/>
            <a:ext cx="2047875" cy="1047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DD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3266A28-B41E-4121-BABA-8CD4C2B285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24175" y="2943225"/>
            <a:ext cx="2047875" cy="1047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5C6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197DB42-1ED7-431A-9835-3C2C88E67A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86350" y="2905125"/>
            <a:ext cx="6477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788" b="1">
                <a:solidFill>
                  <a:srgbClr val="102B34"/>
                </a:solidFill>
                <a:latin typeface="Aptos"/>
                <a:ea typeface="Aptos"/>
                <a:cs typeface="Aptos"/>
              </a:defRPr>
            </a:pPr>
            <a:r>
              <a:rPr sz="788" b="1">
                <a:solidFill>
                  <a:srgbClr val="102B34"/>
                </a:solidFill>
                <a:latin typeface="Aptos"/>
                <a:ea typeface="Aptos"/>
                <a:cs typeface="Aptos"/>
              </a:rPr>
              <a:t>100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8E107D7-D99C-488C-8FAE-94B23040C5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3314700"/>
            <a:ext cx="1714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88" b="1">
                <a:solidFill>
                  <a:srgbClr val="102B34"/>
                </a:solidFill>
                <a:latin typeface="Aptos"/>
                <a:ea typeface="Aptos"/>
                <a:cs typeface="Aptos"/>
              </a:defRPr>
            </a:pPr>
            <a:r>
              <a:rPr sz="788" b="1">
                <a:solidFill>
                  <a:srgbClr val="102B34"/>
                </a:solidFill>
                <a:latin typeface="Aptos"/>
                <a:ea typeface="Aptos"/>
                <a:cs typeface="Aptos"/>
              </a:rPr>
              <a:t>Ulaşılabilen müşteri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1D553C13-15E6-4F66-BD97-8AC958536C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24175" y="3343275"/>
            <a:ext cx="2047875" cy="1047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DD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699F3D1B-8A5B-4AB5-858C-EEB73D84F5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24175" y="3343275"/>
            <a:ext cx="1392555" cy="1047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E7D6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E5D29EB8-E10C-4BD5-937B-B78B6A0A0B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86350" y="3305175"/>
            <a:ext cx="6477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788" b="1">
                <a:solidFill>
                  <a:srgbClr val="102B34"/>
                </a:solidFill>
                <a:latin typeface="Aptos"/>
                <a:ea typeface="Aptos"/>
                <a:cs typeface="Aptos"/>
              </a:defRPr>
            </a:pPr>
            <a:r>
              <a:rPr sz="788" b="1">
                <a:solidFill>
                  <a:srgbClr val="102B34"/>
                </a:solidFill>
                <a:latin typeface="Aptos"/>
                <a:ea typeface="Aptos"/>
                <a:cs typeface="Aptos"/>
              </a:rPr>
              <a:t>60-70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42D91AC1-117E-468A-94ED-6006269EAF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3714750"/>
            <a:ext cx="1714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88" b="1">
                <a:solidFill>
                  <a:srgbClr val="102B34"/>
                </a:solidFill>
                <a:latin typeface="Aptos"/>
                <a:ea typeface="Aptos"/>
                <a:cs typeface="Aptos"/>
              </a:defRPr>
            </a:pPr>
            <a:r>
              <a:rPr sz="788" b="1">
                <a:solidFill>
                  <a:srgbClr val="102B34"/>
                </a:solidFill>
                <a:latin typeface="Aptos"/>
                <a:ea typeface="Aptos"/>
                <a:cs typeface="Aptos"/>
              </a:rPr>
              <a:t>Memnuniyet/servis görüşmesi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8B443246-A38F-427A-A7F2-0236006532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24175" y="3743325"/>
            <a:ext cx="2047875" cy="1047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DD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2629EC09-5C84-4CD3-B4BB-02400D1C16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24175" y="3743325"/>
            <a:ext cx="982980" cy="1047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8AFC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FE2D30A1-655D-4B3F-8F14-B35A9D2502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86350" y="3705225"/>
            <a:ext cx="6477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788" b="1">
                <a:solidFill>
                  <a:srgbClr val="102B34"/>
                </a:solidFill>
                <a:latin typeface="Aptos"/>
                <a:ea typeface="Aptos"/>
                <a:cs typeface="Aptos"/>
              </a:defRPr>
            </a:pPr>
            <a:r>
              <a:rPr sz="788" b="1">
                <a:solidFill>
                  <a:srgbClr val="102B34"/>
                </a:solidFill>
                <a:latin typeface="Aptos"/>
                <a:ea typeface="Aptos"/>
                <a:cs typeface="Aptos"/>
              </a:rPr>
              <a:t>40-50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9B5EA76B-1829-4ABA-9524-C5D958AF29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4114800"/>
            <a:ext cx="1714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88" b="1">
                <a:solidFill>
                  <a:srgbClr val="102B34"/>
                </a:solidFill>
                <a:latin typeface="Aptos"/>
                <a:ea typeface="Aptos"/>
                <a:cs typeface="Aptos"/>
              </a:defRPr>
            </a:pPr>
            <a:r>
              <a:rPr sz="788" b="1">
                <a:solidFill>
                  <a:srgbClr val="102B34"/>
                </a:solidFill>
                <a:latin typeface="Aptos"/>
                <a:ea typeface="Aptos"/>
                <a:cs typeface="Aptos"/>
              </a:rPr>
              <a:t>Demo ilgisi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2157AB5C-7293-46EC-957B-4BF22729D9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24175" y="4143375"/>
            <a:ext cx="2047875" cy="1047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DD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50487C4F-9E53-401E-B89B-A0A53E1E35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24175" y="4143375"/>
            <a:ext cx="573405" cy="1047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902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CCC28A58-2373-47BD-8D08-D7E43431EB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86350" y="4105275"/>
            <a:ext cx="6477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788" b="1">
                <a:solidFill>
                  <a:srgbClr val="102B34"/>
                </a:solidFill>
                <a:latin typeface="Aptos"/>
                <a:ea typeface="Aptos"/>
                <a:cs typeface="Aptos"/>
              </a:defRPr>
            </a:pPr>
            <a:r>
              <a:rPr sz="788" b="1">
                <a:solidFill>
                  <a:srgbClr val="102B34"/>
                </a:solidFill>
                <a:latin typeface="Aptos"/>
                <a:ea typeface="Aptos"/>
                <a:cs typeface="Aptos"/>
              </a:rPr>
              <a:t>20-30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5699027B-3C48-41BC-954F-6E1EA812FB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4514850"/>
            <a:ext cx="1714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88" b="1">
                <a:solidFill>
                  <a:srgbClr val="102B34"/>
                </a:solidFill>
                <a:latin typeface="Aptos"/>
                <a:ea typeface="Aptos"/>
                <a:cs typeface="Aptos"/>
              </a:defRPr>
            </a:pPr>
            <a:r>
              <a:rPr sz="788" b="1">
                <a:solidFill>
                  <a:srgbClr val="102B34"/>
                </a:solidFill>
                <a:latin typeface="Aptos"/>
                <a:ea typeface="Aptos"/>
                <a:cs typeface="Aptos"/>
              </a:rPr>
              <a:t>Pilot/upgrade teklifi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D97E7EE9-99EA-4CA8-AD81-5B07002C4E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24175" y="4543425"/>
            <a:ext cx="2047875" cy="1047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DD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3E7B5712-1C40-4F02-A763-EEC6C4450F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24175" y="4543425"/>
            <a:ext cx="307181" cy="1047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54B4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47FB5F07-7361-4BD2-9F64-F73D677D09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86350" y="4505325"/>
            <a:ext cx="6477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788" b="1">
                <a:solidFill>
                  <a:srgbClr val="102B34"/>
                </a:solidFill>
                <a:latin typeface="Aptos"/>
                <a:ea typeface="Aptos"/>
                <a:cs typeface="Aptos"/>
              </a:defRPr>
            </a:pPr>
            <a:r>
              <a:rPr sz="788" b="1">
                <a:solidFill>
                  <a:srgbClr val="102B34"/>
                </a:solidFill>
                <a:latin typeface="Aptos"/>
                <a:ea typeface="Aptos"/>
                <a:cs typeface="Aptos"/>
              </a:rPr>
              <a:t>10-15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4C363C2D-383F-4AB3-B466-CB63A52F36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4914900"/>
            <a:ext cx="1714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88" b="1">
                <a:solidFill>
                  <a:srgbClr val="102B34"/>
                </a:solidFill>
                <a:latin typeface="Aptos"/>
                <a:ea typeface="Aptos"/>
                <a:cs typeface="Aptos"/>
              </a:defRPr>
            </a:pPr>
            <a:r>
              <a:rPr sz="788" b="1">
                <a:solidFill>
                  <a:srgbClr val="102B34"/>
                </a:solidFill>
                <a:latin typeface="Aptos"/>
                <a:ea typeface="Aptos"/>
                <a:cs typeface="Aptos"/>
              </a:rPr>
              <a:t>İlk ödemeli pilot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87A96B57-6699-48B3-95C9-4B72743446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24175" y="4943475"/>
            <a:ext cx="2047875" cy="1047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DD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12107F31-D70C-4C90-89F3-B12DD89766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24175" y="4943475"/>
            <a:ext cx="163830" cy="1047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252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251FE0CC-F271-46CE-904B-981FBAC549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86350" y="4905375"/>
            <a:ext cx="6477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788" b="1">
                <a:solidFill>
                  <a:srgbClr val="102B34"/>
                </a:solidFill>
                <a:latin typeface="Aptos"/>
                <a:ea typeface="Aptos"/>
                <a:cs typeface="Aptos"/>
              </a:defRPr>
            </a:pPr>
            <a:r>
              <a:rPr sz="788" b="1">
                <a:solidFill>
                  <a:srgbClr val="102B34"/>
                </a:solidFill>
                <a:latin typeface="Aptos"/>
                <a:ea typeface="Aptos"/>
                <a:cs typeface="Aptos"/>
              </a:rPr>
              <a:t>5-8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2612E564-462D-4535-B195-5E3ED629AA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2190750"/>
            <a:ext cx="4191000" cy="3429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252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264C0680-8692-4028-B862-8FA6136257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0" y="2438400"/>
            <a:ext cx="22860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Segmentasyon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94DBBAD0-E2EA-4BFB-83F4-B66AD56435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0" y="2895600"/>
            <a:ext cx="3238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E7D6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BF172BD5-13A7-4F54-AD04-147B761179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0" y="2943225"/>
            <a:ext cx="3238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A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97C39E88-ACA7-4CFD-ABCE-F549956A17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39050" y="2895600"/>
            <a:ext cx="1571625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Aktif ve memnun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41EB9101-D76F-480C-B7C0-400F44DF0D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39050" y="3086100"/>
            <a:ext cx="2667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13" b="0">
                <a:solidFill>
                  <a:srgbClr val="CFE1E5"/>
                </a:solidFill>
                <a:latin typeface="Aptos"/>
                <a:ea typeface="Aptos"/>
                <a:cs typeface="Aptos"/>
              </a:defRPr>
            </a:pPr>
            <a:r>
              <a:rPr sz="713" b="0">
                <a:solidFill>
                  <a:srgbClr val="CFE1E5"/>
                </a:solidFill>
                <a:latin typeface="Aptos"/>
                <a:ea typeface="Aptos"/>
                <a:cs typeface="Aptos"/>
              </a:rPr>
              <a:t>İlk referans ve upgrade adayı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84829048-DFED-4700-97D3-9A2D05D123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0" y="3362325"/>
            <a:ext cx="3238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902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2EF52F42-D4D8-40CF-90D9-53BD91A473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0" y="3409950"/>
            <a:ext cx="3238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B</a:t>
            </a:r>
          </a:p>
        </p:txBody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0B7722BE-1A9A-4E79-AD47-0428760B8A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39050" y="3362325"/>
            <a:ext cx="1571625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Aktif ama servis ihtiyacı var</a:t>
            </a:r>
          </a:p>
        </p:txBody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33C9281D-F421-4359-81F7-981D3A976E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39050" y="3552825"/>
            <a:ext cx="2667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13" b="0">
                <a:solidFill>
                  <a:srgbClr val="CFE1E5"/>
                </a:solidFill>
                <a:latin typeface="Aptos"/>
                <a:ea typeface="Aptos"/>
                <a:cs typeface="Aptos"/>
              </a:defRPr>
            </a:pPr>
            <a:r>
              <a:rPr sz="713" b="0">
                <a:solidFill>
                  <a:srgbClr val="CFE1E5"/>
                </a:solidFill>
                <a:latin typeface="Aptos"/>
                <a:ea typeface="Aptos"/>
                <a:cs typeface="Aptos"/>
              </a:rPr>
              <a:t>Önce güven onarımı</a:t>
            </a:r>
          </a:p>
        </p:txBody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9F848143-87A4-442F-89F9-CA401DAEA8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0" y="3829050"/>
            <a:ext cx="3238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8AFC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1B76F170-C339-43CE-A6D2-A9EFE2949D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0" y="3876675"/>
            <a:ext cx="3238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C</a:t>
            </a:r>
          </a:p>
        </p:txBody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1D4468CB-BC5B-4115-BFD8-37B515AFEA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39050" y="3829050"/>
            <a:ext cx="1571625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Kullanımı azalmış</a:t>
            </a:r>
          </a:p>
        </p:txBody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3F417993-FC2E-4BA7-AC70-962E2611ED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39050" y="4019550"/>
            <a:ext cx="2667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13" b="0">
                <a:solidFill>
                  <a:srgbClr val="CFE1E5"/>
                </a:solidFill>
                <a:latin typeface="Aptos"/>
                <a:ea typeface="Aptos"/>
                <a:cs typeface="Aptos"/>
              </a:defRPr>
            </a:pPr>
            <a:r>
              <a:rPr sz="713" b="0">
                <a:solidFill>
                  <a:srgbClr val="CFE1E5"/>
                </a:solidFill>
                <a:latin typeface="Aptos"/>
                <a:ea typeface="Aptos"/>
                <a:cs typeface="Aptos"/>
              </a:rPr>
              <a:t>Refresh kampanyası</a:t>
            </a:r>
          </a:p>
        </p:txBody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84670C11-8D6B-43DE-8728-E8E5D2B677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0" y="4295775"/>
            <a:ext cx="3238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5C6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EF1020AF-9ED8-40B0-BE23-FB539FFEC3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0" y="4343400"/>
            <a:ext cx="3238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D</a:t>
            </a:r>
          </a:p>
        </p:txBody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FE10AA5A-35F2-4B4F-9548-59246544B8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39050" y="4295775"/>
            <a:ext cx="1571625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Büyük klinik/hastane</a:t>
            </a:r>
          </a:p>
        </p:txBody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D7E902C1-93B2-4B65-B166-A4A7C4FDEA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39050" y="4486275"/>
            <a:ext cx="2667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13" b="0">
                <a:solidFill>
                  <a:srgbClr val="CFE1E5"/>
                </a:solidFill>
                <a:latin typeface="Aptos"/>
                <a:ea typeface="Aptos"/>
                <a:cs typeface="Aptos"/>
              </a:defRPr>
            </a:pPr>
            <a:r>
              <a:rPr sz="713" b="0">
                <a:solidFill>
                  <a:srgbClr val="CFE1E5"/>
                </a:solidFill>
                <a:latin typeface="Aptos"/>
                <a:ea typeface="Aptos"/>
                <a:cs typeface="Aptos"/>
              </a:rPr>
              <a:t>Smart ICU pilotu</a:t>
            </a:r>
          </a:p>
        </p:txBody>
      </p:sp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39046CAB-1F73-4C68-A6F7-2EC6E61446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0" y="4762500"/>
            <a:ext cx="3238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54B4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4" name="">
            <a:extLst xmlns:a="http://schemas.openxmlformats.org/drawingml/2006/main">
              <a:ext uri="{FF2B5EF4-FFF2-40B4-BE49-F238E27FC236}">
                <a16:creationId xmlns:a16="http://schemas.microsoft.com/office/drawing/2014/main" id="{3B1CEE76-AF3D-4CD8-86B5-0482A2ACA4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0" y="4810125"/>
            <a:ext cx="3238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E</a:t>
            </a:r>
          </a:p>
        </p:txBody>
      </p:sp>
      <p:sp>
        <p:nvSpPr>
          <p:cNvPr id="55" name="">
            <a:extLst xmlns:a="http://schemas.openxmlformats.org/drawingml/2006/main">
              <a:ext uri="{FF2B5EF4-FFF2-40B4-BE49-F238E27FC236}">
                <a16:creationId xmlns:a16="http://schemas.microsoft.com/office/drawing/2014/main" id="{0585A4D6-858A-4D17-9A08-16A9F1A0BA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39050" y="4762500"/>
            <a:ext cx="1571625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Negatif deneyimli</a:t>
            </a:r>
          </a:p>
        </p:txBody>
      </p:sp>
      <p:sp>
        <p:nvSpPr>
          <p:cNvPr id="56" name="">
            <a:extLst xmlns:a="http://schemas.openxmlformats.org/drawingml/2006/main">
              <a:ext uri="{FF2B5EF4-FFF2-40B4-BE49-F238E27FC236}">
                <a16:creationId xmlns:a16="http://schemas.microsoft.com/office/drawing/2014/main" id="{59875AC8-4410-476F-BCCE-DCDC9471F4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39050" y="4953000"/>
            <a:ext cx="2667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13" b="0">
                <a:solidFill>
                  <a:srgbClr val="CFE1E5"/>
                </a:solidFill>
                <a:latin typeface="Aptos"/>
                <a:ea typeface="Aptos"/>
                <a:cs typeface="Aptos"/>
              </a:defRPr>
            </a:pPr>
            <a:r>
              <a:rPr sz="713" b="0">
                <a:solidFill>
                  <a:srgbClr val="CFE1E5"/>
                </a:solidFill>
                <a:latin typeface="Aptos"/>
                <a:ea typeface="Aptos"/>
                <a:cs typeface="Aptos"/>
              </a:rPr>
              <a:t>Satış değil, dinleme</a:t>
            </a:r>
          </a:p>
        </p:txBody>
      </p:sp>
      <p:sp>
        <p:nvSpPr>
          <p:cNvPr id="57" name="">
            <a:extLst xmlns:a="http://schemas.openxmlformats.org/drawingml/2006/main">
              <a:ext uri="{FF2B5EF4-FFF2-40B4-BE49-F238E27FC236}">
                <a16:creationId xmlns:a16="http://schemas.microsoft.com/office/drawing/2014/main" id="{0C30A562-9888-4CB5-8DCB-B132B4CAC8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62200" y="5886450"/>
            <a:ext cx="74295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4D1"/>
            </a:solidFill>
            <a:prstDash val="solid"/>
          </a:ln>
        </p:spPr>
      </p:sp>
      <p:sp>
        <p:nvSpPr>
          <p:cNvPr id="58" name="">
            <a:extLst xmlns:a="http://schemas.openxmlformats.org/drawingml/2006/main">
              <a:ext uri="{FF2B5EF4-FFF2-40B4-BE49-F238E27FC236}">
                <a16:creationId xmlns:a16="http://schemas.microsoft.com/office/drawing/2014/main" id="{45E84CFE-2559-41EA-B916-A86F9019C8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62200" y="5886450"/>
            <a:ext cx="47625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5C6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9" name="">
            <a:extLst xmlns:a="http://schemas.openxmlformats.org/drawingml/2006/main">
              <a:ext uri="{FF2B5EF4-FFF2-40B4-BE49-F238E27FC236}">
                <a16:creationId xmlns:a16="http://schemas.microsoft.com/office/drawing/2014/main" id="{2BA8679A-18BF-48D5-A43A-BF7B8A2F7D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33650" y="6038850"/>
            <a:ext cx="71056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102B34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102B34"/>
                </a:solidFill>
                <a:latin typeface="Aptos"/>
                <a:ea typeface="Aptos"/>
                <a:cs typeface="Aptos"/>
              </a:rPr>
              <a:t>Temel prensip</a:t>
            </a:r>
          </a:p>
        </p:txBody>
      </p:sp>
      <p:sp>
        <p:nvSpPr>
          <p:cNvPr id="60" name="">
            <a:extLst xmlns:a="http://schemas.openxmlformats.org/drawingml/2006/main">
              <a:ext uri="{FF2B5EF4-FFF2-40B4-BE49-F238E27FC236}">
                <a16:creationId xmlns:a16="http://schemas.microsoft.com/office/drawing/2014/main" id="{2DDBAD69-AE02-4179-92C5-F38103521F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33650" y="6305550"/>
            <a:ext cx="7105650" cy="-1238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65" b="0">
                <a:solidFill>
                  <a:srgbClr val="5D6A70"/>
                </a:solidFill>
                <a:latin typeface="Aptos"/>
                <a:ea typeface="Aptos"/>
                <a:cs typeface="Aptos"/>
              </a:defRPr>
            </a:pPr>
            <a:r>
              <a:rPr sz="765" b="0">
                <a:solidFill>
                  <a:srgbClr val="5D6A70"/>
                </a:solidFill>
                <a:latin typeface="Aptos"/>
                <a:ea typeface="Aptos"/>
                <a:cs typeface="Aptos"/>
              </a:rPr>
              <a:t>V1 müşterisi satış listesi değil; önce saha gerçekliği, güven ve servis ihtiyacı anlaşılacak bir öğrenme tabanıdır.</a:t>
            </a:r>
          </a:p>
        </p:txBody>
      </p:sp>
      <p:sp>
        <p:nvSpPr>
          <p:cNvPr id="61" name="">
            <a:extLst xmlns:a="http://schemas.openxmlformats.org/drawingml/2006/main">
              <a:ext uri="{FF2B5EF4-FFF2-40B4-BE49-F238E27FC236}">
                <a16:creationId xmlns:a16="http://schemas.microsoft.com/office/drawing/2014/main" id="{4511EA20-DA1A-45C6-BDB2-C3C9846D6A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24600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BD4D1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2" name="">
            <a:extLst xmlns:a="http://schemas.openxmlformats.org/drawingml/2006/main">
              <a:ext uri="{FF2B5EF4-FFF2-40B4-BE49-F238E27FC236}">
                <a16:creationId xmlns:a16="http://schemas.microsoft.com/office/drawing/2014/main" id="{A12DD6FC-1606-4BB1-A77F-E11D544B87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48425"/>
            <a:ext cx="942975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38" b="0">
                <a:solidFill>
                  <a:srgbClr val="5D6A70"/>
                </a:solidFill>
                <a:latin typeface="Aptos"/>
                <a:ea typeface="Aptos"/>
                <a:cs typeface="Aptos"/>
              </a:defRPr>
            </a:pPr>
            <a:r>
              <a:rPr sz="638" b="0">
                <a:solidFill>
                  <a:srgbClr val="5D6A70"/>
                </a:solidFill>
                <a:latin typeface="Aptos"/>
                <a:ea typeface="Aptos"/>
                <a:cs typeface="Aptos"/>
              </a:rPr>
              <a:t>Kaynak: Kuvoz 3.0 revize yol haritasi ve pazar notlari, 10 Mayis 2026</a:t>
            </a:r>
          </a:p>
        </p:txBody>
      </p:sp>
    </p:spTree>
    <p:extLst>
      <p:ext uri="{BB962C8B-B14F-4D97-AF65-F5344CB8AC3E}">
        <p14:creationId xmlns:p14="http://schemas.microsoft.com/office/powerpoint/2010/main" val="1401750961"/>
      </p:ext>
    </p:extLst>
  </p:cSld>
</p:sld>
</file>

<file path=ppt/slides/slide6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46ED0227-1043-4C67-9286-04E701E89A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5E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C9498D7-3D8E-45DB-9C67-99A65EDC54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5C6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pic>
        <p:nvPicPr>
          <p:cNvPr id="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7a4a33e7169490f"/>
          <a:stretch xmlns:a="http://schemas.openxmlformats.org/drawingml/2006/main"/>
        </p:blipFill>
        <p:spPr>
          <a:xfrm xmlns:a="http://schemas.openxmlformats.org/drawingml/2006/main">
            <a:off x="10610850" y="323850"/>
            <a:ext cx="609600" cy="609600"/>
          </a:xfrm>
          <a:prstGeom xmlns:a="http://schemas.openxmlformats.org/drawingml/2006/main" prst="rect">
            <a:avLst/>
          </a:prstGeom>
        </p:spPr>
      </p:pic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CF075A6-3F44-4634-B13B-B11B346A9F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0050"/>
            <a:ext cx="4381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0F5C6E"/>
                </a:solidFill>
                <a:latin typeface="Aptos"/>
                <a:ea typeface="Aptos"/>
                <a:cs typeface="Aptos"/>
              </a:defRPr>
            </a:pPr>
            <a:r>
              <a:rPr sz="750" b="1">
                <a:solidFill>
                  <a:srgbClr val="0F5C6E"/>
                </a:solidFill>
                <a:latin typeface="Aptos"/>
                <a:ea typeface="Aptos"/>
                <a:cs typeface="Aptos"/>
              </a:rPr>
              <a:t>ÜRÜN MERDIVENI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2216D6F-9D46-41C6-8AA9-D4BB8BF8F3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82375" y="476250"/>
            <a:ext cx="4000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5D6A70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5D6A70"/>
                </a:solidFill>
                <a:latin typeface="Aptos"/>
                <a:ea typeface="Aptos"/>
                <a:cs typeface="Aptos"/>
              </a:rPr>
              <a:t>06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CDF5103-370B-4D31-9F8C-78BE86249B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81050"/>
            <a:ext cx="3429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0F5C6E"/>
                </a:solidFill>
                <a:latin typeface="Aptos"/>
                <a:ea typeface="Aptos"/>
                <a:cs typeface="Aptos"/>
              </a:defRPr>
            </a:pPr>
            <a:r>
              <a:rPr sz="750" b="1">
                <a:solidFill>
                  <a:srgbClr val="0F5C6E"/>
                </a:solidFill>
                <a:latin typeface="Aptos"/>
                <a:ea typeface="Aptos"/>
                <a:cs typeface="Aptos"/>
              </a:rPr>
              <a:t>ÜRÜN SIRALAMASI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19268FA-26DD-4AF7-BF2E-8A3C63B288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047750"/>
            <a:ext cx="8858250" cy="78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400" b="1">
                <a:solidFill>
                  <a:srgbClr val="102B34"/>
                </a:solidFill>
                <a:latin typeface="Aptos Display"/>
                <a:ea typeface="Aptos Display"/>
                <a:cs typeface="Aptos Display"/>
              </a:defRPr>
            </a:pPr>
            <a:r>
              <a:rPr sz="2400" b="1">
                <a:solidFill>
                  <a:srgbClr val="102B34"/>
                </a:solidFill>
                <a:latin typeface="Aptos Display"/>
                <a:ea typeface="Aptos Display"/>
                <a:cs typeface="Aptos Display"/>
              </a:rPr>
              <a:t>Tam cihazdan önce V1 Refresh ve Upgrade Kit satılmalı.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176ECE9-686C-478A-AEE7-6DBE1DE768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85950"/>
            <a:ext cx="8763000" cy="428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23" b="0">
                <a:solidFill>
                  <a:srgbClr val="5D6A70"/>
                </a:solidFill>
                <a:latin typeface="Aptos"/>
                <a:ea typeface="Aptos"/>
                <a:cs typeface="Aptos"/>
              </a:defRPr>
            </a:pPr>
            <a:r>
              <a:rPr sz="923" b="0">
                <a:solidFill>
                  <a:srgbClr val="5D6A70"/>
                </a:solidFill>
                <a:latin typeface="Aptos"/>
                <a:ea typeface="Aptos"/>
                <a:cs typeface="Aptos"/>
              </a:rPr>
              <a:t>Bu merdiven hem eski müşteriyi yeniden aktive eder hem de Kuvoz 3.0 için gerçek ödeme niyetini daha düşük maliyetle ölçer.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FE00BBA-7074-4BE8-B595-E3BE6F5F03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362200"/>
            <a:ext cx="10744200" cy="2381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4D1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5673571-8BB6-46E5-8BC4-BFEC2938BE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2714625"/>
            <a:ext cx="4000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2E7D6B"/>
                </a:solidFill>
                <a:latin typeface="Aptos Display"/>
                <a:ea typeface="Aptos Display"/>
                <a:cs typeface="Aptos Display"/>
              </a:defRPr>
            </a:pPr>
            <a:r>
              <a:rPr sz="1500" b="1">
                <a:solidFill>
                  <a:srgbClr val="2E7D6B"/>
                </a:solidFill>
                <a:latin typeface="Aptos Display"/>
                <a:ea typeface="Aptos Display"/>
                <a:cs typeface="Aptos Display"/>
              </a:rPr>
              <a:t>01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96B33AF-1B32-4EE2-B3E6-F824D0A9B5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85900" y="2847975"/>
            <a:ext cx="11620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E7D6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184D2EB-5087-4A08-B05F-69D8A40939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3076575"/>
            <a:ext cx="16192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38" b="1">
                <a:solidFill>
                  <a:srgbClr val="102B34"/>
                </a:solidFill>
                <a:latin typeface="Aptos"/>
                <a:ea typeface="Aptos"/>
                <a:cs typeface="Aptos"/>
              </a:defRPr>
            </a:pPr>
            <a:r>
              <a:rPr sz="938" b="1">
                <a:solidFill>
                  <a:srgbClr val="102B34"/>
                </a:solidFill>
                <a:latin typeface="Aptos"/>
                <a:ea typeface="Aptos"/>
                <a:cs typeface="Aptos"/>
              </a:rPr>
              <a:t>V1 Refresh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DDEAF0D-7DCB-47AE-98F0-CCECCF0EE9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3324225"/>
            <a:ext cx="161925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05" b="0">
                <a:solidFill>
                  <a:srgbClr val="5D6A70"/>
                </a:solidFill>
                <a:latin typeface="Aptos"/>
                <a:ea typeface="Aptos"/>
                <a:cs typeface="Aptos"/>
              </a:defRPr>
            </a:pPr>
            <a:r>
              <a:rPr sz="705" b="0">
                <a:solidFill>
                  <a:srgbClr val="5D6A70"/>
                </a:solidFill>
                <a:latin typeface="Aptos"/>
                <a:ea typeface="Aptos"/>
                <a:cs typeface="Aptos"/>
              </a:rPr>
              <a:t>Servis, bakım, sensör kontrolü, upgrade uygunluk raporu.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64ECEAE-73A0-4AD9-A393-01F7ECA989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24150" y="2990850"/>
            <a:ext cx="428625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BD4D1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A3921FF-2613-4E9D-8A64-381EF9434F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05150" y="2943225"/>
            <a:ext cx="85725" cy="1238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BD4D1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632E65AE-29E6-4EC8-9C44-37F4429AA7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95625" y="2714625"/>
            <a:ext cx="4000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0F5C6E"/>
                </a:solidFill>
                <a:latin typeface="Aptos Display"/>
                <a:ea typeface="Aptos Display"/>
                <a:cs typeface="Aptos Display"/>
              </a:defRPr>
            </a:pPr>
            <a:r>
              <a:rPr sz="1500" b="1">
                <a:solidFill>
                  <a:srgbClr val="0F5C6E"/>
                </a:solidFill>
                <a:latin typeface="Aptos Display"/>
                <a:ea typeface="Aptos Display"/>
                <a:cs typeface="Aptos Display"/>
              </a:rPr>
              <a:t>02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24A23C83-E872-48AE-B480-F95D7781C3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52825" y="2847975"/>
            <a:ext cx="11620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5C6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59B074C4-D124-44DF-84F3-48A039E735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95625" y="3076575"/>
            <a:ext cx="16192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38" b="1">
                <a:solidFill>
                  <a:srgbClr val="102B34"/>
                </a:solidFill>
                <a:latin typeface="Aptos"/>
                <a:ea typeface="Aptos"/>
                <a:cs typeface="Aptos"/>
              </a:defRPr>
            </a:pPr>
            <a:r>
              <a:rPr sz="938" b="1">
                <a:solidFill>
                  <a:srgbClr val="102B34"/>
                </a:solidFill>
                <a:latin typeface="Aptos"/>
                <a:ea typeface="Aptos"/>
                <a:cs typeface="Aptos"/>
              </a:rPr>
              <a:t>3.0 Upgrade Kit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616CB3F2-F5C3-42D0-B89F-97430450B2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95625" y="3324225"/>
            <a:ext cx="161925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05" b="0">
                <a:solidFill>
                  <a:srgbClr val="5D6A70"/>
                </a:solidFill>
                <a:latin typeface="Aptos"/>
                <a:ea typeface="Aptos"/>
                <a:cs typeface="Aptos"/>
              </a:defRPr>
            </a:pPr>
            <a:r>
              <a:rPr sz="705" b="0">
                <a:solidFill>
                  <a:srgbClr val="5D6A70"/>
                </a:solidFill>
                <a:latin typeface="Aptos"/>
                <a:ea typeface="Aptos"/>
                <a:cs typeface="Aptos"/>
              </a:rPr>
              <a:t>Kontrol, sensör, log, alarm ve web panel.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F8155500-935C-4F5F-80F1-5D94140CC9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91075" y="2990850"/>
            <a:ext cx="428625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BD4D1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8DAA68BC-B0D3-4C66-92B7-CD2030D1D0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72075" y="2943225"/>
            <a:ext cx="85725" cy="1238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BD4D1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CAF0EE3B-5B97-4BDD-8ACB-3703C9F359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62550" y="2714625"/>
            <a:ext cx="4000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58AFC4"/>
                </a:solidFill>
                <a:latin typeface="Aptos Display"/>
                <a:ea typeface="Aptos Display"/>
                <a:cs typeface="Aptos Display"/>
              </a:defRPr>
            </a:pPr>
            <a:r>
              <a:rPr sz="1500" b="1">
                <a:solidFill>
                  <a:srgbClr val="58AFC4"/>
                </a:solidFill>
                <a:latin typeface="Aptos Display"/>
                <a:ea typeface="Aptos Display"/>
                <a:cs typeface="Aptos Display"/>
              </a:rPr>
              <a:t>03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CCC0B28A-6A7F-4DF6-9C4D-49AED61125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9750" y="2847975"/>
            <a:ext cx="11620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8AFC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718B714A-382A-4A5D-8613-E10B07FE0D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62550" y="3076575"/>
            <a:ext cx="16192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38" b="1">
                <a:solidFill>
                  <a:srgbClr val="102B34"/>
                </a:solidFill>
                <a:latin typeface="Aptos"/>
                <a:ea typeface="Aptos"/>
                <a:cs typeface="Aptos"/>
              </a:defRPr>
            </a:pPr>
            <a:r>
              <a:rPr sz="938" b="1">
                <a:solidFill>
                  <a:srgbClr val="102B34"/>
                </a:solidFill>
                <a:latin typeface="Aptos"/>
                <a:ea typeface="Aptos"/>
                <a:cs typeface="Aptos"/>
              </a:rPr>
              <a:t>Smart Retrofit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B6EEEE5A-36B9-4DCE-B581-F7BB714F33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62550" y="3324225"/>
            <a:ext cx="161925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05" b="0">
                <a:solidFill>
                  <a:srgbClr val="5D6A70"/>
                </a:solidFill>
                <a:latin typeface="Aptos"/>
                <a:ea typeface="Aptos"/>
                <a:cs typeface="Aptos"/>
              </a:defRPr>
            </a:pPr>
            <a:r>
              <a:rPr sz="705" b="0">
                <a:solidFill>
                  <a:srgbClr val="5D6A70"/>
                </a:solidFill>
                <a:latin typeface="Aptos"/>
                <a:ea typeface="Aptos"/>
                <a:cs typeface="Aptos"/>
              </a:rPr>
              <a:t>Kamera, uzaktan erişim, gelişmiş uyarı.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BB8A9EAF-6BA4-49FE-BE4E-B91C844371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2990850"/>
            <a:ext cx="428625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BD4D1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C75EFB35-3359-41B3-ADE6-30976C4DCC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2943225"/>
            <a:ext cx="85725" cy="1238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BD4D1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3D5CC410-3397-42E4-B7F0-0C91AD23BF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29475" y="2714625"/>
            <a:ext cx="4000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C9902E"/>
                </a:solidFill>
                <a:latin typeface="Aptos Display"/>
                <a:ea typeface="Aptos Display"/>
                <a:cs typeface="Aptos Display"/>
              </a:defRPr>
            </a:pPr>
            <a:r>
              <a:rPr sz="1500" b="1">
                <a:solidFill>
                  <a:srgbClr val="C9902E"/>
                </a:solidFill>
                <a:latin typeface="Aptos Display"/>
                <a:ea typeface="Aptos Display"/>
                <a:cs typeface="Aptos Display"/>
              </a:rPr>
              <a:t>04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B2A55BDE-8995-4B39-890D-114CC18FBC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86675" y="2847975"/>
            <a:ext cx="11620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902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0AD8BF4C-1DC6-4C55-94C8-12AF6FB689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29475" y="3076575"/>
            <a:ext cx="16192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38" b="1">
                <a:solidFill>
                  <a:srgbClr val="102B34"/>
                </a:solidFill>
                <a:latin typeface="Aptos"/>
                <a:ea typeface="Aptos"/>
                <a:cs typeface="Aptos"/>
              </a:defRPr>
            </a:pPr>
            <a:r>
              <a:rPr sz="938" b="1">
                <a:solidFill>
                  <a:srgbClr val="102B34"/>
                </a:solidFill>
                <a:latin typeface="Aptos"/>
                <a:ea typeface="Aptos"/>
                <a:cs typeface="Aptos"/>
              </a:rPr>
              <a:t>Smart ICU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5ADF25BF-C748-4A3A-AC98-C5B7B167DB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29475" y="3324225"/>
            <a:ext cx="161925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05" b="0">
                <a:solidFill>
                  <a:srgbClr val="5D6A70"/>
                </a:solidFill>
                <a:latin typeface="Aptos"/>
                <a:ea typeface="Aptos"/>
                <a:cs typeface="Aptos"/>
              </a:defRPr>
            </a:pPr>
            <a:r>
              <a:rPr sz="705" b="0">
                <a:solidFill>
                  <a:srgbClr val="5D6A70"/>
                </a:solidFill>
                <a:latin typeface="Aptos"/>
                <a:ea typeface="Aptos"/>
                <a:cs typeface="Aptos"/>
              </a:rPr>
              <a:t>Kabin + Kuvoz 3.0 kontrol sistemi.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1C3AE322-E317-4632-8DD8-1E63ACFB0F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24925" y="2990850"/>
            <a:ext cx="428625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BD4D1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704484AE-FFE9-47E3-B15B-17CE1C4B53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05925" y="2943225"/>
            <a:ext cx="85725" cy="1238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BD4D1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3F0ECEB0-9EFF-4278-A6EC-52B9D5A751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2714625"/>
            <a:ext cx="4000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B54B45"/>
                </a:solidFill>
                <a:latin typeface="Aptos Display"/>
                <a:ea typeface="Aptos Display"/>
                <a:cs typeface="Aptos Display"/>
              </a:defRPr>
            </a:pPr>
            <a:r>
              <a:rPr sz="1500" b="1">
                <a:solidFill>
                  <a:srgbClr val="B54B45"/>
                </a:solidFill>
                <a:latin typeface="Aptos Display"/>
                <a:ea typeface="Aptos Display"/>
                <a:cs typeface="Aptos Display"/>
              </a:rPr>
              <a:t>05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6B5D4F7E-9E5A-4FD7-A093-29E3429EC7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53600" y="2847975"/>
            <a:ext cx="11620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54B4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F065B016-F449-41A3-B539-9D7FA16A21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3076575"/>
            <a:ext cx="16192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38" b="1">
                <a:solidFill>
                  <a:srgbClr val="102B34"/>
                </a:solidFill>
                <a:latin typeface="Aptos"/>
                <a:ea typeface="Aptos"/>
                <a:cs typeface="Aptos"/>
              </a:defRPr>
            </a:pPr>
            <a:r>
              <a:rPr sz="938" b="1">
                <a:solidFill>
                  <a:srgbClr val="102B34"/>
                </a:solidFill>
                <a:latin typeface="Aptos"/>
                <a:ea typeface="Aptos"/>
                <a:cs typeface="Aptos"/>
              </a:rPr>
              <a:t>Cloud Panel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FAB8CCFB-EBCA-4E29-9912-87170F6DB2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3324225"/>
            <a:ext cx="161925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05" b="0">
                <a:solidFill>
                  <a:srgbClr val="5D6A70"/>
                </a:solidFill>
                <a:latin typeface="Aptos"/>
                <a:ea typeface="Aptos"/>
                <a:cs typeface="Aptos"/>
              </a:defRPr>
            </a:pPr>
            <a:r>
              <a:rPr sz="705" b="0">
                <a:solidFill>
                  <a:srgbClr val="5D6A70"/>
                </a:solidFill>
                <a:latin typeface="Aptos"/>
                <a:ea typeface="Aptos"/>
                <a:cs typeface="Aptos"/>
              </a:rPr>
              <a:t>Çoklu cihaz, rapor, servis ve AI katmanı.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532D3176-DCCA-40C0-BF6B-DD565FD9D4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5219700"/>
            <a:ext cx="3000375" cy="723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252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74A4B713-F207-42ED-A307-6738B3DD2C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5410200"/>
            <a:ext cx="17145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58AFC4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58AFC4"/>
                </a:solidFill>
                <a:latin typeface="Aptos"/>
                <a:ea typeface="Aptos"/>
                <a:cs typeface="Aptos"/>
              </a:rPr>
              <a:t>Neden bu sıra?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FCD7E94F-A193-4070-B5B3-319E9AA398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5657850"/>
            <a:ext cx="22860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88" b="0">
                <a:solidFill>
                  <a:srgbClr val="CFE1E5"/>
                </a:solidFill>
                <a:latin typeface="Aptos"/>
                <a:ea typeface="Aptos"/>
                <a:cs typeface="Aptos"/>
              </a:defRPr>
            </a:pPr>
            <a:r>
              <a:rPr sz="788" b="0">
                <a:solidFill>
                  <a:srgbClr val="CFE1E5"/>
                </a:solidFill>
                <a:latin typeface="Aptos"/>
                <a:ea typeface="Aptos"/>
                <a:cs typeface="Aptos"/>
              </a:rPr>
              <a:t>Eski müşteriyle güven yenilenir; mekanik üretim riski gecikir; yazılım katmanı sahada öğrenir.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2F712073-9BB7-465E-86FD-1C47431A5B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0100" y="5219700"/>
            <a:ext cx="3000375" cy="723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252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5C46C1A0-9A98-447E-9EE4-0474E4D44F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57750" y="5410200"/>
            <a:ext cx="17145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58AFC4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58AFC4"/>
                </a:solidFill>
                <a:latin typeface="Aptos"/>
                <a:ea typeface="Aptos"/>
                <a:cs typeface="Aptos"/>
              </a:rPr>
              <a:t>Satış açısı</a:t>
            </a:r>
          </a:p>
        </p:txBody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67A0604C-CF00-4AB6-88B3-5A4A962E42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57750" y="5657850"/>
            <a:ext cx="234315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88" b="0">
                <a:solidFill>
                  <a:srgbClr val="CFE1E5"/>
                </a:solidFill>
                <a:latin typeface="Aptos"/>
                <a:ea typeface="Aptos"/>
                <a:cs typeface="Aptos"/>
              </a:defRPr>
            </a:pPr>
            <a:r>
              <a:rPr sz="788" b="0">
                <a:solidFill>
                  <a:srgbClr val="CFE1E5"/>
                </a:solidFill>
                <a:latin typeface="Aptos"/>
                <a:ea typeface="Aptos"/>
                <a:cs typeface="Aptos"/>
              </a:rPr>
              <a:t>“Mevcut cihazınızı Kuvoz 3.0 Smart seviyesine taşıyalım” mesajı yeni cihaz bütçesinden daha hızlı kapanır.</a:t>
            </a:r>
          </a:p>
        </p:txBody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139D57FE-B57F-4A38-9548-CBBC6E4925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15300" y="5219700"/>
            <a:ext cx="3000375" cy="723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252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6171D21A-AFC9-4268-9378-F73157F118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62950" y="5410200"/>
            <a:ext cx="17145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58AFC4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58AFC4"/>
                </a:solidFill>
                <a:latin typeface="Aptos"/>
                <a:ea typeface="Aptos"/>
                <a:cs typeface="Aptos"/>
              </a:rPr>
              <a:t>Karar kapısı</a:t>
            </a:r>
          </a:p>
        </p:txBody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D2BABCFB-18A8-40FC-ACDB-808D75B1AC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62950" y="5657850"/>
            <a:ext cx="234315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88" b="0">
                <a:solidFill>
                  <a:srgbClr val="CFE1E5"/>
                </a:solidFill>
                <a:latin typeface="Aptos"/>
                <a:ea typeface="Aptos"/>
                <a:cs typeface="Aptos"/>
              </a:defRPr>
            </a:pPr>
            <a:r>
              <a:rPr sz="788" b="0">
                <a:solidFill>
                  <a:srgbClr val="CFE1E5"/>
                </a:solidFill>
                <a:latin typeface="Aptos"/>
                <a:ea typeface="Aptos"/>
                <a:cs typeface="Aptos"/>
              </a:rPr>
              <a:t>5+ ücretli upgrade ve 60 gün stabil saha verisi olmadan tam cihaz ana ürün yapılmamalı.</a:t>
            </a:r>
          </a:p>
        </p:txBody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C693B334-21FF-4440-8F1D-2B9A7201CC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24600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BD4D1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BE6CF32B-C484-4C40-9B7E-C99121A989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48425"/>
            <a:ext cx="942975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38" b="0">
                <a:solidFill>
                  <a:srgbClr val="5D6A70"/>
                </a:solidFill>
                <a:latin typeface="Aptos"/>
                <a:ea typeface="Aptos"/>
                <a:cs typeface="Aptos"/>
              </a:defRPr>
            </a:pPr>
            <a:r>
              <a:rPr sz="638" b="0">
                <a:solidFill>
                  <a:srgbClr val="5D6A70"/>
                </a:solidFill>
                <a:latin typeface="Aptos"/>
                <a:ea typeface="Aptos"/>
                <a:cs typeface="Aptos"/>
              </a:rPr>
              <a:t>Kaynak: Kuvoz 3.0 revize yol haritasi ve pazar notlari, 10 Mayis 2026</a:t>
            </a:r>
          </a:p>
        </p:txBody>
      </p:sp>
    </p:spTree>
    <p:extLst>
      <p:ext uri="{BB962C8B-B14F-4D97-AF65-F5344CB8AC3E}">
        <p14:creationId xmlns:p14="http://schemas.microsoft.com/office/powerpoint/2010/main" val="684765004"/>
      </p:ext>
    </p:extLst>
  </p:cSld>
</p:sld>
</file>

<file path=ppt/slides/slide7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37F10FC4-4961-4B7B-BE1F-6E7B0E70E4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5E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CC5E383-4FEA-4970-A7F6-294960754C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5C6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pic>
        <p:nvPicPr>
          <p:cNvPr id="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1dbb1009c22406d"/>
          <a:stretch xmlns:a="http://schemas.openxmlformats.org/drawingml/2006/main"/>
        </p:blipFill>
        <p:spPr>
          <a:xfrm xmlns:a="http://schemas.openxmlformats.org/drawingml/2006/main">
            <a:off x="10610850" y="323850"/>
            <a:ext cx="609600" cy="609600"/>
          </a:xfrm>
          <a:prstGeom xmlns:a="http://schemas.openxmlformats.org/drawingml/2006/main" prst="rect">
            <a:avLst/>
          </a:prstGeom>
        </p:spPr>
      </p:pic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DAE66C5-7932-44C1-8078-CF69C3E7D3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0050"/>
            <a:ext cx="4381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0F5C6E"/>
                </a:solidFill>
                <a:latin typeface="Aptos"/>
                <a:ea typeface="Aptos"/>
                <a:cs typeface="Aptos"/>
              </a:defRPr>
            </a:pPr>
            <a:r>
              <a:rPr sz="750" b="1">
                <a:solidFill>
                  <a:srgbClr val="0F5C6E"/>
                </a:solidFill>
                <a:latin typeface="Aptos"/>
                <a:ea typeface="Aptos"/>
                <a:cs typeface="Aptos"/>
              </a:rPr>
              <a:t>NAKIT RISKI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D293D41-5468-4D5F-86FD-CAA05C70DA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82375" y="476250"/>
            <a:ext cx="4000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5D6A70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5D6A70"/>
                </a:solidFill>
                <a:latin typeface="Aptos"/>
                <a:ea typeface="Aptos"/>
                <a:cs typeface="Aptos"/>
              </a:rPr>
              <a:t>07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F60D87B-B5D6-4947-9412-79DBA46C7C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81050"/>
            <a:ext cx="3429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0F5C6E"/>
                </a:solidFill>
                <a:latin typeface="Aptos"/>
                <a:ea typeface="Aptos"/>
                <a:cs typeface="Aptos"/>
              </a:defRPr>
            </a:pPr>
            <a:r>
              <a:rPr sz="750" b="1">
                <a:solidFill>
                  <a:srgbClr val="0F5C6E"/>
                </a:solidFill>
                <a:latin typeface="Aptos"/>
                <a:ea typeface="Aptos"/>
                <a:cs typeface="Aptos"/>
              </a:rPr>
              <a:t>FINANSMAN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4BDB8CB-2FC1-4AD1-9B5A-8BE3CC855B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047750"/>
            <a:ext cx="8858250" cy="78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102B34"/>
                </a:solidFill>
                <a:latin typeface="Aptos Display"/>
                <a:ea typeface="Aptos Display"/>
                <a:cs typeface="Aptos Display"/>
              </a:defRPr>
            </a:pPr>
            <a:r>
              <a:rPr sz="2250" b="1">
                <a:solidFill>
                  <a:srgbClr val="102B34"/>
                </a:solidFill>
                <a:latin typeface="Aptos Display"/>
                <a:ea typeface="Aptos Display"/>
                <a:cs typeface="Aptos Display"/>
              </a:rPr>
              <a:t>Vetmarketi modeli ilk 90 gün maliyetini 750 bin-1,5 milyon TL bandına indirir.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4B4F932-BE71-4B66-82A6-50E42D019E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85950"/>
            <a:ext cx="8763000" cy="428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23" b="0">
                <a:solidFill>
                  <a:srgbClr val="5D6A70"/>
                </a:solidFill>
                <a:latin typeface="Aptos"/>
                <a:ea typeface="Aptos"/>
                <a:cs typeface="Aptos"/>
              </a:defRPr>
            </a:pPr>
            <a:r>
              <a:rPr sz="923" b="0">
                <a:solidFill>
                  <a:srgbClr val="5D6A70"/>
                </a:solidFill>
                <a:latin typeface="Aptos"/>
                <a:ea typeface="Aptos"/>
                <a:cs typeface="Aptos"/>
              </a:rPr>
              <a:t>Yeni şirket ve büyük stok yerine; prototip, CRM, ücretli pilot, servis/refresh geliri ve ön ödeme ile ilerlenmelidir.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DC7FB2B-F739-4107-AD91-F076EC4253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209800"/>
            <a:ext cx="10820400" cy="2857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4D1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D6B014E-101A-457A-94D5-DA8FA6D2CD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2476500"/>
            <a:ext cx="24765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02B34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102B34"/>
                </a:solidFill>
                <a:latin typeface="Aptos"/>
                <a:ea typeface="Aptos"/>
                <a:cs typeface="Aptos"/>
              </a:rPr>
              <a:t>İlk 90 gün bütçesi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E19FC8B-00D8-401C-A5D2-99C9E546D3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2914650"/>
            <a:ext cx="2476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88" b="1">
                <a:solidFill>
                  <a:srgbClr val="102B34"/>
                </a:solidFill>
                <a:latin typeface="Aptos"/>
                <a:ea typeface="Aptos"/>
                <a:cs typeface="Aptos"/>
              </a:defRPr>
            </a:pPr>
            <a:r>
              <a:rPr sz="788" b="1">
                <a:solidFill>
                  <a:srgbClr val="102B34"/>
                </a:solidFill>
                <a:latin typeface="Aptos"/>
                <a:ea typeface="Aptos"/>
                <a:cs typeface="Aptos"/>
              </a:rPr>
              <a:t>Prototip parçaları ve sensörler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04BC641-105B-456B-90A8-1894A54363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33800" y="2952750"/>
            <a:ext cx="400050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DD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40D9E12-EF6A-470E-9D38-50E3B2332A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33800" y="2952750"/>
            <a:ext cx="1240155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5C6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6FBCD96-B281-4E90-951D-4AF6AD787F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81950" y="2895600"/>
            <a:ext cx="10477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788" b="1">
                <a:solidFill>
                  <a:srgbClr val="102B34"/>
                </a:solidFill>
                <a:latin typeface="Aptos"/>
                <a:ea typeface="Aptos"/>
                <a:cs typeface="Aptos"/>
              </a:defRPr>
            </a:pPr>
            <a:r>
              <a:rPr sz="788" b="1">
                <a:solidFill>
                  <a:srgbClr val="102B34"/>
                </a:solidFill>
                <a:latin typeface="Aptos"/>
                <a:ea typeface="Aptos"/>
                <a:cs typeface="Aptos"/>
              </a:rPr>
              <a:t>250-500K TL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2DB0BDD-774C-4F3F-92CF-48D91F2B6E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3276600"/>
            <a:ext cx="2476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88" b="1">
                <a:solidFill>
                  <a:srgbClr val="102B34"/>
                </a:solidFill>
                <a:latin typeface="Aptos"/>
                <a:ea typeface="Aptos"/>
                <a:cs typeface="Aptos"/>
              </a:defRPr>
            </a:pPr>
            <a:r>
              <a:rPr sz="788" b="1">
                <a:solidFill>
                  <a:srgbClr val="102B34"/>
                </a:solidFill>
                <a:latin typeface="Aptos"/>
                <a:ea typeface="Aptos"/>
                <a:cs typeface="Aptos"/>
              </a:rPr>
              <a:t>Yazılım ve arayüz sertleştirme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611ABAF2-1A22-4314-80DF-EB94EB3680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33800" y="3314700"/>
            <a:ext cx="400050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DD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49B23F6B-2888-4DC0-B5A2-97331A4595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33800" y="3314700"/>
            <a:ext cx="1240155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E7D6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37AD11F5-1F5D-41FA-A043-623A5CAB2A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81950" y="3257550"/>
            <a:ext cx="10477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788" b="1">
                <a:solidFill>
                  <a:srgbClr val="102B34"/>
                </a:solidFill>
                <a:latin typeface="Aptos"/>
                <a:ea typeface="Aptos"/>
                <a:cs typeface="Aptos"/>
              </a:defRPr>
            </a:pPr>
            <a:r>
              <a:rPr sz="788" b="1">
                <a:solidFill>
                  <a:srgbClr val="102B34"/>
                </a:solidFill>
                <a:latin typeface="Aptos"/>
                <a:ea typeface="Aptos"/>
                <a:cs typeface="Aptos"/>
              </a:rPr>
              <a:t>250-500K TL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638417C2-A14A-40B7-AB10-1A56F594B6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3638550"/>
            <a:ext cx="2476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88" b="1">
                <a:solidFill>
                  <a:srgbClr val="102B34"/>
                </a:solidFill>
                <a:latin typeface="Aptos"/>
                <a:ea typeface="Aptos"/>
                <a:cs typeface="Aptos"/>
              </a:defRPr>
            </a:pPr>
            <a:r>
              <a:rPr sz="788" b="1">
                <a:solidFill>
                  <a:srgbClr val="102B34"/>
                </a:solidFill>
                <a:latin typeface="Aptos"/>
                <a:ea typeface="Aptos"/>
                <a:cs typeface="Aptos"/>
              </a:rPr>
              <a:t>Saha servis/demolar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39AEA76E-E5A5-4B0F-A3D1-DC3C31E304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33800" y="3676650"/>
            <a:ext cx="400050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DD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D78F6B51-346E-427B-90BA-66B6FE47C9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33800" y="3676650"/>
            <a:ext cx="64008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8AFC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61C970AA-9351-4CEA-84A7-6A10BF69EF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81950" y="3619500"/>
            <a:ext cx="10477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788" b="1">
                <a:solidFill>
                  <a:srgbClr val="102B34"/>
                </a:solidFill>
                <a:latin typeface="Aptos"/>
                <a:ea typeface="Aptos"/>
                <a:cs typeface="Aptos"/>
              </a:defRPr>
            </a:pPr>
            <a:r>
              <a:rPr sz="788" b="1">
                <a:solidFill>
                  <a:srgbClr val="102B34"/>
                </a:solidFill>
                <a:latin typeface="Aptos"/>
                <a:ea typeface="Aptos"/>
                <a:cs typeface="Aptos"/>
              </a:rPr>
              <a:t>100-250K TL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99C136DE-6E4B-4A87-82FE-AB9477608E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4000500"/>
            <a:ext cx="2476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88" b="1">
                <a:solidFill>
                  <a:srgbClr val="102B34"/>
                </a:solidFill>
                <a:latin typeface="Aptos"/>
                <a:ea typeface="Aptos"/>
                <a:cs typeface="Aptos"/>
              </a:defRPr>
            </a:pPr>
            <a:r>
              <a:rPr sz="788" b="1">
                <a:solidFill>
                  <a:srgbClr val="102B34"/>
                </a:solidFill>
                <a:latin typeface="Aptos"/>
                <a:ea typeface="Aptos"/>
                <a:cs typeface="Aptos"/>
              </a:rPr>
              <a:t>Video, datasheet, ürün sayfası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F6ABE9BE-1485-406E-9E1C-D6F75B579D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33800" y="4038600"/>
            <a:ext cx="400050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DD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775A628F-EA2C-4751-9371-BF95381274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33800" y="4038600"/>
            <a:ext cx="48006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902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408FF27C-0447-4BE8-945F-E6567586DB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81950" y="3981450"/>
            <a:ext cx="10477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788" b="1">
                <a:solidFill>
                  <a:srgbClr val="102B34"/>
                </a:solidFill>
                <a:latin typeface="Aptos"/>
                <a:ea typeface="Aptos"/>
                <a:cs typeface="Aptos"/>
              </a:defRPr>
            </a:pPr>
            <a:r>
              <a:rPr sz="788" b="1">
                <a:solidFill>
                  <a:srgbClr val="102B34"/>
                </a:solidFill>
                <a:latin typeface="Aptos"/>
                <a:ea typeface="Aptos"/>
                <a:cs typeface="Aptos"/>
              </a:rPr>
              <a:t>75-200K TL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46AB088B-EC87-43EB-AC0A-7A64ECCC9E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4362450"/>
            <a:ext cx="2476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88" b="1">
                <a:solidFill>
                  <a:srgbClr val="102B34"/>
                </a:solidFill>
                <a:latin typeface="Aptos"/>
                <a:ea typeface="Aptos"/>
                <a:cs typeface="Aptos"/>
              </a:defRPr>
            </a:pPr>
            <a:r>
              <a:rPr sz="788" b="1">
                <a:solidFill>
                  <a:srgbClr val="102B34"/>
                </a:solidFill>
                <a:latin typeface="Aptos"/>
                <a:ea typeface="Aptos"/>
                <a:cs typeface="Aptos"/>
              </a:rPr>
              <a:t>Hukuk/KVKK/sözleşme taslakları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9E10C904-BFF9-4DE5-BE27-D411309645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33800" y="4400550"/>
            <a:ext cx="400050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DD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ECBC3C29-A8E2-4EB3-B120-0D57722970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33800" y="4400550"/>
            <a:ext cx="4000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54B4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0F4A46F6-411F-46E3-A191-5B680D2313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81950" y="4343400"/>
            <a:ext cx="10477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788" b="1">
                <a:solidFill>
                  <a:srgbClr val="102B34"/>
                </a:solidFill>
                <a:latin typeface="Aptos"/>
                <a:ea typeface="Aptos"/>
                <a:cs typeface="Aptos"/>
              </a:defRPr>
            </a:pPr>
            <a:r>
              <a:rPr sz="788" b="1">
                <a:solidFill>
                  <a:srgbClr val="102B34"/>
                </a:solidFill>
                <a:latin typeface="Aptos"/>
                <a:ea typeface="Aptos"/>
                <a:cs typeface="Aptos"/>
              </a:rPr>
              <a:t>75-150K TL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0E410498-6C84-425F-8AE5-F33213359B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10700" y="2457450"/>
            <a:ext cx="9525" cy="2057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BD4D1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D4716880-C18D-4CA2-8141-EE77A58C62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39300" y="2724150"/>
            <a:ext cx="381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E7D6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23192CD9-61B6-4190-A5F1-0A99EF2D61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10750" y="2686050"/>
            <a:ext cx="1400175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102B34"/>
                </a:solidFill>
                <a:latin typeface="Aptos Display"/>
                <a:ea typeface="Aptos Display"/>
                <a:cs typeface="Aptos Display"/>
              </a:defRPr>
            </a:pPr>
            <a:r>
              <a:rPr sz="1950" b="1">
                <a:solidFill>
                  <a:srgbClr val="102B34"/>
                </a:solidFill>
                <a:latin typeface="Aptos Display"/>
                <a:ea typeface="Aptos Display"/>
                <a:cs typeface="Aptos Display"/>
              </a:rPr>
              <a:t>40-50%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BAC1112E-252F-46A4-ACCC-7D97179220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10750" y="3067050"/>
            <a:ext cx="1400175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38" b="1">
                <a:solidFill>
                  <a:srgbClr val="2E7D6B"/>
                </a:solidFill>
                <a:latin typeface="Aptos"/>
                <a:ea typeface="Aptos"/>
                <a:cs typeface="Aptos"/>
              </a:defRPr>
            </a:pPr>
            <a:r>
              <a:rPr sz="638" b="1">
                <a:solidFill>
                  <a:srgbClr val="2E7D6B"/>
                </a:solidFill>
                <a:latin typeface="Aptos"/>
                <a:ea typeface="Aptos"/>
                <a:cs typeface="Aptos"/>
              </a:rPr>
              <a:t>ÖN ÖDEME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536A598C-084F-4DAA-83DB-82CEEE31D5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10750" y="3238500"/>
            <a:ext cx="1400175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90" b="0">
                <a:solidFill>
                  <a:srgbClr val="5D6A70"/>
                </a:solidFill>
                <a:latin typeface="Aptos"/>
                <a:ea typeface="Aptos"/>
                <a:cs typeface="Aptos"/>
              </a:defRPr>
            </a:pPr>
            <a:r>
              <a:rPr sz="690" b="0">
                <a:solidFill>
                  <a:srgbClr val="5D6A70"/>
                </a:solidFill>
                <a:latin typeface="Aptos"/>
                <a:ea typeface="Aptos"/>
                <a:cs typeface="Aptos"/>
              </a:rPr>
              <a:t>Upgrade ve tam cihazda stok riski azaltılır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0D8C5545-58B5-42A4-8032-1F87943AA2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39300" y="3752850"/>
            <a:ext cx="381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54B4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B0750065-5063-4CB4-BF26-49101D69A7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10750" y="3714750"/>
            <a:ext cx="1400175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102B34"/>
                </a:solidFill>
                <a:latin typeface="Aptos Display"/>
                <a:ea typeface="Aptos Display"/>
                <a:cs typeface="Aptos Display"/>
              </a:defRPr>
            </a:pPr>
            <a:r>
              <a:rPr sz="1950" b="1">
                <a:solidFill>
                  <a:srgbClr val="102B34"/>
                </a:solidFill>
                <a:latin typeface="Aptos Display"/>
                <a:ea typeface="Aptos Display"/>
                <a:cs typeface="Aptos Display"/>
              </a:rPr>
              <a:t>0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88457F91-2FC9-4F70-B80D-DEC18A17E4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10750" y="4095750"/>
            <a:ext cx="1400175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38" b="1">
                <a:solidFill>
                  <a:srgbClr val="B54B45"/>
                </a:solidFill>
                <a:latin typeface="Aptos"/>
                <a:ea typeface="Aptos"/>
                <a:cs typeface="Aptos"/>
              </a:defRPr>
            </a:pPr>
            <a:r>
              <a:rPr sz="638" b="1">
                <a:solidFill>
                  <a:srgbClr val="B54B45"/>
                </a:solidFill>
                <a:latin typeface="Aptos"/>
                <a:ea typeface="Aptos"/>
                <a:cs typeface="Aptos"/>
              </a:rPr>
              <a:t>GENIŞ ÜCRETSIZ PILOT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B48CC2FC-0BBA-4E54-8081-5D86421ABC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10750" y="4267200"/>
            <a:ext cx="1400175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90" b="0">
                <a:solidFill>
                  <a:srgbClr val="5D6A70"/>
                </a:solidFill>
                <a:latin typeface="Aptos"/>
                <a:ea typeface="Aptos"/>
                <a:cs typeface="Aptos"/>
              </a:defRPr>
            </a:pPr>
            <a:r>
              <a:rPr sz="690" b="0">
                <a:solidFill>
                  <a:srgbClr val="5D6A70"/>
                </a:solidFill>
                <a:latin typeface="Aptos"/>
                <a:ea typeface="Aptos"/>
                <a:cs typeface="Aptos"/>
              </a:rPr>
              <a:t>İndirimli ücretli pilot disiplini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1182C06D-4D71-4B0F-B622-40EB267117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429250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BD4D1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460701F5-1344-46EC-9999-BD25CF573C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5715000"/>
            <a:ext cx="381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5C6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D4E0E0C0-3789-4A9C-812A-E442168AC6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5676900"/>
            <a:ext cx="230505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102B34"/>
                </a:solidFill>
                <a:latin typeface="Aptos Display"/>
                <a:ea typeface="Aptos Display"/>
                <a:cs typeface="Aptos Display"/>
              </a:defRPr>
            </a:pPr>
            <a:r>
              <a:rPr sz="1950" b="1">
                <a:solidFill>
                  <a:srgbClr val="102B34"/>
                </a:solidFill>
                <a:latin typeface="Aptos Display"/>
                <a:ea typeface="Aptos Display"/>
                <a:cs typeface="Aptos Display"/>
              </a:rPr>
              <a:t>1.8-3.5M TL</a:t>
            </a:r>
          </a:p>
        </p:txBody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0438A1D9-4B78-404E-BE84-247CB995EC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6057900"/>
            <a:ext cx="230505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38" b="1">
                <a:solidFill>
                  <a:srgbClr val="0F5C6E"/>
                </a:solidFill>
                <a:latin typeface="Aptos"/>
                <a:ea typeface="Aptos"/>
                <a:cs typeface="Aptos"/>
              </a:defRPr>
            </a:pPr>
            <a:r>
              <a:rPr sz="638" b="1">
                <a:solidFill>
                  <a:srgbClr val="0F5C6E"/>
                </a:solidFill>
                <a:latin typeface="Aptos"/>
                <a:ea typeface="Aptos"/>
                <a:cs typeface="Aptos"/>
              </a:rPr>
              <a:t>İLK 6 AY</a:t>
            </a:r>
          </a:p>
        </p:txBody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BE287B49-66D7-47C5-AF47-AD19F2D2F6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6229350"/>
            <a:ext cx="23050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90" b="0">
                <a:solidFill>
                  <a:srgbClr val="5D6A70"/>
                </a:solidFill>
                <a:latin typeface="Aptos"/>
                <a:ea typeface="Aptos"/>
                <a:cs typeface="Aptos"/>
              </a:defRPr>
            </a:pPr>
            <a:r>
              <a:rPr sz="690" b="0">
                <a:solidFill>
                  <a:srgbClr val="5D6A70"/>
                </a:solidFill>
                <a:latin typeface="Aptos"/>
                <a:ea typeface="Aptos"/>
                <a:cs typeface="Aptos"/>
              </a:rPr>
              <a:t>5-8 ücretli pilot/upgrade hedefi</a:t>
            </a:r>
          </a:p>
        </p:txBody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1823F200-6CFD-4A6E-8B52-34C1088DB2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0" y="5715000"/>
            <a:ext cx="381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E7D6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399C0430-B2C0-4ACF-8FBB-5E2960471C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86200" y="5676900"/>
            <a:ext cx="230505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102B34"/>
                </a:solidFill>
                <a:latin typeface="Aptos Display"/>
                <a:ea typeface="Aptos Display"/>
                <a:cs typeface="Aptos Display"/>
              </a:defRPr>
            </a:pPr>
            <a:r>
              <a:rPr sz="1950" b="1">
                <a:solidFill>
                  <a:srgbClr val="102B34"/>
                </a:solidFill>
                <a:latin typeface="Aptos Display"/>
                <a:ea typeface="Aptos Display"/>
                <a:cs typeface="Aptos Display"/>
              </a:rPr>
              <a:t>3.5-6.5M TL</a:t>
            </a:r>
          </a:p>
        </p:txBody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3DFD39E1-1A63-4298-AED4-20E20DE3E6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86200" y="6057900"/>
            <a:ext cx="230505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38" b="1">
                <a:solidFill>
                  <a:srgbClr val="2E7D6B"/>
                </a:solidFill>
                <a:latin typeface="Aptos"/>
                <a:ea typeface="Aptos"/>
                <a:cs typeface="Aptos"/>
              </a:defRPr>
            </a:pPr>
            <a:r>
              <a:rPr sz="638" b="1">
                <a:solidFill>
                  <a:srgbClr val="2E7D6B"/>
                </a:solidFill>
                <a:latin typeface="Aptos"/>
                <a:ea typeface="Aptos"/>
                <a:cs typeface="Aptos"/>
              </a:rPr>
              <a:t>İLK 12 AY</a:t>
            </a:r>
          </a:p>
        </p:txBody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5F5D15AA-DD56-49A2-AACC-FBE43E8688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86200" y="6229350"/>
            <a:ext cx="23050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90" b="0">
                <a:solidFill>
                  <a:srgbClr val="5D6A70"/>
                </a:solidFill>
                <a:latin typeface="Aptos"/>
                <a:ea typeface="Aptos"/>
                <a:cs typeface="Aptos"/>
              </a:defRPr>
            </a:pPr>
            <a:r>
              <a:rPr sz="690" b="0">
                <a:solidFill>
                  <a:srgbClr val="5D6A70"/>
                </a:solidFill>
                <a:latin typeface="Aptos"/>
                <a:ea typeface="Aptos"/>
                <a:cs typeface="Aptos"/>
              </a:rPr>
              <a:t>15-30 satış/sipariş + ürün hattı</a:t>
            </a:r>
          </a:p>
        </p:txBody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4B4A3B73-3996-4181-B048-6F48C048BC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53200" y="5715000"/>
            <a:ext cx="381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902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0E426884-49A2-4535-BFCD-B86E0251EB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24650" y="5676900"/>
            <a:ext cx="230505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102B34"/>
                </a:solidFill>
                <a:latin typeface="Aptos Display"/>
                <a:ea typeface="Aptos Display"/>
                <a:cs typeface="Aptos Display"/>
              </a:defRPr>
            </a:pPr>
            <a:r>
              <a:rPr sz="1950" b="1">
                <a:solidFill>
                  <a:srgbClr val="102B34"/>
                </a:solidFill>
                <a:latin typeface="Aptos Display"/>
                <a:ea typeface="Aptos Display"/>
                <a:cs typeface="Aptos Display"/>
              </a:rPr>
              <a:t>8-15M TL</a:t>
            </a:r>
          </a:p>
        </p:txBody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9C3BC1B0-DF17-4464-89D9-E2B4802225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24650" y="6057900"/>
            <a:ext cx="230505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38" b="1">
                <a:solidFill>
                  <a:srgbClr val="C9902E"/>
                </a:solidFill>
                <a:latin typeface="Aptos"/>
                <a:ea typeface="Aptos"/>
                <a:cs typeface="Aptos"/>
              </a:defRPr>
            </a:pPr>
            <a:r>
              <a:rPr sz="638" b="1">
                <a:solidFill>
                  <a:srgbClr val="C9902E"/>
                </a:solidFill>
                <a:latin typeface="Aptos"/>
                <a:ea typeface="Aptos"/>
                <a:cs typeface="Aptos"/>
              </a:rPr>
              <a:t>12 AY SONRASI</a:t>
            </a:r>
          </a:p>
        </p:txBody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F5410EF9-C9FB-4EFF-92E7-0F62C64EFC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24650" y="6229350"/>
            <a:ext cx="23050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90" b="0">
                <a:solidFill>
                  <a:srgbClr val="5D6A70"/>
                </a:solidFill>
                <a:latin typeface="Aptos"/>
                <a:ea typeface="Aptos"/>
                <a:cs typeface="Aptos"/>
              </a:defRPr>
            </a:pPr>
            <a:r>
              <a:rPr sz="690" b="0">
                <a:solidFill>
                  <a:srgbClr val="5D6A70"/>
                </a:solidFill>
                <a:latin typeface="Aptos"/>
                <a:ea typeface="Aptos"/>
                <a:cs typeface="Aptos"/>
              </a:rPr>
              <a:t>Tam cihaz/ihracat için şartlı büyüme</a:t>
            </a:r>
          </a:p>
        </p:txBody>
      </p:sp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40480E29-D665-4D31-908F-6878AB29FA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0" y="5753100"/>
            <a:ext cx="1952625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5D6A70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5D6A70"/>
                </a:solidFill>
                <a:latin typeface="Aptos"/>
                <a:ea typeface="Aptos"/>
                <a:cs typeface="Aptos"/>
              </a:rPr>
              <a:t>Ana fikir: yatırımcıdan önce müşterinin ödeme niyeti ve servis maliyeti ölçülür.</a:t>
            </a:r>
          </a:p>
        </p:txBody>
      </p:sp>
      <p:sp>
        <p:nvSpPr>
          <p:cNvPr id="54" name="">
            <a:extLst xmlns:a="http://schemas.openxmlformats.org/drawingml/2006/main">
              <a:ext uri="{FF2B5EF4-FFF2-40B4-BE49-F238E27FC236}">
                <a16:creationId xmlns:a16="http://schemas.microsoft.com/office/drawing/2014/main" id="{10ECEF28-8961-4B9B-8878-2A35FAAF08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24600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BD4D1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5" name="">
            <a:extLst xmlns:a="http://schemas.openxmlformats.org/drawingml/2006/main">
              <a:ext uri="{FF2B5EF4-FFF2-40B4-BE49-F238E27FC236}">
                <a16:creationId xmlns:a16="http://schemas.microsoft.com/office/drawing/2014/main" id="{AF6873B5-5F76-4187-BE06-AFE91C341B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48425"/>
            <a:ext cx="942975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38" b="0">
                <a:solidFill>
                  <a:srgbClr val="5D6A70"/>
                </a:solidFill>
                <a:latin typeface="Aptos"/>
                <a:ea typeface="Aptos"/>
                <a:cs typeface="Aptos"/>
              </a:defRPr>
            </a:pPr>
            <a:r>
              <a:rPr sz="638" b="0">
                <a:solidFill>
                  <a:srgbClr val="5D6A70"/>
                </a:solidFill>
                <a:latin typeface="Aptos"/>
                <a:ea typeface="Aptos"/>
                <a:cs typeface="Aptos"/>
              </a:rPr>
              <a:t>Kaynak: Kuvoz 3.0 revize yol haritasi ve pazar notlari, 10 Mayis 2026</a:t>
            </a:r>
          </a:p>
        </p:txBody>
      </p:sp>
    </p:spTree>
    <p:extLst>
      <p:ext uri="{BB962C8B-B14F-4D97-AF65-F5344CB8AC3E}">
        <p14:creationId xmlns:p14="http://schemas.microsoft.com/office/powerpoint/2010/main" val="294590677"/>
      </p:ext>
    </p:extLst>
  </p:cSld>
</p:sld>
</file>

<file path=ppt/slides/slide8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7557F4D0-6C9D-4EC5-A498-4D73BA64FD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5E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3CA6D8E-2E07-4550-976E-03AF3CFA3D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5C6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pic>
        <p:nvPicPr>
          <p:cNvPr id="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5a9ad63019d4e20"/>
          <a:stretch xmlns:a="http://schemas.openxmlformats.org/drawingml/2006/main"/>
        </p:blipFill>
        <p:spPr>
          <a:xfrm xmlns:a="http://schemas.openxmlformats.org/drawingml/2006/main">
            <a:off x="10610850" y="323850"/>
            <a:ext cx="609600" cy="609600"/>
          </a:xfrm>
          <a:prstGeom xmlns:a="http://schemas.openxmlformats.org/drawingml/2006/main" prst="rect">
            <a:avLst/>
          </a:prstGeom>
        </p:spPr>
      </p:pic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11D133B-50BE-4EC0-9F5C-E956D9F26D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0050"/>
            <a:ext cx="4381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0F5C6E"/>
                </a:solidFill>
                <a:latin typeface="Aptos"/>
                <a:ea typeface="Aptos"/>
                <a:cs typeface="Aptos"/>
              </a:defRPr>
            </a:pPr>
            <a:r>
              <a:rPr sz="750" b="1">
                <a:solidFill>
                  <a:srgbClr val="0F5C6E"/>
                </a:solidFill>
                <a:latin typeface="Aptos"/>
                <a:ea typeface="Aptos"/>
                <a:cs typeface="Aptos"/>
              </a:rPr>
              <a:t>0-12 AY PLANI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DFCD99F-76C2-434A-B01A-F1BD43CA28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82375" y="476250"/>
            <a:ext cx="4000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5D6A70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5D6A70"/>
                </a:solidFill>
                <a:latin typeface="Aptos"/>
                <a:ea typeface="Aptos"/>
                <a:cs typeface="Aptos"/>
              </a:rPr>
              <a:t>08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3EA12B4-ED64-4620-8CC1-5EF23B8BD1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81050"/>
            <a:ext cx="3429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0F5C6E"/>
                </a:solidFill>
                <a:latin typeface="Aptos"/>
                <a:ea typeface="Aptos"/>
                <a:cs typeface="Aptos"/>
              </a:defRPr>
            </a:pPr>
            <a:r>
              <a:rPr sz="750" b="1">
                <a:solidFill>
                  <a:srgbClr val="0F5C6E"/>
                </a:solidFill>
                <a:latin typeface="Aptos"/>
                <a:ea typeface="Aptos"/>
                <a:cs typeface="Aptos"/>
              </a:rPr>
              <a:t>YOL HARITASI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3986E66-515D-41AB-A8CB-F23F7BE2BB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047750"/>
            <a:ext cx="8858250" cy="78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325" b="1">
                <a:solidFill>
                  <a:srgbClr val="102B34"/>
                </a:solidFill>
                <a:latin typeface="Aptos Display"/>
                <a:ea typeface="Aptos Display"/>
                <a:cs typeface="Aptos Display"/>
              </a:defRPr>
            </a:pPr>
            <a:r>
              <a:rPr sz="2325" b="1">
                <a:solidFill>
                  <a:srgbClr val="102B34"/>
                </a:solidFill>
                <a:latin typeface="Aptos Display"/>
                <a:ea typeface="Aptos Display"/>
                <a:cs typeface="Aptos Display"/>
              </a:rPr>
              <a:t>İlk yılın amacı büyük lansman değil, düşük riskli ticari doğrulama.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521AC4C-FED4-4898-AA63-362BAFFAF2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85950"/>
            <a:ext cx="8763000" cy="428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23" b="0">
                <a:solidFill>
                  <a:srgbClr val="5D6A70"/>
                </a:solidFill>
                <a:latin typeface="Aptos"/>
                <a:ea typeface="Aptos"/>
                <a:cs typeface="Aptos"/>
              </a:defRPr>
            </a:pPr>
            <a:r>
              <a:rPr sz="923" b="0">
                <a:solidFill>
                  <a:srgbClr val="5D6A70"/>
                </a:solidFill>
                <a:latin typeface="Aptos"/>
                <a:ea typeface="Aptos"/>
                <a:cs typeface="Aptos"/>
              </a:rPr>
              <a:t>Her fazda ödeme, saha stabilitesi ve servis yükü ölçülmeli; Teknopark veya ayrı şirket kararı 12. ayda verilmelidir.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66BED7B-F9D6-429A-A1B6-E4A0593032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400300"/>
            <a:ext cx="4000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0F5C6E"/>
                </a:solidFill>
                <a:latin typeface="Aptos Display"/>
                <a:ea typeface="Aptos Display"/>
                <a:cs typeface="Aptos Display"/>
              </a:defRPr>
            </a:pPr>
            <a:r>
              <a:rPr sz="1500" b="1">
                <a:solidFill>
                  <a:srgbClr val="0F5C6E"/>
                </a:solidFill>
                <a:latin typeface="Aptos Display"/>
                <a:ea typeface="Aptos Display"/>
                <a:cs typeface="Aptos Display"/>
              </a:rPr>
              <a:t>01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3EF9B26-4C1E-4432-AC4F-C016478452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4450" y="2533650"/>
            <a:ext cx="17335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5C6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A0C6B22-BC76-416D-98E5-CC269D7C78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762250"/>
            <a:ext cx="21907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38" b="1">
                <a:solidFill>
                  <a:srgbClr val="102B34"/>
                </a:solidFill>
                <a:latin typeface="Aptos"/>
                <a:ea typeface="Aptos"/>
                <a:cs typeface="Aptos"/>
              </a:defRPr>
            </a:pPr>
            <a:r>
              <a:rPr sz="938" b="1">
                <a:solidFill>
                  <a:srgbClr val="102B34"/>
                </a:solidFill>
                <a:latin typeface="Aptos"/>
                <a:ea typeface="Aptos"/>
                <a:cs typeface="Aptos"/>
              </a:rPr>
              <a:t>0-30 gün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3FE9CAF-6009-407B-BE75-8CDF802D63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009900"/>
            <a:ext cx="219075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05" b="0">
                <a:solidFill>
                  <a:srgbClr val="5D6A70"/>
                </a:solidFill>
                <a:latin typeface="Aptos"/>
                <a:ea typeface="Aptos"/>
                <a:cs typeface="Aptos"/>
              </a:defRPr>
            </a:pPr>
            <a:r>
              <a:rPr sz="705" b="0">
                <a:solidFill>
                  <a:srgbClr val="5D6A70"/>
                </a:solidFill>
                <a:latin typeface="Aptos"/>
                <a:ea typeface="Aptos"/>
                <a:cs typeface="Aptos"/>
              </a:rPr>
              <a:t>CRM temizliği, ilk 30 müşteri araması, 10 pilot adayı, V1 refresh teklifi.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ECC8928-3F22-4759-8459-323CF3DFD0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2400300"/>
            <a:ext cx="4000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2E7D6B"/>
                </a:solidFill>
                <a:latin typeface="Aptos Display"/>
                <a:ea typeface="Aptos Display"/>
                <a:cs typeface="Aptos Display"/>
              </a:defRPr>
            </a:pPr>
            <a:r>
              <a:rPr sz="1500" b="1">
                <a:solidFill>
                  <a:srgbClr val="2E7D6B"/>
                </a:solidFill>
                <a:latin typeface="Aptos Display"/>
                <a:ea typeface="Aptos Display"/>
                <a:cs typeface="Aptos Display"/>
              </a:rPr>
              <a:t>02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B588C83-F17F-408D-A3AD-EFE2205223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90950" y="2533650"/>
            <a:ext cx="17335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E7D6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2B7A1EC-9E82-4C35-B282-C05750590D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2762250"/>
            <a:ext cx="21907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38" b="1">
                <a:solidFill>
                  <a:srgbClr val="102B34"/>
                </a:solidFill>
                <a:latin typeface="Aptos"/>
                <a:ea typeface="Aptos"/>
                <a:cs typeface="Aptos"/>
              </a:defRPr>
            </a:pPr>
            <a:r>
              <a:rPr sz="938" b="1">
                <a:solidFill>
                  <a:srgbClr val="102B34"/>
                </a:solidFill>
                <a:latin typeface="Aptos"/>
                <a:ea typeface="Aptos"/>
                <a:cs typeface="Aptos"/>
              </a:rPr>
              <a:t>1-3 ay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E2C35FA-3015-43B5-B61B-C13F04C08E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3009900"/>
            <a:ext cx="219075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05" b="0">
                <a:solidFill>
                  <a:srgbClr val="5D6A70"/>
                </a:solidFill>
                <a:latin typeface="Aptos"/>
                <a:ea typeface="Aptos"/>
                <a:cs typeface="Aptos"/>
              </a:defRPr>
            </a:pPr>
            <a:r>
              <a:rPr sz="705" b="0">
                <a:solidFill>
                  <a:srgbClr val="5D6A70"/>
                </a:solidFill>
                <a:latin typeface="Aptos"/>
                <a:ea typeface="Aptos"/>
                <a:cs typeface="Aptos"/>
              </a:rPr>
              <a:t>10 refresh teklifi, 2-3 ücretli pilot, ilk saha raporu ve montaj checklist.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2152B4A5-F772-46DD-BB5B-A98FBC7783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2400300"/>
            <a:ext cx="4000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58AFC4"/>
                </a:solidFill>
                <a:latin typeface="Aptos Display"/>
                <a:ea typeface="Aptos Display"/>
                <a:cs typeface="Aptos Display"/>
              </a:defRPr>
            </a:pPr>
            <a:r>
              <a:rPr sz="1500" b="1">
                <a:solidFill>
                  <a:srgbClr val="58AFC4"/>
                </a:solidFill>
                <a:latin typeface="Aptos Display"/>
                <a:ea typeface="Aptos Display"/>
                <a:cs typeface="Aptos Display"/>
              </a:rPr>
              <a:t>03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381049CE-9974-4204-9C89-7E13820077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2533650"/>
            <a:ext cx="17335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8AFC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6262900B-AF2A-4627-84BF-BAAEBD1F7A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2762250"/>
            <a:ext cx="21907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38" b="1">
                <a:solidFill>
                  <a:srgbClr val="102B34"/>
                </a:solidFill>
                <a:latin typeface="Aptos"/>
                <a:ea typeface="Aptos"/>
                <a:cs typeface="Aptos"/>
              </a:defRPr>
            </a:pPr>
            <a:r>
              <a:rPr sz="938" b="1">
                <a:solidFill>
                  <a:srgbClr val="102B34"/>
                </a:solidFill>
                <a:latin typeface="Aptos"/>
                <a:ea typeface="Aptos"/>
                <a:cs typeface="Aptos"/>
              </a:rPr>
              <a:t>3-6 ay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CDA63722-9E48-422A-91E8-C0BE417B0C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3009900"/>
            <a:ext cx="219075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05" b="0">
                <a:solidFill>
                  <a:srgbClr val="5D6A70"/>
                </a:solidFill>
                <a:latin typeface="Aptos"/>
                <a:ea typeface="Aptos"/>
                <a:cs typeface="Aptos"/>
              </a:defRPr>
            </a:pPr>
            <a:r>
              <a:rPr sz="705" b="0">
                <a:solidFill>
                  <a:srgbClr val="5D6A70"/>
                </a:solidFill>
                <a:latin typeface="Aptos"/>
                <a:ea typeface="Aptos"/>
                <a:cs typeface="Aptos"/>
              </a:rPr>
              <a:t>Vetmarketi ürün sayfası, 5-8 ücretli upgrade, 3 referans klinik.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D6CE9C8F-27C9-4312-8D7C-E16C48E325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2400300"/>
            <a:ext cx="4000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C9902E"/>
                </a:solidFill>
                <a:latin typeface="Aptos Display"/>
                <a:ea typeface="Aptos Display"/>
                <a:cs typeface="Aptos Display"/>
              </a:defRPr>
            </a:pPr>
            <a:r>
              <a:rPr sz="1500" b="1">
                <a:solidFill>
                  <a:srgbClr val="C9902E"/>
                </a:solidFill>
                <a:latin typeface="Aptos Display"/>
                <a:ea typeface="Aptos Display"/>
                <a:cs typeface="Aptos Display"/>
              </a:rPr>
              <a:t>04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9F146C35-B7F5-492A-BABF-0334616185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43950" y="2533650"/>
            <a:ext cx="17335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902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8F0B638F-B343-41EA-ACA0-14ACF892CC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2762250"/>
            <a:ext cx="21907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38" b="1">
                <a:solidFill>
                  <a:srgbClr val="102B34"/>
                </a:solidFill>
                <a:latin typeface="Aptos"/>
                <a:ea typeface="Aptos"/>
                <a:cs typeface="Aptos"/>
              </a:defRPr>
            </a:pPr>
            <a:r>
              <a:rPr sz="938" b="1">
                <a:solidFill>
                  <a:srgbClr val="102B34"/>
                </a:solidFill>
                <a:latin typeface="Aptos"/>
                <a:ea typeface="Aptos"/>
                <a:cs typeface="Aptos"/>
              </a:rPr>
              <a:t>6-9 ay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30DE0093-7686-4995-B63A-80E799EF5E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3009900"/>
            <a:ext cx="219075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05" b="0">
                <a:solidFill>
                  <a:srgbClr val="5D6A70"/>
                </a:solidFill>
                <a:latin typeface="Aptos"/>
                <a:ea typeface="Aptos"/>
                <a:cs typeface="Aptos"/>
              </a:defRPr>
            </a:pPr>
            <a:r>
              <a:rPr sz="705" b="0">
                <a:solidFill>
                  <a:srgbClr val="5D6A70"/>
                </a:solidFill>
                <a:latin typeface="Aptos"/>
                <a:ea typeface="Aptos"/>
                <a:cs typeface="Aptos"/>
              </a:rPr>
              <a:t>10-15 satış/sipariş, servis standardı, tam cihaz talep sinyali.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37BFC2D8-E7F8-408A-92EC-AC56E15D7D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4819650"/>
            <a:ext cx="10382250" cy="819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252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016E5FD7-403F-4054-8DF4-4A44559B55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5029200"/>
            <a:ext cx="20955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58AFC4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58AFC4"/>
                </a:solidFill>
                <a:latin typeface="Aptos"/>
                <a:ea typeface="Aptos"/>
                <a:cs typeface="Aptos"/>
              </a:rPr>
              <a:t>9-12. ay karar kapısı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54FD9C70-43C7-4B18-B951-CA5C95F095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5295900"/>
            <a:ext cx="93345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38" b="0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938" b="0">
                <a:solidFill>
                  <a:srgbClr val="FFFFFF"/>
                </a:solidFill>
                <a:latin typeface="Aptos"/>
                <a:ea typeface="Aptos"/>
                <a:cs typeface="Aptos"/>
              </a:rPr>
              <a:t>15+ ödemeli müşteri, yönetilebilir servis maliyeti, tekrarlanabilir montaj ve gerçek tam cihaz talebi varsa ikinci yıl yapısı seçilir: Vetmarketi ürün hattı, Teknopark Ar-Ge projesi veya Kuvoz Teknoloji spin-off.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23AB16FF-BB12-45BA-8570-E2DE9C665D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5953125"/>
            <a:ext cx="20955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2EF"/>
          </a:solidFill>
          <a:ln xmlns:a="http://schemas.openxmlformats.org/drawingml/2006/main" w="9525">
            <a:solidFill>
              <a:srgbClr val="CBD4D1"/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8E10F4FC-6477-4035-B6AC-4278102602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04925" y="6019800"/>
            <a:ext cx="180975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713" b="1">
                <a:solidFill>
                  <a:srgbClr val="102B34"/>
                </a:solidFill>
                <a:latin typeface="Aptos"/>
                <a:ea typeface="Aptos"/>
                <a:cs typeface="Aptos"/>
              </a:defRPr>
            </a:pPr>
            <a:r>
              <a:rPr sz="713" b="1">
                <a:solidFill>
                  <a:srgbClr val="102B34"/>
                </a:solidFill>
                <a:latin typeface="Aptos"/>
                <a:ea typeface="Aptos"/>
                <a:cs typeface="Aptos"/>
              </a:rPr>
              <a:t>Başarı eşiği: 15-30 satış/sipariş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6F8439D9-BD75-4927-A0DA-852656E98B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0" y="5953125"/>
            <a:ext cx="20955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2EF"/>
          </a:solidFill>
          <a:ln xmlns:a="http://schemas.openxmlformats.org/drawingml/2006/main" w="9525">
            <a:solidFill>
              <a:srgbClr val="CBD4D1"/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3282D767-50B6-4821-8262-98EE35D3AD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76675" y="6019800"/>
            <a:ext cx="180975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713" b="1">
                <a:solidFill>
                  <a:srgbClr val="102B34"/>
                </a:solidFill>
                <a:latin typeface="Aptos"/>
                <a:ea typeface="Aptos"/>
                <a:cs typeface="Aptos"/>
              </a:defRPr>
            </a:pPr>
            <a:r>
              <a:rPr sz="713" b="1">
                <a:solidFill>
                  <a:srgbClr val="102B34"/>
                </a:solidFill>
                <a:latin typeface="Aptos"/>
                <a:ea typeface="Aptos"/>
                <a:cs typeface="Aptos"/>
              </a:rPr>
              <a:t>Pilot kanıtı: 60+ gün stabil kullanım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3AFDA28E-8863-4949-8F3D-24AA27FB94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5953125"/>
            <a:ext cx="20955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2EF"/>
          </a:solidFill>
          <a:ln xmlns:a="http://schemas.openxmlformats.org/drawingml/2006/main" w="9525">
            <a:solidFill>
              <a:srgbClr val="CBD4D1"/>
            </a:solidFill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B7D26093-34A7-4BFE-B7DC-EB769B13D2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48425" y="6019800"/>
            <a:ext cx="180975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713" b="1">
                <a:solidFill>
                  <a:srgbClr val="102B34"/>
                </a:solidFill>
                <a:latin typeface="Aptos"/>
                <a:ea typeface="Aptos"/>
                <a:cs typeface="Aptos"/>
              </a:defRPr>
            </a:pPr>
            <a:r>
              <a:rPr sz="713" b="1">
                <a:solidFill>
                  <a:srgbClr val="102B34"/>
                </a:solidFill>
                <a:latin typeface="Aptos"/>
                <a:ea typeface="Aptos"/>
                <a:cs typeface="Aptos"/>
              </a:rPr>
              <a:t>Kanal kanıtı: Vetmarketi sayfası + CRM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FF4AB91F-269F-4E7A-B86D-C45B55E03C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5953125"/>
            <a:ext cx="20955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2EF"/>
          </a:solidFill>
          <a:ln xmlns:a="http://schemas.openxmlformats.org/drawingml/2006/main" w="9525">
            <a:solidFill>
              <a:srgbClr val="CBD4D1"/>
            </a:solidFill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6E8CA12D-86FA-4C2B-9CFD-B8336962A6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20175" y="6019800"/>
            <a:ext cx="180975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713" b="1">
                <a:solidFill>
                  <a:srgbClr val="102B34"/>
                </a:solidFill>
                <a:latin typeface="Aptos"/>
                <a:ea typeface="Aptos"/>
                <a:cs typeface="Aptos"/>
              </a:defRPr>
            </a:pPr>
            <a:r>
              <a:rPr sz="713" b="1">
                <a:solidFill>
                  <a:srgbClr val="102B34"/>
                </a:solidFill>
                <a:latin typeface="Aptos"/>
                <a:ea typeface="Aptos"/>
                <a:cs typeface="Aptos"/>
              </a:rPr>
              <a:t>Yapı kararı: 12. ay verisiyle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36339AF6-0459-4E57-81AF-BC6D4CE755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24600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BD4D1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8E4FE4E3-008C-494D-A6C6-289FF911FF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48425"/>
            <a:ext cx="942975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38" b="0">
                <a:solidFill>
                  <a:srgbClr val="5D6A70"/>
                </a:solidFill>
                <a:latin typeface="Aptos"/>
                <a:ea typeface="Aptos"/>
                <a:cs typeface="Aptos"/>
              </a:defRPr>
            </a:pPr>
            <a:r>
              <a:rPr sz="638" b="0">
                <a:solidFill>
                  <a:srgbClr val="5D6A70"/>
                </a:solidFill>
                <a:latin typeface="Aptos"/>
                <a:ea typeface="Aptos"/>
                <a:cs typeface="Aptos"/>
              </a:rPr>
              <a:t>Kaynak: Kuvoz 3.0 revize yol haritasi ve pazar notlari, 10 Mayis 2026</a:t>
            </a:r>
          </a:p>
        </p:txBody>
      </p:sp>
    </p:spTree>
    <p:extLst>
      <p:ext uri="{BB962C8B-B14F-4D97-AF65-F5344CB8AC3E}">
        <p14:creationId xmlns:p14="http://schemas.microsoft.com/office/powerpoint/2010/main" val="748091947"/>
      </p:ext>
    </p:extLst>
  </p:cSld>
</p:sld>
</file>

<file path=ppt/slides/slide9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BA5C06A9-8DE1-4D0C-A433-CD6D920967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5E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70847CC-46B4-4F64-B865-58E13FA2FC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5C6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pic>
        <p:nvPicPr>
          <p:cNvPr id="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f7c0b0eb4074040"/>
          <a:stretch xmlns:a="http://schemas.openxmlformats.org/drawingml/2006/main"/>
        </p:blipFill>
        <p:spPr>
          <a:xfrm xmlns:a="http://schemas.openxmlformats.org/drawingml/2006/main">
            <a:off x="10610850" y="323850"/>
            <a:ext cx="609600" cy="609600"/>
          </a:xfrm>
          <a:prstGeom xmlns:a="http://schemas.openxmlformats.org/drawingml/2006/main" prst="rect">
            <a:avLst/>
          </a:prstGeom>
        </p:spPr>
      </p:pic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696FE9D-214E-46C1-8DDB-3BC4E19F23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0050"/>
            <a:ext cx="4381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0F5C6E"/>
                </a:solidFill>
                <a:latin typeface="Aptos"/>
                <a:ea typeface="Aptos"/>
                <a:cs typeface="Aptos"/>
              </a:defRPr>
            </a:pPr>
            <a:r>
              <a:rPr sz="750" b="1">
                <a:solidFill>
                  <a:srgbClr val="0F5C6E"/>
                </a:solidFill>
                <a:latin typeface="Aptos"/>
                <a:ea typeface="Aptos"/>
                <a:cs typeface="Aptos"/>
              </a:rPr>
              <a:t>ÜRÜN MIMARISI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53602B5-5BEA-4106-A49E-8ED36BA45C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82375" y="476250"/>
            <a:ext cx="4000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5D6A70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5D6A70"/>
                </a:solidFill>
                <a:latin typeface="Aptos"/>
                <a:ea typeface="Aptos"/>
                <a:cs typeface="Aptos"/>
              </a:rPr>
              <a:t>09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8D66A27-974A-441C-8B78-08D0A1ACB9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81050"/>
            <a:ext cx="3429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0F5C6E"/>
                </a:solidFill>
                <a:latin typeface="Aptos"/>
                <a:ea typeface="Aptos"/>
                <a:cs typeface="Aptos"/>
              </a:defRPr>
            </a:pPr>
            <a:r>
              <a:rPr sz="750" b="1">
                <a:solidFill>
                  <a:srgbClr val="0F5C6E"/>
                </a:solidFill>
                <a:latin typeface="Aptos"/>
                <a:ea typeface="Aptos"/>
                <a:cs typeface="Aptos"/>
              </a:rPr>
              <a:t>AKILLI KATMAN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EAA967E-D6D2-411F-8CC1-B1BFDFE529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047750"/>
            <a:ext cx="8858250" cy="78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325" b="1">
                <a:solidFill>
                  <a:srgbClr val="102B34"/>
                </a:solidFill>
                <a:latin typeface="Aptos Display"/>
                <a:ea typeface="Aptos Display"/>
                <a:cs typeface="Aptos Display"/>
              </a:defRPr>
            </a:pPr>
            <a:r>
              <a:rPr sz="2325" b="1">
                <a:solidFill>
                  <a:srgbClr val="102B34"/>
                </a:solidFill>
                <a:latin typeface="Aptos Display"/>
                <a:ea typeface="Aptos Display"/>
                <a:cs typeface="Aptos Display"/>
              </a:rPr>
              <a:t>Upgrade kit bir ekran değişimi değil; güvenlik, kayıt ve uzaktan servis katmanı.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6DDB915-E51E-4BB2-9CCE-6AB0899CF5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85950"/>
            <a:ext cx="8763000" cy="428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23" b="0">
                <a:solidFill>
                  <a:srgbClr val="5D6A70"/>
                </a:solidFill>
                <a:latin typeface="Aptos"/>
                <a:ea typeface="Aptos"/>
                <a:cs typeface="Aptos"/>
              </a:defRPr>
            </a:pPr>
            <a:r>
              <a:rPr sz="923" b="0">
                <a:solidFill>
                  <a:srgbClr val="5D6A70"/>
                </a:solidFill>
                <a:latin typeface="Aptos"/>
                <a:ea typeface="Aptos"/>
                <a:cs typeface="Aptos"/>
              </a:rPr>
              <a:t>Mimari hem V1 cihazları yükseltmeli hem de ileride Smart ICU ve klinik paneline taşınmalıdır.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0E13809-D9AC-4408-A16B-7F31E1FC1D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2266950"/>
            <a:ext cx="2476500" cy="30003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4D1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DC54E85-DB20-4027-A22F-6705134AB8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2266950"/>
            <a:ext cx="24765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5C6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96A81CD-A431-4744-81B9-AD164F02EA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2390775"/>
            <a:ext cx="18097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Cihaz katmanı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6E6481D-B9FF-4D4B-9DC8-95D007EE11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2952750"/>
            <a:ext cx="200025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4D1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178C95A-0727-4832-BD2C-D109E916C9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2952750"/>
            <a:ext cx="47625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5C6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E1FD838-D1EE-4505-AAD5-05F07102AA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3105150"/>
            <a:ext cx="16764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102B34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102B34"/>
                </a:solidFill>
                <a:latin typeface="Aptos"/>
                <a:ea typeface="Aptos"/>
                <a:cs typeface="Aptos"/>
              </a:rPr>
              <a:t>Sensörler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E6F118B-F466-41D6-A8E6-AD8BACE640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3371850"/>
            <a:ext cx="1676400" cy="-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65" b="0">
                <a:solidFill>
                  <a:srgbClr val="5D6A70"/>
                </a:solidFill>
                <a:latin typeface="Aptos"/>
                <a:ea typeface="Aptos"/>
                <a:cs typeface="Aptos"/>
              </a:defRPr>
            </a:pPr>
            <a:r>
              <a:rPr sz="765" b="0">
                <a:solidFill>
                  <a:srgbClr val="5D6A70"/>
                </a:solidFill>
                <a:latin typeface="Aptos"/>
                <a:ea typeface="Aptos"/>
                <a:cs typeface="Aptos"/>
              </a:rPr>
              <a:t>Isı, nem, CO2/O2, kamera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D69FA6D3-CEF7-4049-A174-A18598559B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3695700"/>
            <a:ext cx="200025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4D1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51580040-013C-4BBE-9519-6DB206DCCC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3695700"/>
            <a:ext cx="47625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5C6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E7242CE3-D9BF-4024-9A2A-5F7F68ED09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3848100"/>
            <a:ext cx="16764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102B34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102B34"/>
                </a:solidFill>
                <a:latin typeface="Aptos"/>
                <a:ea typeface="Aptos"/>
                <a:cs typeface="Aptos"/>
              </a:rPr>
              <a:t>Kontrol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A331E058-3AAA-40F2-99FA-81C6A53741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4114800"/>
            <a:ext cx="1676400" cy="-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65" b="0">
                <a:solidFill>
                  <a:srgbClr val="5D6A70"/>
                </a:solidFill>
                <a:latin typeface="Aptos"/>
                <a:ea typeface="Aptos"/>
                <a:cs typeface="Aptos"/>
              </a:defRPr>
            </a:pPr>
            <a:r>
              <a:rPr sz="765" b="0">
                <a:solidFill>
                  <a:srgbClr val="5D6A70"/>
                </a:solidFill>
                <a:latin typeface="Aptos"/>
                <a:ea typeface="Aptos"/>
                <a:cs typeface="Aptos"/>
              </a:rPr>
              <a:t>Raspberry Pi, röle, kiosk panel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BA3576CD-0C52-4366-B79D-82046F7C9C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4438650"/>
            <a:ext cx="200025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4D1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1C912E33-FDBA-45A3-9323-64806FCA82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4438650"/>
            <a:ext cx="47625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5C6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24B796F5-0A12-469F-9282-F995D16A24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4591050"/>
            <a:ext cx="16764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102B34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102B34"/>
                </a:solidFill>
                <a:latin typeface="Aptos"/>
                <a:ea typeface="Aptos"/>
                <a:cs typeface="Aptos"/>
              </a:rPr>
              <a:t>Ekipman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ECE3B8AC-265A-4D9A-B525-B25C6D7564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4857750"/>
            <a:ext cx="1676400" cy="-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65" b="0">
                <a:solidFill>
                  <a:srgbClr val="5D6A70"/>
                </a:solidFill>
                <a:latin typeface="Aptos"/>
                <a:ea typeface="Aptos"/>
                <a:cs typeface="Aptos"/>
              </a:defRPr>
            </a:pPr>
            <a:r>
              <a:rPr sz="765" b="0">
                <a:solidFill>
                  <a:srgbClr val="5D6A70"/>
                </a:solidFill>
                <a:latin typeface="Aptos"/>
                <a:ea typeface="Aptos"/>
                <a:cs typeface="Aptos"/>
              </a:rPr>
              <a:t>Fan, ısıtıcı, UV, ozon, nebulizatör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DAA25209-8E9B-4E3D-8451-0E3ED110E9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38700" y="2266950"/>
            <a:ext cx="2476500" cy="30003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4D1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9FF54301-8A59-479E-927A-C309AAE55A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38700" y="2266950"/>
            <a:ext cx="24765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E7D6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720ACC69-8CE0-49C4-8A88-AD49524612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67300" y="2390775"/>
            <a:ext cx="18097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Güvenlik katmanı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C1CEE321-EF8C-467A-97E9-3CC1CD9011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67300" y="2952750"/>
            <a:ext cx="200025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4D1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2268FFF7-8858-4FA3-ADCC-D3E35DCCFC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67300" y="2952750"/>
            <a:ext cx="47625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E7D6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46B5ABE6-DC56-425A-B184-8B269A9FCD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0" y="3105150"/>
            <a:ext cx="16764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102B34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102B34"/>
                </a:solidFill>
                <a:latin typeface="Aptos"/>
                <a:ea typeface="Aptos"/>
                <a:cs typeface="Aptos"/>
              </a:rPr>
              <a:t>Hasta güvenliği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3B370EB8-7BD8-4956-9019-15D84B47E9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0" y="3371850"/>
            <a:ext cx="1676400" cy="-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65" b="0">
                <a:solidFill>
                  <a:srgbClr val="5D6A70"/>
                </a:solidFill>
                <a:latin typeface="Aptos"/>
                <a:ea typeface="Aptos"/>
                <a:cs typeface="Aptos"/>
              </a:defRPr>
            </a:pPr>
            <a:r>
              <a:rPr sz="765" b="0">
                <a:solidFill>
                  <a:srgbClr val="5D6A70"/>
                </a:solidFill>
                <a:latin typeface="Aptos"/>
                <a:ea typeface="Aptos"/>
                <a:cs typeface="Aptos"/>
              </a:rPr>
              <a:t>Ozon/UV kilidi, aşırı ısı limiti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3329E2B3-6AAC-4127-A14B-6B77442801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67300" y="3695700"/>
            <a:ext cx="200025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4D1"/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79CF5D26-4B98-4AD2-A346-21B5EDC316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67300" y="3695700"/>
            <a:ext cx="47625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E7D6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6CDF07BC-7336-4F86-87C9-E947116DDD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0" y="3848100"/>
            <a:ext cx="16764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102B34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102B34"/>
                </a:solidFill>
                <a:latin typeface="Aptos"/>
                <a:ea typeface="Aptos"/>
                <a:cs typeface="Aptos"/>
              </a:rPr>
              <a:t>Alarm mantığı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6FD1AE28-083C-4DB8-9D19-A619571A4D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0" y="4114800"/>
            <a:ext cx="1676400" cy="-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65" b="0">
                <a:solidFill>
                  <a:srgbClr val="5D6A70"/>
                </a:solidFill>
                <a:latin typeface="Aptos"/>
                <a:ea typeface="Aptos"/>
                <a:cs typeface="Aptos"/>
              </a:defRPr>
            </a:pPr>
            <a:r>
              <a:rPr sz="765" b="0">
                <a:solidFill>
                  <a:srgbClr val="5D6A70"/>
                </a:solidFill>
                <a:latin typeface="Aptos"/>
                <a:ea typeface="Aptos"/>
                <a:cs typeface="Aptos"/>
              </a:rPr>
              <a:t>Eşik, trend, bağlantı ve sensör arızası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E8592EA4-9EF6-416D-A7E0-63A282C244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67300" y="4438650"/>
            <a:ext cx="200025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4D1"/>
            </a:solidFill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10D80522-28AF-47A8-AE62-092F3DB243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67300" y="4438650"/>
            <a:ext cx="47625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E7D6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662BA400-1532-418F-B706-C285702CCC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0" y="4591050"/>
            <a:ext cx="16764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102B34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102B34"/>
                </a:solidFill>
                <a:latin typeface="Aptos"/>
                <a:ea typeface="Aptos"/>
                <a:cs typeface="Aptos"/>
              </a:rPr>
              <a:t>Güç davranışı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8AD10CA4-E743-4F19-8D05-7CC34A6B1F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0" y="4857750"/>
            <a:ext cx="1676400" cy="-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65" b="0">
                <a:solidFill>
                  <a:srgbClr val="5D6A70"/>
                </a:solidFill>
                <a:latin typeface="Aptos"/>
                <a:ea typeface="Aptos"/>
                <a:cs typeface="Aptos"/>
              </a:defRPr>
            </a:pPr>
            <a:r>
              <a:rPr sz="765" b="0">
                <a:solidFill>
                  <a:srgbClr val="5D6A70"/>
                </a:solidFill>
                <a:latin typeface="Aptos"/>
                <a:ea typeface="Aptos"/>
                <a:cs typeface="Aptos"/>
              </a:rPr>
              <a:t>Kesinti sonrası güvenli yeniden başlama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242A0EE6-4308-4284-9AD9-43B903A0A5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53450" y="2266950"/>
            <a:ext cx="2476500" cy="30003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4D1"/>
            </a:solidFill>
            <a:prstDash val="solid"/>
          </a:ln>
        </p:spPr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59489E8A-7E62-48AF-9ED1-A2E9A0E85A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53450" y="2266950"/>
            <a:ext cx="24765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902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E1D94608-114F-49DD-A48C-A6A1F091AE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82050" y="2390775"/>
            <a:ext cx="18097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Operasyon katmanı</a:t>
            </a:r>
          </a:p>
        </p:txBody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12840E33-464D-4721-9697-2A5721F012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82050" y="2952750"/>
            <a:ext cx="200025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4D1"/>
            </a:solidFill>
            <a:prstDash val="solid"/>
          </a:ln>
        </p:spPr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04A7DECD-2BB2-4AC3-AE1A-5759340F8E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82050" y="2952750"/>
            <a:ext cx="47625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902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4A8666FF-881F-4A8C-B310-A5B43B1FD9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0" y="3105150"/>
            <a:ext cx="16764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102B34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102B34"/>
                </a:solidFill>
                <a:latin typeface="Aptos"/>
                <a:ea typeface="Aptos"/>
                <a:cs typeface="Aptos"/>
              </a:rPr>
              <a:t>Kayıt ve grafik</a:t>
            </a:r>
          </a:p>
        </p:txBody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BBE8E0F3-9170-40F4-AF78-163F3A4B1A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0" y="3371850"/>
            <a:ext cx="1676400" cy="-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65" b="0">
                <a:solidFill>
                  <a:srgbClr val="5D6A70"/>
                </a:solidFill>
                <a:latin typeface="Aptos"/>
                <a:ea typeface="Aptos"/>
                <a:cs typeface="Aptos"/>
              </a:defRPr>
            </a:pPr>
            <a:r>
              <a:rPr sz="765" b="0">
                <a:solidFill>
                  <a:srgbClr val="5D6A70"/>
                </a:solidFill>
                <a:latin typeface="Aptos"/>
                <a:ea typeface="Aptos"/>
                <a:cs typeface="Aptos"/>
              </a:rPr>
              <a:t>Hasta bazlı log, rapor, geçmiş</a:t>
            </a:r>
          </a:p>
        </p:txBody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4621A6B2-D4AE-4FAA-A188-2A2F267C43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82050" y="3695700"/>
            <a:ext cx="200025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4D1"/>
            </a:solidFill>
            <a:prstDash val="solid"/>
          </a:ln>
        </p:spPr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A14C4472-BA60-4177-BAAD-77AAC18C9B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82050" y="3695700"/>
            <a:ext cx="47625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902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2F836EC6-B560-4D0A-AA6D-FE92DE347B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0" y="3848100"/>
            <a:ext cx="16764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102B34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102B34"/>
                </a:solidFill>
                <a:latin typeface="Aptos"/>
                <a:ea typeface="Aptos"/>
                <a:cs typeface="Aptos"/>
              </a:rPr>
              <a:t>Uzaktan destek</a:t>
            </a:r>
          </a:p>
        </p:txBody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DF3378E9-4B3C-4727-AB78-E85BDDFA4D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0" y="4114800"/>
            <a:ext cx="1676400" cy="-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65" b="0">
                <a:solidFill>
                  <a:srgbClr val="5D6A70"/>
                </a:solidFill>
                <a:latin typeface="Aptos"/>
                <a:ea typeface="Aptos"/>
                <a:cs typeface="Aptos"/>
              </a:defRPr>
            </a:pPr>
            <a:r>
              <a:rPr sz="765" b="0">
                <a:solidFill>
                  <a:srgbClr val="5D6A70"/>
                </a:solidFill>
                <a:latin typeface="Aptos"/>
                <a:ea typeface="Aptos"/>
                <a:cs typeface="Aptos"/>
              </a:rPr>
              <a:t>Web panel, servis modu, diagnostik</a:t>
            </a:r>
          </a:p>
        </p:txBody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EE199747-A353-41C1-B9E0-B3C33BA875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82050" y="4438650"/>
            <a:ext cx="200025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4D1"/>
            </a:solidFill>
            <a:prstDash val="solid"/>
          </a:ln>
        </p:spPr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B9944B3B-C4FB-45D3-A13F-1CD883939C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82050" y="4438650"/>
            <a:ext cx="47625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902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FA097291-81F5-4596-A7B8-9E0E518644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0" y="4591050"/>
            <a:ext cx="16764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102B34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102B34"/>
                </a:solidFill>
                <a:latin typeface="Aptos"/>
                <a:ea typeface="Aptos"/>
                <a:cs typeface="Aptos"/>
              </a:rPr>
              <a:t>AI uyarı</a:t>
            </a:r>
          </a:p>
        </p:txBody>
      </p:sp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A93B2728-CD8C-4B05-8035-2F2268A82D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0" y="4857750"/>
            <a:ext cx="1676400" cy="-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65" b="0">
                <a:solidFill>
                  <a:srgbClr val="5D6A70"/>
                </a:solidFill>
                <a:latin typeface="Aptos"/>
                <a:ea typeface="Aptos"/>
                <a:cs typeface="Aptos"/>
              </a:defRPr>
            </a:pPr>
            <a:r>
              <a:rPr sz="765" b="0">
                <a:solidFill>
                  <a:srgbClr val="5D6A70"/>
                </a:solidFill>
                <a:latin typeface="Aptos"/>
                <a:ea typeface="Aptos"/>
                <a:cs typeface="Aptos"/>
              </a:rPr>
              <a:t>Trend, aktivite ve erken risk sinyali</a:t>
            </a:r>
          </a:p>
        </p:txBody>
      </p:sp>
      <p:sp>
        <p:nvSpPr>
          <p:cNvPr id="54" name="">
            <a:extLst xmlns:a="http://schemas.openxmlformats.org/drawingml/2006/main">
              <a:ext uri="{FF2B5EF4-FFF2-40B4-BE49-F238E27FC236}">
                <a16:creationId xmlns:a16="http://schemas.microsoft.com/office/drawing/2014/main" id="{D00B600F-C37F-4370-9FF3-593944D3FD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38550" y="3771900"/>
            <a:ext cx="11430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BD4D1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5" name="">
            <a:extLst xmlns:a="http://schemas.openxmlformats.org/drawingml/2006/main">
              <a:ext uri="{FF2B5EF4-FFF2-40B4-BE49-F238E27FC236}">
                <a16:creationId xmlns:a16="http://schemas.microsoft.com/office/drawing/2014/main" id="{C1C8136D-6614-46C3-A43C-F87663C292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53300" y="3771900"/>
            <a:ext cx="11430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BD4D1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6" name="">
            <a:extLst xmlns:a="http://schemas.openxmlformats.org/drawingml/2006/main">
              <a:ext uri="{FF2B5EF4-FFF2-40B4-BE49-F238E27FC236}">
                <a16:creationId xmlns:a16="http://schemas.microsoft.com/office/drawing/2014/main" id="{9791658A-C9A3-4A12-8FCC-595E79B419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5829300"/>
            <a:ext cx="89535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02B34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102B34"/>
                </a:solidFill>
                <a:latin typeface="Aptos"/>
                <a:ea typeface="Aptos"/>
                <a:cs typeface="Aptos"/>
              </a:rPr>
              <a:t>Kanıtlanacak şey: klinikler sadece daha modern ekran istemiyor; güvenilir alarm, kayıt ve servis kolaylığı istiyor.</a:t>
            </a:r>
          </a:p>
        </p:txBody>
      </p:sp>
      <p:sp>
        <p:nvSpPr>
          <p:cNvPr id="57" name="">
            <a:extLst xmlns:a="http://schemas.openxmlformats.org/drawingml/2006/main">
              <a:ext uri="{FF2B5EF4-FFF2-40B4-BE49-F238E27FC236}">
                <a16:creationId xmlns:a16="http://schemas.microsoft.com/office/drawing/2014/main" id="{9B57A48D-1EDE-4B0B-B73F-C11329F232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24600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BD4D1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8" name="">
            <a:extLst xmlns:a="http://schemas.openxmlformats.org/drawingml/2006/main">
              <a:ext uri="{FF2B5EF4-FFF2-40B4-BE49-F238E27FC236}">
                <a16:creationId xmlns:a16="http://schemas.microsoft.com/office/drawing/2014/main" id="{C7C8D96A-ECA7-4BB7-A37C-4112B48A02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48425"/>
            <a:ext cx="942975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38" b="0">
                <a:solidFill>
                  <a:srgbClr val="5D6A70"/>
                </a:solidFill>
                <a:latin typeface="Aptos"/>
                <a:ea typeface="Aptos"/>
                <a:cs typeface="Aptos"/>
              </a:defRPr>
            </a:pPr>
            <a:r>
              <a:rPr sz="638" b="0">
                <a:solidFill>
                  <a:srgbClr val="5D6A70"/>
                </a:solidFill>
                <a:latin typeface="Aptos"/>
                <a:ea typeface="Aptos"/>
                <a:cs typeface="Aptos"/>
              </a:rPr>
              <a:t>Kaynak: Kuvoz 3.0 revize yol haritasi ve pazar notlari, 10 Mayis 2026</a:t>
            </a:r>
          </a:p>
        </p:txBody>
      </p:sp>
    </p:spTree>
    <p:extLst>
      <p:ext uri="{BB962C8B-B14F-4D97-AF65-F5344CB8AC3E}">
        <p14:creationId xmlns:p14="http://schemas.microsoft.com/office/powerpoint/2010/main" val="1415152593"/>
      </p:ext>
    </p:extLst>
  </p:cSld>
</p:sld>
</file>

<file path=ppt/slides/slide10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731E30F7-CF47-443F-9570-9B96A805EB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5E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6A41EA6-3D9B-40DE-A584-89B10EF415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5C6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pic>
        <p:nvPicPr>
          <p:cNvPr id="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382a59dee2a4747"/>
          <a:stretch xmlns:a="http://schemas.openxmlformats.org/drawingml/2006/main"/>
        </p:blipFill>
        <p:spPr>
          <a:xfrm xmlns:a="http://schemas.openxmlformats.org/drawingml/2006/main">
            <a:off x="10610850" y="323850"/>
            <a:ext cx="609600" cy="609600"/>
          </a:xfrm>
          <a:prstGeom xmlns:a="http://schemas.openxmlformats.org/drawingml/2006/main" prst="rect">
            <a:avLst/>
          </a:prstGeom>
        </p:spPr>
      </p:pic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6F7FAFC-113C-4C93-8866-46224D0437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0050"/>
            <a:ext cx="4381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0F5C6E"/>
                </a:solidFill>
                <a:latin typeface="Aptos"/>
                <a:ea typeface="Aptos"/>
                <a:cs typeface="Aptos"/>
              </a:defRPr>
            </a:pPr>
            <a:r>
              <a:rPr sz="750" b="1">
                <a:solidFill>
                  <a:srgbClr val="0F5C6E"/>
                </a:solidFill>
                <a:latin typeface="Aptos"/>
                <a:ea typeface="Aptos"/>
                <a:cs typeface="Aptos"/>
              </a:rPr>
              <a:t>DESTEK VE TEKNOPARK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38F591A-9AFE-4541-819D-2F48F2D397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82375" y="476250"/>
            <a:ext cx="4000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5D6A70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5D6A70"/>
                </a:solidFill>
                <a:latin typeface="Aptos"/>
                <a:ea typeface="Aptos"/>
                <a:cs typeface="Aptos"/>
              </a:rPr>
              <a:t>10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2E4FA9A-E966-4F20-87E7-AEC5ACC965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81050"/>
            <a:ext cx="3429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0F5C6E"/>
                </a:solidFill>
                <a:latin typeface="Aptos"/>
                <a:ea typeface="Aptos"/>
                <a:cs typeface="Aptos"/>
              </a:defRPr>
            </a:pPr>
            <a:r>
              <a:rPr sz="750" b="1">
                <a:solidFill>
                  <a:srgbClr val="0F5C6E"/>
                </a:solidFill>
                <a:latin typeface="Aptos"/>
                <a:ea typeface="Aptos"/>
                <a:cs typeface="Aptos"/>
              </a:rPr>
              <a:t>DESTEK STRATEJISI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971E382-1CAB-4FF1-B4F6-58229EF855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047750"/>
            <a:ext cx="8858250" cy="78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102B34"/>
                </a:solidFill>
                <a:latin typeface="Aptos Display"/>
                <a:ea typeface="Aptos Display"/>
                <a:cs typeface="Aptos Display"/>
              </a:defRPr>
            </a:pPr>
            <a:r>
              <a:rPr sz="2250" b="1">
                <a:solidFill>
                  <a:srgbClr val="102B34"/>
                </a:solidFill>
                <a:latin typeface="Aptos Display"/>
                <a:ea typeface="Aptos Display"/>
                <a:cs typeface="Aptos Display"/>
              </a:rPr>
              <a:t>Bu modelde ilk finansman yatırımcı değil, müşteri doğrulaması ve ön sipariş olmalı.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BCC5C98-A2D9-4B20-A85F-34660C00FC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85950"/>
            <a:ext cx="8763000" cy="428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23" b="0">
                <a:solidFill>
                  <a:srgbClr val="5D6A70"/>
                </a:solidFill>
                <a:latin typeface="Aptos"/>
                <a:ea typeface="Aptos"/>
                <a:cs typeface="Aptos"/>
              </a:defRPr>
            </a:pPr>
            <a:r>
              <a:rPr sz="923" b="0">
                <a:solidFill>
                  <a:srgbClr val="5D6A70"/>
                </a:solidFill>
                <a:latin typeface="Aptos"/>
                <a:ea typeface="Aptos"/>
                <a:cs typeface="Aptos"/>
              </a:rPr>
              <a:t>Kamu destekleri ve Teknopark daha sonra hızlandırıcı olur; ilk 6 ayda ticari gerçeklik ölçülmeden yapıyı ağırlaştırmamak gerekir.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A6D8823-16E3-4BBC-9CC9-DA7D3AA360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247900"/>
            <a:ext cx="10706100" cy="2286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252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4BF7364-1D03-45F7-9E01-FFDC166847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2667000"/>
            <a:ext cx="381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8AFC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787760D-41F0-4FBB-8B95-A88EF8ED26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2628900"/>
            <a:ext cx="192405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defRPr>
            </a:pPr>
            <a:r>
              <a:rPr sz="1950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rPr>
              <a:t>1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E9F01CE-C9C6-4A13-8149-9BE1FD4133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3009900"/>
            <a:ext cx="192405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38" b="1">
                <a:solidFill>
                  <a:srgbClr val="58AFC4"/>
                </a:solidFill>
                <a:latin typeface="Aptos"/>
                <a:ea typeface="Aptos"/>
                <a:cs typeface="Aptos"/>
              </a:defRPr>
            </a:pPr>
            <a:r>
              <a:rPr sz="638" b="1">
                <a:solidFill>
                  <a:srgbClr val="58AFC4"/>
                </a:solidFill>
                <a:latin typeface="Aptos"/>
                <a:ea typeface="Aptos"/>
                <a:cs typeface="Aptos"/>
              </a:rPr>
              <a:t>VETMARKETI NAKDI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D92A49F-DEB5-47C4-809E-BDB573BDB4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3181350"/>
            <a:ext cx="19240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90" b="0">
                <a:solidFill>
                  <a:srgbClr val="CFE1E5"/>
                </a:solidFill>
                <a:latin typeface="Aptos"/>
                <a:ea typeface="Aptos"/>
                <a:cs typeface="Aptos"/>
              </a:defRPr>
            </a:pPr>
            <a:r>
              <a:rPr sz="690" b="0">
                <a:solidFill>
                  <a:srgbClr val="CFE1E5"/>
                </a:solidFill>
                <a:latin typeface="Aptos"/>
                <a:ea typeface="Aptos"/>
                <a:cs typeface="Aptos"/>
              </a:rPr>
              <a:t>Mevcut operasyon ve satış altyapısı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6D6146C-F024-4B5A-BD16-42614CFA0D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2667000"/>
            <a:ext cx="381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E7D6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F5E9B8A-98DB-4DB7-8506-E710888429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95700" y="2628900"/>
            <a:ext cx="192405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defRPr>
            </a:pPr>
            <a:r>
              <a:rPr sz="1950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rPr>
              <a:t>2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E5F83E22-1586-43A9-9583-0C5B7AE654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95700" y="3009900"/>
            <a:ext cx="192405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38" b="1">
                <a:solidFill>
                  <a:srgbClr val="2E7D6B"/>
                </a:solidFill>
                <a:latin typeface="Aptos"/>
                <a:ea typeface="Aptos"/>
                <a:cs typeface="Aptos"/>
              </a:defRPr>
            </a:pPr>
            <a:r>
              <a:rPr sz="638" b="1">
                <a:solidFill>
                  <a:srgbClr val="2E7D6B"/>
                </a:solidFill>
                <a:latin typeface="Aptos"/>
                <a:ea typeface="Aptos"/>
                <a:cs typeface="Aptos"/>
              </a:rPr>
              <a:t>SERVIS/REFRESH GELIRI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9A276A20-6FB8-4392-BA71-5879B620B0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95700" y="3181350"/>
            <a:ext cx="19240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90" b="0">
                <a:solidFill>
                  <a:srgbClr val="CFE1E5"/>
                </a:solidFill>
                <a:latin typeface="Aptos"/>
                <a:ea typeface="Aptos"/>
                <a:cs typeface="Aptos"/>
              </a:defRPr>
            </a:pPr>
            <a:r>
              <a:rPr sz="690" b="0">
                <a:solidFill>
                  <a:srgbClr val="CFE1E5"/>
                </a:solidFill>
                <a:latin typeface="Aptos"/>
                <a:ea typeface="Aptos"/>
                <a:cs typeface="Aptos"/>
              </a:rPr>
              <a:t>V1 müşteri reaktivasyonu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0715F5C7-25C5-4D80-A393-D38A28808C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24550" y="2667000"/>
            <a:ext cx="381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902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B31364A2-5330-4CE0-94B2-54888B3DE5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2628900"/>
            <a:ext cx="192405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defRPr>
            </a:pPr>
            <a:r>
              <a:rPr sz="1950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rPr>
              <a:t>3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8B126870-4374-4C7E-97C4-2445C8635E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3009900"/>
            <a:ext cx="192405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38" b="1">
                <a:solidFill>
                  <a:srgbClr val="C9902E"/>
                </a:solidFill>
                <a:latin typeface="Aptos"/>
                <a:ea typeface="Aptos"/>
                <a:cs typeface="Aptos"/>
              </a:defRPr>
            </a:pPr>
            <a:r>
              <a:rPr sz="638" b="1">
                <a:solidFill>
                  <a:srgbClr val="C9902E"/>
                </a:solidFill>
                <a:latin typeface="Aptos"/>
                <a:ea typeface="Aptos"/>
                <a:cs typeface="Aptos"/>
              </a:rPr>
              <a:t>UPGRADE ÖN ÖDEMESI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30F41990-827B-4DF3-9010-F452070CEF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3181350"/>
            <a:ext cx="19240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90" b="0">
                <a:solidFill>
                  <a:srgbClr val="CFE1E5"/>
                </a:solidFill>
                <a:latin typeface="Aptos"/>
                <a:ea typeface="Aptos"/>
                <a:cs typeface="Aptos"/>
              </a:defRPr>
            </a:pPr>
            <a:r>
              <a:rPr sz="690" b="0">
                <a:solidFill>
                  <a:srgbClr val="CFE1E5"/>
                </a:solidFill>
                <a:latin typeface="Aptos"/>
                <a:ea typeface="Aptos"/>
                <a:cs typeface="Aptos"/>
              </a:rPr>
              <a:t>Stok ve nakit riski azaltılır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9F763704-A9E3-47EC-9ECB-1959EF5CC2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24850" y="2667000"/>
            <a:ext cx="381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54B4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A36C05DD-4CDE-4E21-BCC2-BF5542F666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96300" y="2628900"/>
            <a:ext cx="192405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defRPr>
            </a:pPr>
            <a:r>
              <a:rPr sz="1950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rPr>
              <a:t>4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E229C616-F1B8-4669-93C2-5C954B85F1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96300" y="3009900"/>
            <a:ext cx="192405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38" b="1">
                <a:solidFill>
                  <a:srgbClr val="B54B45"/>
                </a:solidFill>
                <a:latin typeface="Aptos"/>
                <a:ea typeface="Aptos"/>
                <a:cs typeface="Aptos"/>
              </a:defRPr>
            </a:pPr>
            <a:r>
              <a:rPr sz="638" b="1">
                <a:solidFill>
                  <a:srgbClr val="B54B45"/>
                </a:solidFill>
                <a:latin typeface="Aptos"/>
                <a:ea typeface="Aptos"/>
                <a:cs typeface="Aptos"/>
              </a:rPr>
              <a:t>KAMU DESTEKLERI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753EF3B2-E2DB-4BF2-B85A-CC106741D8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96300" y="3181350"/>
            <a:ext cx="19240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90" b="0">
                <a:solidFill>
                  <a:srgbClr val="CFE1E5"/>
                </a:solidFill>
                <a:latin typeface="Aptos"/>
                <a:ea typeface="Aptos"/>
                <a:cs typeface="Aptos"/>
              </a:defRPr>
            </a:pPr>
            <a:r>
              <a:rPr sz="690" b="0">
                <a:solidFill>
                  <a:srgbClr val="CFE1E5"/>
                </a:solidFill>
                <a:latin typeface="Aptos"/>
                <a:ea typeface="Aptos"/>
                <a:cs typeface="Aptos"/>
              </a:rPr>
              <a:t>1707/1507/KOSGEB uygunluk kontrolü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34C1C792-57E5-47AA-AA39-567A1A583C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5067300"/>
            <a:ext cx="2857500" cy="762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4D1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20755B9E-6888-46F8-AE6D-EA2448059D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5067300"/>
            <a:ext cx="47625" cy="762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5C6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725201A3-781C-4BCD-8C25-4D2148B0E4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5219700"/>
            <a:ext cx="25336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102B34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102B34"/>
                </a:solidFill>
                <a:latin typeface="Aptos"/>
                <a:ea typeface="Aptos"/>
                <a:cs typeface="Aptos"/>
              </a:rPr>
              <a:t>TÜBİTAK 1707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95B3DAF4-CC15-448C-8E06-57E23C8A91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5486400"/>
            <a:ext cx="2533650" cy="238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65" b="0">
                <a:solidFill>
                  <a:srgbClr val="5D6A70"/>
                </a:solidFill>
                <a:latin typeface="Aptos"/>
                <a:ea typeface="Aptos"/>
                <a:cs typeface="Aptos"/>
              </a:defRPr>
            </a:pPr>
            <a:r>
              <a:rPr sz="765" b="0">
                <a:solidFill>
                  <a:srgbClr val="5D6A70"/>
                </a:solidFill>
                <a:latin typeface="Aptos"/>
                <a:ea typeface="Aptos"/>
                <a:cs typeface="Aptos"/>
              </a:rPr>
              <a:t>Vetmarketi gibi müşteri/kanal tarafı hazır olduğunda siparişe dayalı Ar-Ge kurgusu BiGG’den daha uyumlu olabilir.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C7D6E46D-9816-4982-A3F3-2D0566CA5C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0" y="5067300"/>
            <a:ext cx="2857500" cy="762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4D1"/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13F95DC1-EE66-4BA3-95FA-0D2A109933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0" y="5067300"/>
            <a:ext cx="47625" cy="762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E7D6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5979056A-07A6-4813-AD59-882B9A4783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38700" y="5219700"/>
            <a:ext cx="25336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102B34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102B34"/>
                </a:solidFill>
                <a:latin typeface="Aptos"/>
                <a:ea typeface="Aptos"/>
                <a:cs typeface="Aptos"/>
              </a:rPr>
              <a:t>TÜBİTAK 1507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FB55D652-175E-4C54-A406-897BAA9008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38700" y="5486400"/>
            <a:ext cx="2533650" cy="238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65" b="0">
                <a:solidFill>
                  <a:srgbClr val="5D6A70"/>
                </a:solidFill>
                <a:latin typeface="Aptos"/>
                <a:ea typeface="Aptos"/>
                <a:cs typeface="Aptos"/>
              </a:defRPr>
            </a:pPr>
            <a:r>
              <a:rPr sz="765" b="0">
                <a:solidFill>
                  <a:srgbClr val="5D6A70"/>
                </a:solidFill>
                <a:latin typeface="Aptos"/>
                <a:ea typeface="Aptos"/>
                <a:cs typeface="Aptos"/>
              </a:rPr>
              <a:t>Sensör füzyonu, güvenlik kilidi, offline-first uzaktan izleme ve AI alarm eşikleri için teknik Ar-Ge dosyası.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162D0B03-106F-4DCF-B597-3B2DA0E7F4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67700" y="5067300"/>
            <a:ext cx="2857500" cy="762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4D1"/>
            </a:solidFill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877673E6-EFE7-48F3-8EB5-56EA05BE72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67700" y="5067300"/>
            <a:ext cx="47625" cy="762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902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5477D1DC-B954-487B-8780-DE1E0E8A9E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39150" y="5219700"/>
            <a:ext cx="25336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102B34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102B34"/>
                </a:solidFill>
                <a:latin typeface="Aptos"/>
                <a:ea typeface="Aptos"/>
                <a:cs typeface="Aptos"/>
              </a:rPr>
              <a:t>Teknopark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9B3C4A03-4BCD-4C41-BAF9-D67203D8C9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39150" y="5486400"/>
            <a:ext cx="2533650" cy="238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65" b="0">
                <a:solidFill>
                  <a:srgbClr val="5D6A70"/>
                </a:solidFill>
                <a:latin typeface="Aptos"/>
                <a:ea typeface="Aptos"/>
                <a:cs typeface="Aptos"/>
              </a:defRPr>
            </a:pPr>
            <a:r>
              <a:rPr sz="765" b="0">
                <a:solidFill>
                  <a:srgbClr val="5D6A70"/>
                </a:solidFill>
                <a:latin typeface="Aptos"/>
                <a:ea typeface="Aptos"/>
                <a:cs typeface="Aptos"/>
              </a:rPr>
              <a:t>İlk gün şart değil. 6-12 ayda yazılım/AI ekibi ve ayrımlı muhasebe ihtiyacı netleşince değerlendirilmeli.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34EF22A5-3BC0-4052-BFAF-7FF246B40C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81250" y="6096000"/>
            <a:ext cx="7429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02B34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102B34"/>
                </a:solidFill>
                <a:latin typeface="Aptos"/>
                <a:ea typeface="Aptos"/>
                <a:cs typeface="Aptos"/>
              </a:rPr>
              <a:t>Sıralama: pazar doğrulaması → destek dosyası → Teknopark veya spin-off kararı.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D08727FE-7C26-4E06-9D2A-532147FDA0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24600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BD4D1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91FB5500-7FAA-4061-9515-8A70CCFC1F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48425"/>
            <a:ext cx="942975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38" b="0">
                <a:solidFill>
                  <a:srgbClr val="5D6A70"/>
                </a:solidFill>
                <a:latin typeface="Aptos"/>
                <a:ea typeface="Aptos"/>
                <a:cs typeface="Aptos"/>
              </a:defRPr>
            </a:pPr>
            <a:r>
              <a:rPr sz="638" b="0">
                <a:solidFill>
                  <a:srgbClr val="5D6A70"/>
                </a:solidFill>
                <a:latin typeface="Aptos"/>
                <a:ea typeface="Aptos"/>
                <a:cs typeface="Aptos"/>
              </a:rPr>
              <a:t>Kaynak: TÜBİTAK 1707/1507, KOSGEB 2026 ve revize Kuvoz yol haritası</a:t>
            </a:r>
          </a:p>
        </p:txBody>
      </p:sp>
    </p:spTree>
    <p:extLst>
      <p:ext uri="{BB962C8B-B14F-4D97-AF65-F5344CB8AC3E}">
        <p14:creationId xmlns:p14="http://schemas.microsoft.com/office/powerpoint/2010/main" val="766228906"/>
      </p:ext>
    </p:extLst>
  </p:cSld>
</p:sld>
</file>

<file path=ppt/slides/slide1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209E609D-23DD-407E-BC23-E3DC35B28F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5E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7A2B4C8-0184-4B0F-BE84-62CD9F1DA5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5C6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pic>
        <p:nvPicPr>
          <p:cNvPr id="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b01309bb7574ee5"/>
          <a:stretch xmlns:a="http://schemas.openxmlformats.org/drawingml/2006/main"/>
        </p:blipFill>
        <p:spPr>
          <a:xfrm xmlns:a="http://schemas.openxmlformats.org/drawingml/2006/main">
            <a:off x="10610850" y="323850"/>
            <a:ext cx="609600" cy="609600"/>
          </a:xfrm>
          <a:prstGeom xmlns:a="http://schemas.openxmlformats.org/drawingml/2006/main" prst="rect">
            <a:avLst/>
          </a:prstGeom>
        </p:spPr>
      </p:pic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0794C37-2FB0-4D2E-B83D-A618902FA9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0050"/>
            <a:ext cx="4381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0F5C6E"/>
                </a:solidFill>
                <a:latin typeface="Aptos"/>
                <a:ea typeface="Aptos"/>
                <a:cs typeface="Aptos"/>
              </a:defRPr>
            </a:pPr>
            <a:r>
              <a:rPr sz="750" b="1">
                <a:solidFill>
                  <a:srgbClr val="0F5C6E"/>
                </a:solidFill>
                <a:latin typeface="Aptos"/>
                <a:ea typeface="Aptos"/>
                <a:cs typeface="Aptos"/>
              </a:rPr>
              <a:t>RISK YÖNETIMI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3B7DBDA-06DE-40A7-ADD0-341455CE0B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82375" y="476250"/>
            <a:ext cx="4000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5D6A70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5D6A70"/>
                </a:solidFill>
                <a:latin typeface="Aptos"/>
                <a:ea typeface="Aptos"/>
                <a:cs typeface="Aptos"/>
              </a:rPr>
              <a:t>11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706EAE0-4693-4DD3-9AD2-0C599C559F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81050"/>
            <a:ext cx="3429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0F5C6E"/>
                </a:solidFill>
                <a:latin typeface="Aptos"/>
                <a:ea typeface="Aptos"/>
                <a:cs typeface="Aptos"/>
              </a:defRPr>
            </a:pPr>
            <a:r>
              <a:rPr sz="750" b="1">
                <a:solidFill>
                  <a:srgbClr val="0F5C6E"/>
                </a:solidFill>
                <a:latin typeface="Aptos"/>
                <a:ea typeface="Aptos"/>
                <a:cs typeface="Aptos"/>
              </a:rPr>
              <a:t>KONTROL LISTESI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BCF321E-713B-4C65-903C-37A78A3B69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047750"/>
            <a:ext cx="8858250" cy="78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102B34"/>
                </a:solidFill>
                <a:latin typeface="Aptos Display"/>
                <a:ea typeface="Aptos Display"/>
                <a:cs typeface="Aptos Display"/>
              </a:defRPr>
            </a:pPr>
            <a:r>
              <a:rPr sz="2250" b="1">
                <a:solidFill>
                  <a:srgbClr val="102B34"/>
                </a:solidFill>
                <a:latin typeface="Aptos Display"/>
                <a:ea typeface="Aptos Display"/>
                <a:cs typeface="Aptos Display"/>
              </a:rPr>
              <a:t>Vetmarketi markasıyla çıkmak avantajdır; teknik hata aynı zamanda marka riskidir.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D05A8A6-23B9-4D8D-A816-10CD3C6A1D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85950"/>
            <a:ext cx="8763000" cy="428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23" b="0">
                <a:solidFill>
                  <a:srgbClr val="5D6A70"/>
                </a:solidFill>
                <a:latin typeface="Aptos"/>
                <a:ea typeface="Aptos"/>
                <a:cs typeface="Aptos"/>
              </a:defRPr>
            </a:pPr>
            <a:r>
              <a:rPr sz="923" b="0">
                <a:solidFill>
                  <a:srgbClr val="5D6A70"/>
                </a:solidFill>
                <a:latin typeface="Aptos"/>
                <a:ea typeface="Aptos"/>
                <a:cs typeface="Aptos"/>
              </a:rPr>
              <a:t>Bu yüzden ilk lansman geniş kampanya değil, sınırlı ücretli pilot ve net güvenlik/servis dokümanı ile yapılmalıdır.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5241E91-3724-41A0-AA13-01B94B7589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190750"/>
            <a:ext cx="10439400" cy="3505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4D1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AB55EDF-9F8E-4A95-A03F-5C0BED34EB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2438400"/>
            <a:ext cx="2857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5D6A70"/>
                </a:solidFill>
                <a:latin typeface="Aptos"/>
                <a:ea typeface="Aptos"/>
                <a:cs typeface="Aptos"/>
              </a:defRPr>
            </a:pPr>
            <a:r>
              <a:rPr sz="750" b="1">
                <a:solidFill>
                  <a:srgbClr val="5D6A70"/>
                </a:solidFill>
                <a:latin typeface="Aptos"/>
                <a:ea typeface="Aptos"/>
                <a:cs typeface="Aptos"/>
              </a:rPr>
              <a:t>Risk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5729521-1BCF-40CC-87E7-6DD020406E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72050" y="2438400"/>
            <a:ext cx="2857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5D6A70"/>
                </a:solidFill>
                <a:latin typeface="Aptos"/>
                <a:ea typeface="Aptos"/>
                <a:cs typeface="Aptos"/>
              </a:defRPr>
            </a:pPr>
            <a:r>
              <a:rPr sz="750" b="1">
                <a:solidFill>
                  <a:srgbClr val="5D6A70"/>
                </a:solidFill>
                <a:latin typeface="Aptos"/>
                <a:ea typeface="Aptos"/>
                <a:cs typeface="Aptos"/>
              </a:rPr>
              <a:t>Önlem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D978EC6-043A-47E6-87C0-666DDE9268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2800350"/>
            <a:ext cx="1524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902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A58B69A-45F3-4DA6-863A-F3A5992F5C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7800" y="2781300"/>
            <a:ext cx="29527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102B34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102B34"/>
                </a:solidFill>
                <a:latin typeface="Aptos"/>
                <a:ea typeface="Aptos"/>
                <a:cs typeface="Aptos"/>
              </a:rPr>
              <a:t>Eski V1 müşterisinde negatif deneyim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5CE454D-2FD8-416F-A66C-2EAEE97BFC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72050" y="2781300"/>
            <a:ext cx="49530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10" b="0">
                <a:solidFill>
                  <a:srgbClr val="5D6A70"/>
                </a:solidFill>
                <a:latin typeface="Aptos"/>
                <a:ea typeface="Aptos"/>
                <a:cs typeface="Aptos"/>
              </a:defRPr>
            </a:pPr>
            <a:r>
              <a:rPr sz="810" b="0">
                <a:solidFill>
                  <a:srgbClr val="5D6A70"/>
                </a:solidFill>
                <a:latin typeface="Aptos"/>
                <a:ea typeface="Aptos"/>
                <a:cs typeface="Aptos"/>
              </a:rPr>
              <a:t>Önce servis/refresh ve dinleme; direkt satış baskısı yok.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5CDB500-075E-4F47-B06C-DF18CE74A9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3124200"/>
            <a:ext cx="96964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DD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CE77E257-C333-4FF5-9610-3BED014478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3257550"/>
            <a:ext cx="1524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5C6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4165DE72-4B4B-42A5-98EE-82E29C21E7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7800" y="3238500"/>
            <a:ext cx="29527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102B34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102B34"/>
                </a:solidFill>
                <a:latin typeface="Aptos"/>
                <a:ea typeface="Aptos"/>
                <a:cs typeface="Aptos"/>
              </a:rPr>
              <a:t>Ücretsiz pilotların ciddiye alınmaması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6E6188F4-2B12-43D8-885F-B1C404CF1A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72050" y="3238500"/>
            <a:ext cx="49530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10" b="0">
                <a:solidFill>
                  <a:srgbClr val="5D6A70"/>
                </a:solidFill>
                <a:latin typeface="Aptos"/>
                <a:ea typeface="Aptos"/>
                <a:cs typeface="Aptos"/>
              </a:defRPr>
            </a:pPr>
            <a:r>
              <a:rPr sz="810" b="0">
                <a:solidFill>
                  <a:srgbClr val="5D6A70"/>
                </a:solidFill>
                <a:latin typeface="Aptos"/>
                <a:ea typeface="Aptos"/>
                <a:cs typeface="Aptos"/>
              </a:rPr>
              <a:t>İndirimli ücretli pilot ve geri bildirim/referans taahhüdü.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E6C96151-8EF3-4848-ACF4-34D6FB2A50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3581400"/>
            <a:ext cx="96964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DD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F5E3A03E-5BCE-4F6C-8668-AC3FD718A2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3714750"/>
            <a:ext cx="1524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E7D6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62183D2B-AD8C-4B1A-AF08-9D9B833EE3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7800" y="3695700"/>
            <a:ext cx="29527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102B34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102B34"/>
                </a:solidFill>
                <a:latin typeface="Aptos"/>
                <a:ea typeface="Aptos"/>
                <a:cs typeface="Aptos"/>
              </a:rPr>
              <a:t>Stok ve nakit riski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C7B95020-EA3E-400B-AA68-3640612E2E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72050" y="3695700"/>
            <a:ext cx="49530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10" b="0">
                <a:solidFill>
                  <a:srgbClr val="5D6A70"/>
                </a:solidFill>
                <a:latin typeface="Aptos"/>
                <a:ea typeface="Aptos"/>
                <a:cs typeface="Aptos"/>
              </a:defRPr>
            </a:pPr>
            <a:r>
              <a:rPr sz="810" b="0">
                <a:solidFill>
                  <a:srgbClr val="5D6A70"/>
                </a:solidFill>
                <a:latin typeface="Aptos"/>
                <a:ea typeface="Aptos"/>
                <a:cs typeface="Aptos"/>
              </a:rPr>
              <a:t>Ön ödeme, siparişe yakın üretim, sınırlı parça stoku.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13BBA7C6-E111-4F31-9CB7-7BDAF75A0D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4038600"/>
            <a:ext cx="96964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DD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EA64AAF8-B2D0-4B4C-AC1E-D451D2CF40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4171950"/>
            <a:ext cx="1524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54B4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86B7A0DF-4C7A-49A8-B326-0614A9759E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7800" y="4152900"/>
            <a:ext cx="29527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102B34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102B34"/>
                </a:solidFill>
                <a:latin typeface="Aptos"/>
                <a:ea typeface="Aptos"/>
                <a:cs typeface="Aptos"/>
              </a:rPr>
              <a:t>Teknik arızanın Vetmarketi markasına etkisi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6BEC63DB-E7E4-44CF-B73D-0589EA5FAD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72050" y="4152900"/>
            <a:ext cx="49530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10" b="0">
                <a:solidFill>
                  <a:srgbClr val="5D6A70"/>
                </a:solidFill>
                <a:latin typeface="Aptos"/>
                <a:ea typeface="Aptos"/>
                <a:cs typeface="Aptos"/>
              </a:defRPr>
            </a:pPr>
            <a:r>
              <a:rPr sz="810" b="0">
                <a:solidFill>
                  <a:srgbClr val="5D6A70"/>
                </a:solidFill>
                <a:latin typeface="Aptos"/>
                <a:ea typeface="Aptos"/>
                <a:cs typeface="Aptos"/>
              </a:rPr>
              <a:t>Sınırlı pilot, güvenlik kilidi, garanti ve servis checklist.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C65B1BD2-1AF1-4C53-9B82-9C39692401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4495800"/>
            <a:ext cx="96964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DD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9994E0B7-5BE1-4BC1-9BE8-3D36DCBC6B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4629150"/>
            <a:ext cx="1524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8AFC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71D581D2-0AE4-40A1-A80C-18138B0E37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7800" y="4610100"/>
            <a:ext cx="29527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102B34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102B34"/>
                </a:solidFill>
                <a:latin typeface="Aptos"/>
                <a:ea typeface="Aptos"/>
                <a:cs typeface="Aptos"/>
              </a:rPr>
              <a:t>AI vaatlerinin fazla iddialı olması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58901B6B-D922-4458-846D-A5679FCE3C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72050" y="4610100"/>
            <a:ext cx="49530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10" b="0">
                <a:solidFill>
                  <a:srgbClr val="5D6A70"/>
                </a:solidFill>
                <a:latin typeface="Aptos"/>
                <a:ea typeface="Aptos"/>
                <a:cs typeface="Aptos"/>
              </a:defRPr>
            </a:pPr>
            <a:r>
              <a:rPr sz="810" b="0">
                <a:solidFill>
                  <a:srgbClr val="5D6A70"/>
                </a:solidFill>
                <a:latin typeface="Aptos"/>
                <a:ea typeface="Aptos"/>
                <a:cs typeface="Aptos"/>
              </a:rPr>
              <a:t>Tanı/tedavi vaadi yok; karar destek ve erken uyarı dili.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30758AE3-95E1-42F3-B2C1-43C3E06A58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4953000"/>
            <a:ext cx="96964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DD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DB26111C-07CF-4326-88C7-8E72464C2D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5086350"/>
            <a:ext cx="1524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252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B61D417C-2788-4808-930A-E5B70037BF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7800" y="5067300"/>
            <a:ext cx="29527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102B34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102B34"/>
                </a:solidFill>
                <a:latin typeface="Aptos"/>
                <a:ea typeface="Aptos"/>
                <a:cs typeface="Aptos"/>
              </a:rPr>
              <a:t>KVKK ve müşteri verisi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67CB6658-775C-480D-80E5-5FC8C4EC27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72050" y="5067300"/>
            <a:ext cx="49530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10" b="0">
                <a:solidFill>
                  <a:srgbClr val="5D6A70"/>
                </a:solidFill>
                <a:latin typeface="Aptos"/>
                <a:ea typeface="Aptos"/>
                <a:cs typeface="Aptos"/>
              </a:defRPr>
            </a:pPr>
            <a:r>
              <a:rPr sz="810" b="0">
                <a:solidFill>
                  <a:srgbClr val="5D6A70"/>
                </a:solidFill>
                <a:latin typeface="Aptos"/>
                <a:ea typeface="Aptos"/>
                <a:cs typeface="Aptos"/>
              </a:rPr>
              <a:t>Müşteri listesi repo dışında; kamera/uzaktan erişim onayları.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4C62705B-DA43-4223-BBFE-D30CCE74D3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71625" y="5962650"/>
            <a:ext cx="904875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252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739DF548-24F8-47CD-91B8-732666DCD8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09750" y="6057900"/>
            <a:ext cx="85725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863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863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Go / no-go kuralı: hasta güvenliği, uzaktan erişim onayı ve servis dokümanı tamamlanmadan geniş satış yapılmaz.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C3AC8B23-DC33-4025-BB3A-63AC0CDC63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24600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BD4D1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0DE675F5-E6E5-466D-8973-3A539C3E1C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48425"/>
            <a:ext cx="942975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38" b="0">
                <a:solidFill>
                  <a:srgbClr val="5D6A70"/>
                </a:solidFill>
                <a:latin typeface="Aptos"/>
                <a:ea typeface="Aptos"/>
                <a:cs typeface="Aptos"/>
              </a:defRPr>
            </a:pPr>
            <a:r>
              <a:rPr sz="638" b="0">
                <a:solidFill>
                  <a:srgbClr val="5D6A70"/>
                </a:solidFill>
                <a:latin typeface="Aptos"/>
                <a:ea typeface="Aptos"/>
                <a:cs typeface="Aptos"/>
              </a:rPr>
              <a:t>Kaynak: Kuvoz 3.0 revize yol haritasi ve pazar notlari, 10 Mayis 2026</a:t>
            </a:r>
          </a:p>
        </p:txBody>
      </p:sp>
    </p:spTree>
    <p:extLst>
      <p:ext uri="{BB962C8B-B14F-4D97-AF65-F5344CB8AC3E}">
        <p14:creationId xmlns:p14="http://schemas.microsoft.com/office/powerpoint/2010/main" val="660254909"/>
      </p:ext>
    </p:extLst>
  </p:cSld>
</p:sld>
</file>

<file path=ppt/slides/slide1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8BAD75DD-05B7-4E48-8819-4E2DE48767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5E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0920762-9A49-458A-91D9-CE5B59DE64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5C6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pic>
        <p:nvPicPr>
          <p:cNvPr id="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d719e9b377b4e6e"/>
          <a:stretch xmlns:a="http://schemas.openxmlformats.org/drawingml/2006/main"/>
        </p:blipFill>
        <p:spPr>
          <a:xfrm xmlns:a="http://schemas.openxmlformats.org/drawingml/2006/main">
            <a:off x="10610850" y="323850"/>
            <a:ext cx="609600" cy="609600"/>
          </a:xfrm>
          <a:prstGeom xmlns:a="http://schemas.openxmlformats.org/drawingml/2006/main" prst="rect">
            <a:avLst/>
          </a:prstGeom>
        </p:spPr>
      </p:pic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E085468-252C-4D1A-9239-D69C765622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0050"/>
            <a:ext cx="4381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0F5C6E"/>
                </a:solidFill>
                <a:latin typeface="Aptos"/>
                <a:ea typeface="Aptos"/>
                <a:cs typeface="Aptos"/>
              </a:defRPr>
            </a:pPr>
            <a:r>
              <a:rPr sz="750" b="1">
                <a:solidFill>
                  <a:srgbClr val="0F5C6E"/>
                </a:solidFill>
                <a:latin typeface="Aptos"/>
                <a:ea typeface="Aptos"/>
                <a:cs typeface="Aptos"/>
              </a:rPr>
              <a:t>NET KARAR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C13FC70-0B56-40A2-8014-4B535721CD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82375" y="476250"/>
            <a:ext cx="4000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5D6A70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5D6A70"/>
                </a:solidFill>
                <a:latin typeface="Aptos"/>
                <a:ea typeface="Aptos"/>
                <a:cs typeface="Aptos"/>
              </a:rPr>
              <a:t>12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44D5BBD-4BA8-4BF0-8E5C-12A47509AC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81050"/>
            <a:ext cx="3429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0F5C6E"/>
                </a:solidFill>
                <a:latin typeface="Aptos"/>
                <a:ea typeface="Aptos"/>
                <a:cs typeface="Aptos"/>
              </a:defRPr>
            </a:pPr>
            <a:r>
              <a:rPr sz="750" b="1">
                <a:solidFill>
                  <a:srgbClr val="0F5C6E"/>
                </a:solidFill>
                <a:latin typeface="Aptos"/>
                <a:ea typeface="Aptos"/>
                <a:cs typeface="Aptos"/>
              </a:rPr>
              <a:t>ÖNERI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7C8BF4E-4FDF-4F2E-9345-AF2045F46B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047750"/>
            <a:ext cx="8858250" cy="933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102B34"/>
                </a:solidFill>
                <a:latin typeface="Aptos Display"/>
                <a:ea typeface="Aptos Display"/>
                <a:cs typeface="Aptos Display"/>
              </a:defRPr>
            </a:pPr>
            <a:r>
              <a:rPr sz="2250" b="1">
                <a:solidFill>
                  <a:srgbClr val="102B34"/>
                </a:solidFill>
                <a:latin typeface="Aptos Display"/>
                <a:ea typeface="Aptos Display"/>
                <a:cs typeface="Aptos Display"/>
              </a:rPr>
              <a:t>Bugünkü karar: Kuvoz 3.0’ı Vetmarketi içinden, 90 günlük ücretli pilot disipliniyle başlatmak.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2DC7B8C-4A32-494D-BD3F-D5087A47B2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962150"/>
            <a:ext cx="8763000" cy="428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23" b="0">
                <a:solidFill>
                  <a:srgbClr val="5D6A70"/>
                </a:solidFill>
                <a:latin typeface="Aptos"/>
                <a:ea typeface="Aptos"/>
                <a:cs typeface="Aptos"/>
              </a:defRPr>
            </a:pPr>
            <a:r>
              <a:rPr sz="923" b="0">
                <a:solidFill>
                  <a:srgbClr val="5D6A70"/>
                </a:solidFill>
                <a:latin typeface="Aptos"/>
                <a:ea typeface="Aptos"/>
                <a:cs typeface="Aptos"/>
              </a:rPr>
              <a:t>Yeni şirket veya Teknopark kararı satış verisinden sonra verilmeli; ilk iş müşteri tabanını çalıştırmak ve teknik güveni sahada kanıtlamak.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DFCF60D-5BE2-4EAB-845A-8D05B46ACE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343150"/>
            <a:ext cx="10591800" cy="1600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252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8CCA2B8-FD4B-46F0-8657-1EB1CF600C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2705100"/>
            <a:ext cx="381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8AFC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966FBDC-049B-451E-9490-4722610665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2667000"/>
            <a:ext cx="173355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defRPr>
            </a:pPr>
            <a:r>
              <a:rPr sz="1950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rPr>
              <a:t>30 gün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0D41E44-9876-4493-8F64-77C9B79847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3048000"/>
            <a:ext cx="173355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38" b="1">
                <a:solidFill>
                  <a:srgbClr val="58AFC4"/>
                </a:solidFill>
                <a:latin typeface="Aptos"/>
                <a:ea typeface="Aptos"/>
                <a:cs typeface="Aptos"/>
              </a:defRPr>
            </a:pPr>
            <a:r>
              <a:rPr sz="638" b="1">
                <a:solidFill>
                  <a:srgbClr val="58AFC4"/>
                </a:solidFill>
                <a:latin typeface="Aptos"/>
                <a:ea typeface="Aptos"/>
                <a:cs typeface="Aptos"/>
              </a:rPr>
              <a:t>CRM + ARAMA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4D50E97-D1A2-439C-A578-86EFBAFFCE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3219450"/>
            <a:ext cx="17335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90" b="0">
                <a:solidFill>
                  <a:srgbClr val="CFE1E5"/>
                </a:solidFill>
                <a:latin typeface="Aptos"/>
                <a:ea typeface="Aptos"/>
                <a:cs typeface="Aptos"/>
              </a:defRPr>
            </a:pPr>
            <a:r>
              <a:rPr sz="690" b="0">
                <a:solidFill>
                  <a:srgbClr val="CFE1E5"/>
                </a:solidFill>
                <a:latin typeface="Aptos"/>
                <a:ea typeface="Aptos"/>
                <a:cs typeface="Aptos"/>
              </a:rPr>
              <a:t>100 kayıt temizliği, ilk 30 müşteri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A619DE7-CBCC-4AB6-8ADE-05CE2C4B0C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43300" y="2705100"/>
            <a:ext cx="381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E7D6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715612B-5C82-413C-BFE8-695BB5358F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0" y="2667000"/>
            <a:ext cx="173355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defRPr>
            </a:pPr>
            <a:r>
              <a:rPr sz="1950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rPr>
              <a:t>3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A1C91859-4762-4B94-8AE1-B498A172F6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0" y="3048000"/>
            <a:ext cx="173355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38" b="1">
                <a:solidFill>
                  <a:srgbClr val="2E7D6B"/>
                </a:solidFill>
                <a:latin typeface="Aptos"/>
                <a:ea typeface="Aptos"/>
                <a:cs typeface="Aptos"/>
              </a:defRPr>
            </a:pPr>
            <a:r>
              <a:rPr sz="638" b="1">
                <a:solidFill>
                  <a:srgbClr val="2E7D6B"/>
                </a:solidFill>
                <a:latin typeface="Aptos"/>
                <a:ea typeface="Aptos"/>
                <a:cs typeface="Aptos"/>
              </a:rPr>
              <a:t>ÜCRETLI PILOT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6741B4FC-5EFF-4408-AE6E-7AB447C5AA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0" y="3219450"/>
            <a:ext cx="17335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90" b="0">
                <a:solidFill>
                  <a:srgbClr val="CFE1E5"/>
                </a:solidFill>
                <a:latin typeface="Aptos"/>
                <a:ea typeface="Aptos"/>
                <a:cs typeface="Aptos"/>
              </a:defRPr>
            </a:pPr>
            <a:r>
              <a:rPr sz="690" b="0">
                <a:solidFill>
                  <a:srgbClr val="CFE1E5"/>
                </a:solidFill>
                <a:latin typeface="Aptos"/>
                <a:ea typeface="Aptos"/>
                <a:cs typeface="Aptos"/>
              </a:rPr>
              <a:t>V1 upgrade saha kurulumu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E41E5B9D-093C-44C4-B1A7-3DC808BEF1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0" y="2705100"/>
            <a:ext cx="381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902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362A9A45-2DA9-4C0E-AE0D-2631E871D2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76950" y="2667000"/>
            <a:ext cx="173355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defRPr>
            </a:pPr>
            <a:r>
              <a:rPr sz="1950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rPr>
              <a:t>10-15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9B513E85-E99F-4DCC-935C-F09CE17239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76950" y="3048000"/>
            <a:ext cx="173355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38" b="1">
                <a:solidFill>
                  <a:srgbClr val="C9902E"/>
                </a:solidFill>
                <a:latin typeface="Aptos"/>
                <a:ea typeface="Aptos"/>
                <a:cs typeface="Aptos"/>
              </a:defRPr>
            </a:pPr>
            <a:r>
              <a:rPr sz="638" b="1">
                <a:solidFill>
                  <a:srgbClr val="C9902E"/>
                </a:solidFill>
                <a:latin typeface="Aptos"/>
                <a:ea typeface="Aptos"/>
                <a:cs typeface="Aptos"/>
              </a:rPr>
              <a:t>TEKLIF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1A897F2A-B119-4CD5-AAD9-AA0CBF015D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76950" y="3219450"/>
            <a:ext cx="17335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90" b="0">
                <a:solidFill>
                  <a:srgbClr val="CFE1E5"/>
                </a:solidFill>
                <a:latin typeface="Aptos"/>
                <a:ea typeface="Aptos"/>
                <a:cs typeface="Aptos"/>
              </a:defRPr>
            </a:pPr>
            <a:r>
              <a:rPr sz="690" b="0">
                <a:solidFill>
                  <a:srgbClr val="CFE1E5"/>
                </a:solidFill>
                <a:latin typeface="Aptos"/>
                <a:ea typeface="Aptos"/>
                <a:cs typeface="Aptos"/>
              </a:rPr>
              <a:t>Servis/refresh + upgrade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022B158B-4811-4906-91E2-5546331C59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67700" y="2705100"/>
            <a:ext cx="381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54B4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EB5B7DDC-84DD-4F16-A9AF-B7E3BFEA4A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39150" y="2667000"/>
            <a:ext cx="192405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defRPr>
            </a:pPr>
            <a:r>
              <a:rPr sz="1950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rPr>
              <a:t>90 gün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A423C6AD-063A-4D26-B8A7-3CACE6B2EE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39150" y="3048000"/>
            <a:ext cx="192405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38" b="1">
                <a:solidFill>
                  <a:srgbClr val="B54B45"/>
                </a:solidFill>
                <a:latin typeface="Aptos"/>
                <a:ea typeface="Aptos"/>
                <a:cs typeface="Aptos"/>
              </a:defRPr>
            </a:pPr>
            <a:r>
              <a:rPr sz="638" b="1">
                <a:solidFill>
                  <a:srgbClr val="B54B45"/>
                </a:solidFill>
                <a:latin typeface="Aptos"/>
                <a:ea typeface="Aptos"/>
                <a:cs typeface="Aptos"/>
              </a:rPr>
              <a:t>KARAR VERISI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6A831CC8-D900-41D3-8C2E-A0E939B935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39150" y="3219450"/>
            <a:ext cx="19240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90" b="0">
                <a:solidFill>
                  <a:srgbClr val="CFE1E5"/>
                </a:solidFill>
                <a:latin typeface="Aptos"/>
                <a:ea typeface="Aptos"/>
                <a:cs typeface="Aptos"/>
              </a:defRPr>
            </a:pPr>
            <a:r>
              <a:rPr sz="690" b="0">
                <a:solidFill>
                  <a:srgbClr val="CFE1E5"/>
                </a:solidFill>
                <a:latin typeface="Aptos"/>
                <a:ea typeface="Aptos"/>
                <a:cs typeface="Aptos"/>
              </a:rPr>
              <a:t>Saha raporu + referans + maliyet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97173B4C-1DC6-4B0C-8E0B-BDD9A7C6B1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4476750"/>
            <a:ext cx="2857500" cy="800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4D1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E13BCCE7-F162-43B1-85B2-B82977FE70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4476750"/>
            <a:ext cx="47625" cy="800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5C6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87BA46EB-FFF6-462A-BD2C-281FA3D8BA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4629150"/>
            <a:ext cx="25336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102B34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102B34"/>
                </a:solidFill>
                <a:latin typeface="Aptos"/>
                <a:ea typeface="Aptos"/>
                <a:cs typeface="Aptos"/>
              </a:rPr>
              <a:t>İlk yapılacak iş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3BE984D3-FBC6-446A-A7D0-6A86CD807D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4895850"/>
            <a:ext cx="2533650" cy="2762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65" b="0">
                <a:solidFill>
                  <a:srgbClr val="5D6A70"/>
                </a:solidFill>
                <a:latin typeface="Aptos"/>
                <a:ea typeface="Aptos"/>
                <a:cs typeface="Aptos"/>
              </a:defRPr>
            </a:pPr>
            <a:r>
              <a:rPr sz="765" b="0">
                <a:solidFill>
                  <a:srgbClr val="5D6A70"/>
                </a:solidFill>
                <a:latin typeface="Aptos"/>
                <a:ea typeface="Aptos"/>
                <a:cs typeface="Aptos"/>
              </a:rPr>
              <a:t>Google Sheets müşteri listesini CRM formatına çevir; A/B/C/D/E segmentlerine ayır; ilk 30 aramayı başlat.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1670717E-2347-442D-8FC2-01F0C00F8D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0" y="4476750"/>
            <a:ext cx="2857500" cy="800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4D1"/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F5C3B83B-14E3-4F94-93D6-B500367D95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0" y="4476750"/>
            <a:ext cx="47625" cy="800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E7D6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04A808F6-23B0-4AF9-AB63-7B858318A8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38700" y="4629150"/>
            <a:ext cx="25336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102B34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102B34"/>
                </a:solidFill>
                <a:latin typeface="Aptos"/>
                <a:ea typeface="Aptos"/>
                <a:cs typeface="Aptos"/>
              </a:rPr>
              <a:t>İlk satılacak teklif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49DA41B2-A608-45DE-AD06-A89301873E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38700" y="4895850"/>
            <a:ext cx="2533650" cy="2762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65" b="0">
                <a:solidFill>
                  <a:srgbClr val="5D6A70"/>
                </a:solidFill>
                <a:latin typeface="Aptos"/>
                <a:ea typeface="Aptos"/>
                <a:cs typeface="Aptos"/>
              </a:defRPr>
            </a:pPr>
            <a:r>
              <a:rPr sz="765" b="0">
                <a:solidFill>
                  <a:srgbClr val="5D6A70"/>
                </a:solidFill>
                <a:latin typeface="Aptos"/>
                <a:ea typeface="Aptos"/>
                <a:cs typeface="Aptos"/>
              </a:rPr>
              <a:t>V1 Refresh Paketi + Kuvoz 3.0 Upgrade Kit. Ücretsiz pilot yerine indirimli ücretli pilot.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AD6AFDD5-8EC5-4CFB-A4CD-709A7E0069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10550" y="4476750"/>
            <a:ext cx="2857500" cy="800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4D1"/>
            </a:solidFill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8666E1B7-8BFE-4CE8-90EA-11948BB7FE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10550" y="4476750"/>
            <a:ext cx="47625" cy="800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902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6BC94B78-3F19-4862-A8F3-2B3C758092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4629150"/>
            <a:ext cx="25336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102B34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102B34"/>
                </a:solidFill>
                <a:latin typeface="Aptos"/>
                <a:ea typeface="Aptos"/>
                <a:cs typeface="Aptos"/>
              </a:rPr>
              <a:t>İlk karar kapısı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CB067B31-BC4A-4648-806A-48CEC8AA9D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4895850"/>
            <a:ext cx="2533650" cy="2762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65" b="0">
                <a:solidFill>
                  <a:srgbClr val="5D6A70"/>
                </a:solidFill>
                <a:latin typeface="Aptos"/>
                <a:ea typeface="Aptos"/>
                <a:cs typeface="Aptos"/>
              </a:defRPr>
            </a:pPr>
            <a:r>
              <a:rPr sz="765" b="0">
                <a:solidFill>
                  <a:srgbClr val="5D6A70"/>
                </a:solidFill>
                <a:latin typeface="Aptos"/>
                <a:ea typeface="Aptos"/>
                <a:cs typeface="Aptos"/>
              </a:rPr>
              <a:t>90 gün sonunda: pilot kuruluyor mu, müşteri ödüyor mu, servis maliyeti yönetilebilir mi?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83EA0E15-7038-40EF-9AD2-DE59B52DE2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0" y="5791200"/>
            <a:ext cx="87630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0F5C6E"/>
            </a:solidFill>
            <a:prstDash val="solid"/>
          </a:ln>
        </p:spPr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E54582DE-9FB6-4616-8D9D-5498266785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52625" y="5915025"/>
            <a:ext cx="82867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102B34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102B34"/>
                </a:solidFill>
                <a:latin typeface="Aptos"/>
                <a:ea typeface="Aptos"/>
                <a:cs typeface="Aptos"/>
              </a:rPr>
              <a:t>Kuvoz 3.0’ın avantajı artık sadece teknoloji değil; Vetmarketi’nin 2016’dan beri oluşan saha güveniyle birleşen teknoloji.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9A2C91FF-18C7-4F1A-B474-49E13785A9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24600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BD4D1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12C566DF-CE70-470D-875B-DAAB712A70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48425"/>
            <a:ext cx="942975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38" b="0">
                <a:solidFill>
                  <a:srgbClr val="5D6A70"/>
                </a:solidFill>
                <a:latin typeface="Aptos"/>
                <a:ea typeface="Aptos"/>
                <a:cs typeface="Aptos"/>
              </a:defRPr>
            </a:pPr>
            <a:r>
              <a:rPr sz="638" b="0">
                <a:solidFill>
                  <a:srgbClr val="5D6A70"/>
                </a:solidFill>
                <a:latin typeface="Aptos"/>
                <a:ea typeface="Aptos"/>
                <a:cs typeface="Aptos"/>
              </a:rPr>
              <a:t>Kaynak: Kuvoz 3.0 revize yol haritasi ve pazar notlari, 10 Mayis 2026</a:t>
            </a:r>
          </a:p>
        </p:txBody>
      </p:sp>
    </p:spTree>
    <p:extLst>
      <p:ext uri="{BB962C8B-B14F-4D97-AF65-F5344CB8AC3E}">
        <p14:creationId xmlns:p14="http://schemas.microsoft.com/office/powerpoint/2010/main" val="1615727060"/>
      </p:ext>
    </p:extLst>
  </p:cSld>
</p:sld>
</file>

<file path=ppt/slides/slide1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FDC8B3EE-1AF0-4A7D-BE29-32D934EF53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5E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EADAE5A-2E92-4A58-B465-081EB06947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5C6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pic>
        <p:nvPicPr>
          <p:cNvPr id="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1bfa2b6def144b1"/>
          <a:stretch xmlns:a="http://schemas.openxmlformats.org/drawingml/2006/main"/>
        </p:blipFill>
        <p:spPr>
          <a:xfrm xmlns:a="http://schemas.openxmlformats.org/drawingml/2006/main">
            <a:off x="10610850" y="323850"/>
            <a:ext cx="609600" cy="609600"/>
          </a:xfrm>
          <a:prstGeom xmlns:a="http://schemas.openxmlformats.org/drawingml/2006/main" prst="rect">
            <a:avLst/>
          </a:prstGeom>
        </p:spPr>
      </p:pic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8340933-A400-48E1-A936-2E272ECB5B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0050"/>
            <a:ext cx="4381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0F5C6E"/>
                </a:solidFill>
                <a:latin typeface="Aptos"/>
                <a:ea typeface="Aptos"/>
                <a:cs typeface="Aptos"/>
              </a:defRPr>
            </a:pPr>
            <a:r>
              <a:rPr sz="750" b="1">
                <a:solidFill>
                  <a:srgbClr val="0F5C6E"/>
                </a:solidFill>
                <a:latin typeface="Aptos"/>
                <a:ea typeface="Aptos"/>
                <a:cs typeface="Aptos"/>
              </a:rPr>
              <a:t>EK: YERLI ÜRETIM VE SWOT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0FBE224-655C-4175-AA5E-C4F351985B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82375" y="476250"/>
            <a:ext cx="4000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5D6A70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5D6A70"/>
                </a:solidFill>
                <a:latin typeface="Aptos"/>
                <a:ea typeface="Aptos"/>
                <a:cs typeface="Aptos"/>
              </a:rPr>
              <a:t>13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BC7C9D6-DC98-43D8-9735-171A75021F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81050"/>
            <a:ext cx="3429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0F5C6E"/>
                </a:solidFill>
                <a:latin typeface="Aptos"/>
                <a:ea typeface="Aptos"/>
                <a:cs typeface="Aptos"/>
              </a:defRPr>
            </a:pPr>
            <a:r>
              <a:rPr sz="750" b="1">
                <a:solidFill>
                  <a:srgbClr val="0F5C6E"/>
                </a:solidFill>
                <a:latin typeface="Aptos"/>
                <a:ea typeface="Aptos"/>
                <a:cs typeface="Aptos"/>
              </a:rPr>
              <a:t>SWOT ÖZETI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7326C4C-3962-4E11-86E6-AD12C5236A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047750"/>
            <a:ext cx="8858250" cy="78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175" b="1">
                <a:solidFill>
                  <a:srgbClr val="102B34"/>
                </a:solidFill>
                <a:latin typeface="Aptos Display"/>
                <a:ea typeface="Aptos Display"/>
                <a:cs typeface="Aptos Display"/>
              </a:defRPr>
            </a:pPr>
            <a:r>
              <a:rPr sz="2175" b="1">
                <a:solidFill>
                  <a:srgbClr val="102B34"/>
                </a:solidFill>
                <a:latin typeface="Aptos Display"/>
                <a:ea typeface="Aptos Display"/>
                <a:cs typeface="Aptos Display"/>
              </a:rPr>
              <a:t>Yerli üretim fırsatı güçlü; ama servis standardı ve düşük kaliteli ithal rekabeti aynı anda yönetilmeli.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0235DF9-0ACD-47B9-9465-C1A532D280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85950"/>
            <a:ext cx="8763000" cy="428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23" b="0">
                <a:solidFill>
                  <a:srgbClr val="5D6A70"/>
                </a:solidFill>
                <a:latin typeface="Aptos"/>
                <a:ea typeface="Aptos"/>
                <a:cs typeface="Aptos"/>
              </a:defRPr>
            </a:pPr>
            <a:r>
              <a:rPr sz="923" b="0">
                <a:solidFill>
                  <a:srgbClr val="5D6A70"/>
                </a:solidFill>
                <a:latin typeface="Aptos"/>
                <a:ea typeface="Aptos"/>
                <a:cs typeface="Aptos"/>
              </a:rPr>
              <a:t>Kuvoz 3.0 için savunulabilir pozisyon, yerli servis + akıllı takip + Vetmarketi müşteri tabanı üçlüsünden doğar.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93769DA-B7BF-4012-837D-EDFBE9DC76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266950"/>
            <a:ext cx="4953000" cy="1504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4D1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E84A4BF-D0E7-4D9F-81AF-87B071B9D5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266950"/>
            <a:ext cx="76200" cy="1504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E7D6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C99AA08-E100-42C1-A25F-95A140ED04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2495550"/>
            <a:ext cx="20002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02B34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102B34"/>
                </a:solidFill>
                <a:latin typeface="Aptos"/>
                <a:ea typeface="Aptos"/>
                <a:cs typeface="Aptos"/>
              </a:rPr>
              <a:t>Güçlü yönler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D87B622-7B69-42E5-8FE4-BB3EE1C7F7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2838450"/>
            <a:ext cx="40957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D6A70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5D6A70"/>
                </a:solidFill>
                <a:latin typeface="Aptos"/>
                <a:ea typeface="Aptos"/>
                <a:cs typeface="Aptos"/>
              </a:rPr>
              <a:t>Tıbbi cihaz üretim tecrübesi, modern klinik sayısındaki artış ve Vetmarketi’nin sahadaki Kuvoz v1 geçmişi.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195A494-4246-4A0D-8C81-94F9DF1D44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3390900"/>
            <a:ext cx="40957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88" b="1">
                <a:solidFill>
                  <a:srgbClr val="102B34"/>
                </a:solidFill>
                <a:latin typeface="Aptos"/>
                <a:ea typeface="Aptos"/>
                <a:cs typeface="Aptos"/>
              </a:defRPr>
            </a:pPr>
            <a:r>
              <a:rPr sz="788" b="1">
                <a:solidFill>
                  <a:srgbClr val="102B34"/>
                </a:solidFill>
                <a:latin typeface="Aptos"/>
                <a:ea typeface="Aptos"/>
                <a:cs typeface="Aptos"/>
              </a:rPr>
              <a:t>Stratejik kullanım: bu güven, 3.0 upgrade kampanyasının ilk referans zemini olmalı.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6E6C122-28EF-475C-AE3E-E3AEB30865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2700" y="2266950"/>
            <a:ext cx="4953000" cy="1504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4D1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B04038F-3DA5-44BF-B73A-C7BC5553A7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2700" y="2266950"/>
            <a:ext cx="76200" cy="1504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902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75482B7-AB0D-48CA-89D5-36F0A07AF0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29400" y="2495550"/>
            <a:ext cx="20002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02B34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102B34"/>
                </a:solidFill>
                <a:latin typeface="Aptos"/>
                <a:ea typeface="Aptos"/>
                <a:cs typeface="Aptos"/>
              </a:rPr>
              <a:t>Zayıf yönler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257F4BD8-8633-415C-8B63-2AE69F1C6C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29400" y="2838450"/>
            <a:ext cx="40957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D6A70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5D6A70"/>
                </a:solidFill>
                <a:latin typeface="Aptos"/>
                <a:ea typeface="Aptos"/>
                <a:cs typeface="Aptos"/>
              </a:rPr>
              <a:t>Döviz bazlı bileşen maliyeti, standart eksikliği ve saha servis yükünün marka güvenini hızla etkileyebilmesi.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A0557720-B915-4043-9A23-C17E1170E3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29400" y="3390900"/>
            <a:ext cx="40957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88" b="1">
                <a:solidFill>
                  <a:srgbClr val="102B34"/>
                </a:solidFill>
                <a:latin typeface="Aptos"/>
                <a:ea typeface="Aptos"/>
                <a:cs typeface="Aptos"/>
              </a:defRPr>
            </a:pPr>
            <a:r>
              <a:rPr sz="788" b="1">
                <a:solidFill>
                  <a:srgbClr val="102B34"/>
                </a:solidFill>
                <a:latin typeface="Aptos"/>
                <a:ea typeface="Aptos"/>
                <a:cs typeface="Aptos"/>
              </a:rPr>
              <a:t>Önlem: sınırlı pilot, modüler parça, net garanti ve servis checklist’i.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DE415EF8-4486-46BF-96AD-61CB49519F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4171950"/>
            <a:ext cx="4953000" cy="1504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252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38873259-281D-4A2B-95D2-25EBCC8BAE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4171950"/>
            <a:ext cx="76200" cy="1504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8AFC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AB54D40F-3E57-49FB-B0C9-5E5DF2FA0D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4400550"/>
            <a:ext cx="20002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Fırsatlar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2A4C9FC8-2B04-4062-9CAE-25BCF37BD7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4743450"/>
            <a:ext cx="40957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CFE1E5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CFE1E5"/>
                </a:solidFill>
                <a:latin typeface="Aptos"/>
                <a:ea typeface="Aptos"/>
                <a:cs typeface="Aptos"/>
              </a:rPr>
              <a:t>Orta Doğu, Balkanlar ve Orta Asya ihracatı; AI destekli uyarı; portatif/transport kuvöz alanı.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2F41966E-A097-4706-B5F8-0D84D6D70A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5295900"/>
            <a:ext cx="40957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88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788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İlk adım: transport değil, V1 upgrade ile saha verisi topla; sonra varyant kararı ver.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2B6A0C7A-EA84-44D6-BD75-95B37F61A8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2700" y="4171950"/>
            <a:ext cx="4953000" cy="1504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252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81C6169E-F601-4FE0-ABEB-33C8395275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2700" y="4171950"/>
            <a:ext cx="76200" cy="1504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54B4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FCE67D1C-CAAA-4948-BD64-E009B1B0EA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29400" y="4400550"/>
            <a:ext cx="20002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Tehditler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8543BA06-4551-419E-A302-A13227D890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29400" y="4743450"/>
            <a:ext cx="40957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CFE1E5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CFE1E5"/>
                </a:solidFill>
                <a:latin typeface="Aptos"/>
                <a:ea typeface="Aptos"/>
                <a:cs typeface="Aptos"/>
              </a:rPr>
              <a:t>Klinik yatırım bütçelerinin daralması, sertifikasız/düşük kaliteli ithal ürünler ve fazla iddialı teknoloji vaatleri.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55BF0396-FC20-4A4A-84F9-602744778C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29400" y="5295900"/>
            <a:ext cx="40957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88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788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Yanıt: fiyat kırmak değil; güvenlik, kayıt, servis ve gerçek pilot kanıtı.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2C0279CB-EBA4-4DF4-8627-2DAAE0E8AE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24600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BD4D1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8F442EE8-6E2B-47FE-8F12-243676D612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48425"/>
            <a:ext cx="942975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38" b="0">
                <a:solidFill>
                  <a:srgbClr val="5D6A70"/>
                </a:solidFill>
                <a:latin typeface="Aptos"/>
                <a:ea typeface="Aptos"/>
                <a:cs typeface="Aptos"/>
              </a:defRPr>
            </a:pPr>
            <a:r>
              <a:rPr sz="638" b="0">
                <a:solidFill>
                  <a:srgbClr val="5D6A70"/>
                </a:solidFill>
                <a:latin typeface="Aptos"/>
                <a:ea typeface="Aptos"/>
                <a:cs typeface="Aptos"/>
              </a:rPr>
              <a:t>Kaynak: Kullanıcı pazar notu + Kuvoz 3.0 pazar ve şirketleşme analizleri</a:t>
            </a:r>
          </a:p>
        </p:txBody>
      </p:sp>
    </p:spTree>
    <p:extLst>
      <p:ext uri="{BB962C8B-B14F-4D97-AF65-F5344CB8AC3E}">
        <p14:creationId xmlns:p14="http://schemas.microsoft.com/office/powerpoint/2010/main" val="724260568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2026-05-10T13:20:30.8780000Z</dcterms:created>
  <dcterms:modified xsi:type="dcterms:W3CDTF">2026-05-10T13:20:30.8780000Z</dcterms:modified>
</coreProperties>
</file>