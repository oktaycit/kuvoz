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150db8a614d67" /><Relationship Type="http://schemas.openxmlformats.org/officeDocument/2006/relationships/extended-properties" Target="/docProps/app.xml" Id="R4b5ed89b309c4317" /><Relationship Type="http://schemas.openxmlformats.org/officeDocument/2006/relationships/officeDocument" Target="/ppt/presentation.xml" Id="Re3b883e67d164d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5e9cddd3b4772"/>
  </p:sldMasterIdLst>
  <p:notesMasterIdLst>
    <p:notesMasterId xmlns:r="http://schemas.openxmlformats.org/officeDocument/2006/relationships" r:id="R97d9dab7f1b24432"/>
  </p:notesMasterIdLst>
  <p:sldIdLst>
    <p:sldId xmlns:r="http://schemas.openxmlformats.org/officeDocument/2006/relationships" id="256" r:id="R6be6ce5faf154778"/>
    <p:sldId xmlns:r="http://schemas.openxmlformats.org/officeDocument/2006/relationships" id="257" r:id="R908663c25e7746c5"/>
    <p:sldId xmlns:r="http://schemas.openxmlformats.org/officeDocument/2006/relationships" id="258" r:id="R085a3c2c3b594e31"/>
    <p:sldId xmlns:r="http://schemas.openxmlformats.org/officeDocument/2006/relationships" id="259" r:id="R5b63b75b6da54cd6"/>
    <p:sldId xmlns:r="http://schemas.openxmlformats.org/officeDocument/2006/relationships" id="260" r:id="R2d0262a306594d79"/>
    <p:sldId xmlns:r="http://schemas.openxmlformats.org/officeDocument/2006/relationships" id="261" r:id="Rd4ba60c73aab4818"/>
    <p:sldId xmlns:r="http://schemas.openxmlformats.org/officeDocument/2006/relationships" id="262" r:id="R0e1ac782eaf248e3"/>
    <p:sldId xmlns:r="http://schemas.openxmlformats.org/officeDocument/2006/relationships" id="263" r:id="R80a682920f0f44b5"/>
    <p:sldId xmlns:r="http://schemas.openxmlformats.org/officeDocument/2006/relationships" id="264" r:id="Re8622b1a24ae49b5"/>
    <p:sldId xmlns:r="http://schemas.openxmlformats.org/officeDocument/2006/relationships" id="265" r:id="R394a2cd9b5a941d2"/>
    <p:sldId xmlns:r="http://schemas.openxmlformats.org/officeDocument/2006/relationships" id="266" r:id="R7ef1c427cca74998"/>
    <p:sldId xmlns:r="http://schemas.openxmlformats.org/officeDocument/2006/relationships" id="267" r:id="Rae125f6791144983"/>
    <p:sldId xmlns:r="http://schemas.openxmlformats.org/officeDocument/2006/relationships" id="268" r:id="R33807c940d624be3"/>
    <p:sldId xmlns:r="http://schemas.openxmlformats.org/officeDocument/2006/relationships" id="269" r:id="R375c8dea2750434e"/>
    <p:sldId xmlns:r="http://schemas.openxmlformats.org/officeDocument/2006/relationships" id="270" r:id="R2602748ef575406a"/>
    <p:sldId xmlns:r="http://schemas.openxmlformats.org/officeDocument/2006/relationships" id="271" r:id="R86fe16bb6c2f41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5e9cddd3b4772" /><Relationship Type="http://schemas.openxmlformats.org/officeDocument/2006/relationships/theme" Target="/ppt/theme/theme1.xml" Id="Ra5ed7e6b488148bd" /><Relationship Type="http://schemas.openxmlformats.org/officeDocument/2006/relationships/notesMaster" Target="/ppt/notesMasters/notesMaster1.xml" Id="R97d9dab7f1b24432" /><Relationship Type="http://schemas.openxmlformats.org/officeDocument/2006/relationships/presProps" Target="/ppt/presProps.xml" Id="R184c09a2035749ea" /><Relationship Type="http://schemas.openxmlformats.org/officeDocument/2006/relationships/viewProps" Target="/ppt/viewProps.xml" Id="R0f042a7538874b33" /><Relationship Type="http://schemas.openxmlformats.org/officeDocument/2006/relationships/tableStyles" Target="/ppt/tableStyles.xml" Id="R0df9288aa08e421a" /><Relationship Type="http://schemas.openxmlformats.org/officeDocument/2006/relationships/slide" Target="/ppt/slides/slide1.xml" Id="R6be6ce5faf154778" /><Relationship Type="http://schemas.openxmlformats.org/officeDocument/2006/relationships/slide" Target="/ppt/slides/slide2.xml" Id="R908663c25e7746c5" /><Relationship Type="http://schemas.openxmlformats.org/officeDocument/2006/relationships/slide" Target="/ppt/slides/slide3.xml" Id="R085a3c2c3b594e31" /><Relationship Type="http://schemas.openxmlformats.org/officeDocument/2006/relationships/slide" Target="/ppt/slides/slide4.xml" Id="R5b63b75b6da54cd6" /><Relationship Type="http://schemas.openxmlformats.org/officeDocument/2006/relationships/slide" Target="/ppt/slides/slide5.xml" Id="R2d0262a306594d79" /><Relationship Type="http://schemas.openxmlformats.org/officeDocument/2006/relationships/slide" Target="/ppt/slides/slide6.xml" Id="Rd4ba60c73aab4818" /><Relationship Type="http://schemas.openxmlformats.org/officeDocument/2006/relationships/slide" Target="/ppt/slides/slide7.xml" Id="R0e1ac782eaf248e3" /><Relationship Type="http://schemas.openxmlformats.org/officeDocument/2006/relationships/slide" Target="/ppt/slides/slide8.xml" Id="R80a682920f0f44b5" /><Relationship Type="http://schemas.openxmlformats.org/officeDocument/2006/relationships/slide" Target="/ppt/slides/slide9.xml" Id="Re8622b1a24ae49b5" /><Relationship Type="http://schemas.openxmlformats.org/officeDocument/2006/relationships/slide" Target="/ppt/slides/slide10.xml" Id="R394a2cd9b5a941d2" /><Relationship Type="http://schemas.openxmlformats.org/officeDocument/2006/relationships/slide" Target="/ppt/slides/slide11.xml" Id="R7ef1c427cca74998" /><Relationship Type="http://schemas.openxmlformats.org/officeDocument/2006/relationships/slide" Target="/ppt/slides/slide12.xml" Id="Rae125f6791144983" /><Relationship Type="http://schemas.openxmlformats.org/officeDocument/2006/relationships/slide" Target="/ppt/slides/slide13.xml" Id="R33807c940d624be3" /><Relationship Type="http://schemas.openxmlformats.org/officeDocument/2006/relationships/slide" Target="/ppt/slides/slide14.xml" Id="R375c8dea2750434e" /><Relationship Type="http://schemas.openxmlformats.org/officeDocument/2006/relationships/slide" Target="/ppt/slides/slide15.xml" Id="R2602748ef575406a" /><Relationship Type="http://schemas.openxmlformats.org/officeDocument/2006/relationships/slide" Target="/ppt/slides/slide16.xml" Id="R86fe16bb6c2f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446e83fa89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4e3a674f604149" /><Relationship Type="http://schemas.openxmlformats.org/officeDocument/2006/relationships/notesMaster" Target="/ppt/notesMasters/notesMaster1.xml" Id="R1c25b2442d0b46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f98748349046a4" /><Relationship Type="http://schemas.openxmlformats.org/officeDocument/2006/relationships/notesMaster" Target="/ppt/notesMasters/notesMaster1.xml" Id="R62887374e8254d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e0e34144d84493" /><Relationship Type="http://schemas.openxmlformats.org/officeDocument/2006/relationships/notesMaster" Target="/ppt/notesMasters/notesMaster1.xml" Id="R338d9eca34c8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fa9e8a02034400" /><Relationship Type="http://schemas.openxmlformats.org/officeDocument/2006/relationships/notesMaster" Target="/ppt/notesMasters/notesMaster1.xml" Id="R64b2400e18a7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b1b7313565485c" /><Relationship Type="http://schemas.openxmlformats.org/officeDocument/2006/relationships/notesMaster" Target="/ppt/notesMasters/notesMaster1.xml" Id="R55f203c640744f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346d81f3a3449d" /><Relationship Type="http://schemas.openxmlformats.org/officeDocument/2006/relationships/notesMaster" Target="/ppt/notesMasters/notesMaster1.xml" Id="Rb6fc80cdb23442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d6d1b998804d3e" /><Relationship Type="http://schemas.openxmlformats.org/officeDocument/2006/relationships/notesMaster" Target="/ppt/notesMasters/notesMaster1.xml" Id="Ra5615f44f1e84c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15dd92a6a240a0" /><Relationship Type="http://schemas.openxmlformats.org/officeDocument/2006/relationships/notesMaster" Target="/ppt/notesMasters/notesMaster1.xml" Id="R977991443c5e4e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f05ae53669427e" /><Relationship Type="http://schemas.openxmlformats.org/officeDocument/2006/relationships/notesMaster" Target="/ppt/notesMasters/notesMaster1.xml" Id="Rcf82ddbc8ce840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09e7b850de409e" /><Relationship Type="http://schemas.openxmlformats.org/officeDocument/2006/relationships/notesMaster" Target="/ppt/notesMasters/notesMaster1.xml" Id="R3b582a6d829a41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60d9415bff4956" /><Relationship Type="http://schemas.openxmlformats.org/officeDocument/2006/relationships/notesMaster" Target="/ppt/notesMasters/notesMaster1.xml" Id="R03ac8c26f11f40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95557090b3409b" /><Relationship Type="http://schemas.openxmlformats.org/officeDocument/2006/relationships/notesMaster" Target="/ppt/notesMasters/notesMaster1.xml" Id="R854f294b1f5749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b16713bcb64d26" /><Relationship Type="http://schemas.openxmlformats.org/officeDocument/2006/relationships/notesMaster" Target="/ppt/notesMasters/notesMaster1.xml" Id="R7838b9dc563c47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e6117f58134f5f" /><Relationship Type="http://schemas.openxmlformats.org/officeDocument/2006/relationships/notesMaster" Target="/ppt/notesMasters/notesMaster1.xml" Id="R28e0a8bb9c8d43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50676f072b4a78" /><Relationship Type="http://schemas.openxmlformats.org/officeDocument/2006/relationships/notesMaster" Target="/ppt/notesMasters/notesMaster1.xml" Id="R210dd59a8d3a44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8012865a654fac" /><Relationship Type="http://schemas.openxmlformats.org/officeDocument/2006/relationships/notesMaster" Target="/ppt/notesMasters/notesMaster1.xml" Id="R0aaca40f49ff47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631c49bba41ed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7d433e7294edc" /><Relationship Type="http://schemas.openxmlformats.org/officeDocument/2006/relationships/theme" Target="/ppt/theme/theme1.xml" Id="R66b0b75dfbf74d24" /><Relationship Type="http://schemas.openxmlformats.org/officeDocument/2006/relationships/slideLayout" Target="/ppt/slideLayouts/slideLayout2.xml" Id="R83a8c82cbffe4c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afe7d433e7294edc"/>
    <p:sldLayoutId xmlns:r="http://schemas.openxmlformats.org/officeDocument/2006/relationships" id="2147483649" r:id="R83a8c82cbffe4c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20ce562d44c35" /><Relationship Type="http://schemas.openxmlformats.org/officeDocument/2006/relationships/image" Target="/ppt/media/image.png" Id="R204843ba2d99422b" /><Relationship Type="http://schemas.openxmlformats.org/officeDocument/2006/relationships/notesSlide" Target="/ppt/notesSlides/notesSlide1.xml" Id="R45aeddc72e2846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2368fa486e4a6a" /><Relationship Type="http://schemas.openxmlformats.org/officeDocument/2006/relationships/image" Target="/ppt/media/image2.png" Id="Rf37a29f800fa477d" /><Relationship Type="http://schemas.openxmlformats.org/officeDocument/2006/relationships/notesSlide" Target="/ppt/notesSlides/notesSlide2.xml" Id="R90f7b0b1b53d40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bd5744cf14ff8" /><Relationship Type="http://schemas.openxmlformats.org/officeDocument/2006/relationships/image" Target="/ppt/media/image3.png" Id="R5194a01145aa4958" /><Relationship Type="http://schemas.openxmlformats.org/officeDocument/2006/relationships/notesSlide" Target="/ppt/notesSlides/notesSlide3.xml" Id="R0b3c2d1124134a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38f93cbad241e8" /><Relationship Type="http://schemas.openxmlformats.org/officeDocument/2006/relationships/image" Target="/ppt/media/image4.png" Id="Rbf3bfe80b49e429a" /><Relationship Type="http://schemas.openxmlformats.org/officeDocument/2006/relationships/notesSlide" Target="/ppt/notesSlides/notesSlide4.xml" Id="R9fe7e225527846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1348157cb94fb5" /><Relationship Type="http://schemas.openxmlformats.org/officeDocument/2006/relationships/image" Target="/ppt/media/image5.png" Id="R6d20285842b346f8" /><Relationship Type="http://schemas.openxmlformats.org/officeDocument/2006/relationships/notesSlide" Target="/ppt/notesSlides/notesSlide5.xml" Id="R2777168fe17948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e131a1e482434f" /><Relationship Type="http://schemas.openxmlformats.org/officeDocument/2006/relationships/image" Target="/ppt/media/image6.png" Id="Re272889327fb46b4" /><Relationship Type="http://schemas.openxmlformats.org/officeDocument/2006/relationships/notesSlide" Target="/ppt/notesSlides/notesSlide6.xml" Id="R0f0d8a116ad24d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50e630c466462f" /><Relationship Type="http://schemas.openxmlformats.org/officeDocument/2006/relationships/image" Target="/ppt/media/image7.png" Id="R2599ddf1d13044aa" /><Relationship Type="http://schemas.openxmlformats.org/officeDocument/2006/relationships/notesSlide" Target="/ppt/notesSlides/notesSlide7.xml" Id="R21adc387c32d44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53c04c12e42c5" /><Relationship Type="http://schemas.openxmlformats.org/officeDocument/2006/relationships/image" Target="/ppt/media/image8.png" Id="Rece82e5881b34eb8" /><Relationship Type="http://schemas.openxmlformats.org/officeDocument/2006/relationships/notesSlide" Target="/ppt/notesSlides/notesSlide8.xml" Id="R03d118db56ed40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4a9f04cbc4acd" /><Relationship Type="http://schemas.openxmlformats.org/officeDocument/2006/relationships/image" Target="/ppt/media/image9.png" Id="R7496cbb1f9504ee8" /><Relationship Type="http://schemas.openxmlformats.org/officeDocument/2006/relationships/notesSlide" Target="/ppt/notesSlides/notesSlide9.xml" Id="R04ea5b28527f49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7e89e4f9647eb" /><Relationship Type="http://schemas.openxmlformats.org/officeDocument/2006/relationships/image" Target="/ppt/media/image10.png" Id="R165b127415034139" /><Relationship Type="http://schemas.openxmlformats.org/officeDocument/2006/relationships/notesSlide" Target="/ppt/notesSlides/notesSlide10.xml" Id="Raa10823c564241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93bbc2f4f454d" /><Relationship Type="http://schemas.openxmlformats.org/officeDocument/2006/relationships/image" Target="/ppt/media/image11.png" Id="R585fdb62c19d4713" /><Relationship Type="http://schemas.openxmlformats.org/officeDocument/2006/relationships/notesSlide" Target="/ppt/notesSlides/notesSlide11.xml" Id="R4275e9d54fa643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9f5f099b7b46e2" /><Relationship Type="http://schemas.openxmlformats.org/officeDocument/2006/relationships/image" Target="/ppt/media/image12.png" Id="R59ffa677b613474b" /><Relationship Type="http://schemas.openxmlformats.org/officeDocument/2006/relationships/notesSlide" Target="/ppt/notesSlides/notesSlide12.xml" Id="R732abc668f9d48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aea23671f4696" /><Relationship Type="http://schemas.openxmlformats.org/officeDocument/2006/relationships/notesSlide" Target="/ppt/notesSlides/notesSlide13.xml" Id="R11c8eca7472049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5c0f7a31748c7" /><Relationship Type="http://schemas.openxmlformats.org/officeDocument/2006/relationships/notesSlide" Target="/ppt/notesSlides/notesSlide14.xml" Id="R62c5193c95bd4a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ea3b44a09482d" /><Relationship Type="http://schemas.openxmlformats.org/officeDocument/2006/relationships/notesSlide" Target="/ppt/notesSlides/notesSlide15.xml" Id="Rb73022bfbfdf4a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2abac7b69b42c6" /><Relationship Type="http://schemas.openxmlformats.org/officeDocument/2006/relationships/image" Target="/ppt/media/image13.png" Id="R024f252f5068488a" /><Relationship Type="http://schemas.openxmlformats.org/officeDocument/2006/relationships/notesSlide" Target="/ppt/notesSlides/notesSlide16.xml" Id="Recb84c68f5804d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CA263-4449-4AB4-96B6-88EA8F60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9F6C2-6EDA-4F46-99C6-7F70806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843ba2d99422b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D839-50D4-496B-9F2E-A77B5B5F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PAZAR VE DÜŞÜK RISKLI TICARILEŞME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A4FE5-87BD-4605-8D01-61063B6D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012E1-9B95-44E7-A703-E10075C5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ANA TEZ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83C60-3B98-477F-B213-C96B512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Kuvoz 3.0, büyüyen hayvan kuvözü pazarına Vetmarketi’nin mevcut güveniyle girmeli.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795B3-485C-4620-AC2C-92179ED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Pazar basit ısı kutularından akıllı yaşam destek ünitelerine evrilirken, Vetmarketi’nin 2016’dan beri oluşan V1 müşteri tabanı ilk doğrulama avantajı yaratıyor.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4E756-5730-4114-931C-EF4D59CE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69A33-CD53-4A41-A7A1-C4A15C4E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Revize karar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F5CDB-CF73-4091-B67A-DA4F5026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İlk 12 ay yeni şirket kurma baskısını azalt; Vetmarketi içinde V1 Refresh + 3.0 Upgrade Kit ile gerçek ödeme niyetini kanıtla.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2AF7E-CD4F-4016-B3B0-DCA53E6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Şirketleşme, Teknopark veya spin-off kararı satış, pilot ve servis verisi oluşunca verilmeli.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9A38C-19E4-47E4-989A-8D615A81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A16EB-F383-4101-BA4F-2FAA948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480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46828-4D2F-4CB2-ADE1-90956D9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PAZAR GEÇMIŞI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B30F7-C1A5-48F4-A115-D1E4E2CD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00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Kuvoz v1 ile saha güveni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D9D43-8719-43E7-929C-4FFDFEE1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C000D-83E7-4E58-8947-A0D1760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~100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7C6DE-5D2D-4F3C-A02C-F2953ADD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BILINEN MÜŞTERI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BFD32-E3FA-404C-9531-A6389A30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00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CRM ve upgrade tabanı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B069B-7565-40F7-BB65-A2BFA70D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9C90D-2BE5-4F1F-9D52-9C21B41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7223D-F3F1-4E67-BBC6-1FE7E9AD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0-90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44CF2-20BC-4CE8-9C24-DB1A753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DOĞRULAMA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7B4DC-211B-4DA8-8172-935C013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CRM + 2-3 ücretli 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077A7-553A-4207-8631-9055785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0EC42-6C25-4BF7-B35D-29F69FEC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1.8-3.5M TL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64047-D0FD-4646-8CD3-610F866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6 AY KAYNAK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196D6-FCED-45FD-84FC-19B366B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5-8 ödemeli pilot/upgrade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ED4A2-F2FB-4FEF-8EEB-3BEF909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E8A47-3EE9-4269-B99D-CDAA9AC1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15-30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CE82C-2F19-4DCF-BB76-59E64CA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12 AY HEDEF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E212C9-6E43-4928-87DE-DD1D205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Satış veya imzalı sipariş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18713B-B023-47F0-BBC5-0FBCCEC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FA8EB9-DFA0-45A6-8DA9-347B9D51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483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12. 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1BC4C9-7075-45E1-AD61-11AA32D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29300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YAPI KARARI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9B1991-BF4E-4BBD-B5A1-8C14D907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0007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/ Teknopark / spin-off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3ECB57-59BE-4FFA-8C69-C22D38C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3A75E-061C-4384-8CB2-C97F726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1670802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43F52-0D68-4C0D-A3BC-0A0004BD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4D1A4-698C-47CB-BD77-0E4A1FCD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a29f800fa477d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9C3D-71DE-41DA-BF8D-CB3D50A4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PAZAR DINAMIKLERI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4416E-6333-4BCF-BBC6-5984E30F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09625-8642-4B67-8E63-3A4FCA81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TALEP KAYNAKLARI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0293F-71E6-4A30-A6D2-62954C4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Türkiye’de hayvan kuvözü pazarı tek bir klinik ekipmanı değil, üç talep koluyla büyüyen niş bir medikal segment.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EA961-3868-4C94-A6D2-64E7672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Evcil hayvan sahiplenme, profesyonel veterinerlik hizmetleri ve rehabilitasyon ihtiyaçları birlikte kuvözü lüks ekipmandan temel bakım altyapısına taşıyor.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26EDF-7E0F-4B3D-9EDB-80768CE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B048A-00C6-450B-9F14-859BAF7C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CA95A-2167-4E8D-9EAE-381E610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Veteriner klinikleri ve hastaneler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FAD7D-1003-4B49-80F6-C27432D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Operasyon sonrası uyanma, hipotermi önleme, oksijen/nem kontrollü hospitalizasyon ve yoğun bakım desteği için kullanılır.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E3A22-23BA-437D-9B63-6C1D4C2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3C64A-094E-4055-A881-310D439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A1FB2-2F67-4133-B9C0-13E18F1A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Pet breeding / yetiştiricilik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9AF9D-2C73-4142-8F45-444B46B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Safkan kedi ve köpek yetiştiricileri yenidoğan kayıplarını azaltmak ve bakım standardını yükseltmek için profesyonel kuvöz arar.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90125-95D6-4297-94E2-EEC623D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897A0-E541-4BC2-9261-FBCA7E0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D9461-9407-420D-99D2-3318AE3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Yaban hayatı ve rehabilitasyon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1E32D-2F86-4956-B6DD-0CDF5A9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Belediye, barınak ve rehabilitasyon merkezlerinde yaralı, öksüz veya hassas yavru hayvan bakımı için talep oluşur.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2E17F-95D5-4F77-B49C-E7C79B2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94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25E3E-3CA2-4C2B-A466-E64C279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1F0A0-4585-41F7-8B68-419DA5C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B0F43-7DCE-4D39-800D-DE51B46D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ODAK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969BF-9E7D-465F-935E-C3A179E5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Modern klinik/hastane ve mevcut V1 kullanıcıları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55A69-3635-49B1-9DA3-6F66BEB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4CDEF-7943-4280-BF57-5FF4DD72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4F13E-5656-4EC7-9D35-1650C1A8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İKINCI HALKA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4EF7FA-C9E6-4941-9522-0AD86F13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Yetiştiricilik ve yüksek hacimli bakım merkezleri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B1ED8-E6CD-41D5-BDC5-86C4932E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110D5-CFD5-4810-B29A-468ECF3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F0BDF-BE6F-4E86-8FD0-C60B632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AÇIK ALAN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3CD2E5-A552-423B-BEB6-361FA2B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Transport/portatif kuvöz ve rehabilitasyon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89CC24-1115-4008-A3BF-F1C4B1E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768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GTM yorumu: İlk satış hunisi tüm pazar değil; Vetmarketi’nin ulaşabildiği yüksek bakım ihtiyacı olan segment olmalı.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0C804D-96AD-453F-AA9A-F68EB30D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7CEC5-D124-493A-A8AF-EE5E86C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pazar analizi</a:t>
            </a:r>
          </a:p>
        </p:txBody>
      </p:sp>
    </p:spTree>
    <p:extLst>
      <p:ext uri="{BB962C8B-B14F-4D97-AF65-F5344CB8AC3E}">
        <p14:creationId xmlns:p14="http://schemas.microsoft.com/office/powerpoint/2010/main" val="13146220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990F0-DDC5-4F6A-B9A5-1A41F651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2E267-015A-481E-9FBA-9479B09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4a01145aa4958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5F227-1AA7-4A06-9F57-46FAAF1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SEKTÖR BEKLENTILERI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DD0E5-E9C1-464B-B57F-C7EB2FD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20F19-1ABC-4717-82C9-14CEBDF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GEREKSINIMI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5875D-F256-4652-A958-2568FB1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Beklenti artık sadece sıcak kabin değil; oksijen, hijyen, UPS ve akıllı izleme birlikte isteniyor.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8A449-DFFB-40B8-B2A1-C5D8EBC0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beklenti Kuvoz 3.0’ın yazılım, sensör, alarm ve servis katmanını pazarın gerçek talebiyle hizalıyor.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B06BF-6C33-478C-BFA0-4D1A4C9D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329F8-DB52-4727-A4B4-9E272A01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2953A-2B5C-4AFF-B6C8-FC26E684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Oksijen + nebülizasyon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DBF12-F6E9-4A3F-B176-7561B37D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Solunum sıkıntısı olan hastalarda hassas oksijen takibi ve ilaç uygulama iş akışı.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50B5D-26F9-4919-B560-F8A298D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91530-D6FE-4871-8274-D199A43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2A6AF-07F1-4212-B3EB-5078324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Enerji + 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473F8-F743-4708-B90D-E9B254A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Enerji maliyeti ve kesinti riski nedeniyle düşük tüketim ve güvenli yeniden başlama.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96770-E5D7-470C-90F3-C259BBB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AD278-4917-4790-BB75-E82ADECE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A573A-4A7D-400F-AEA3-3D1386AF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Hijyen + sterilizasyon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0D206-6620-430A-9C1B-CA4B712E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Kolay dezenfeksiyon, köşesiz iç tasarım, UV/ozon için hasta güvenliği kilidi.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E3766-791D-4A83-AE36-BB5B6A1A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24128-7B27-4167-96BE-CC85DAC4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C806B-4B96-4E44-B04C-8CD6C7BD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Yerli servis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EF1EE-CA9E-4858-AC43-3BFE8C9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İthal ürünlerdeki yedek parça/servis maliyetine karşı hızlı ve uygun yerli destek.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821D3-A462-48FB-9BA0-CFF89E77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76974-2807-479A-BBE6-751BB1C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50CAF-24CF-4304-822D-9128AFF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Akıllı takip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28DC0-EF8D-4B85-BBC4-3B5F3D9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1485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Mobil/web izleme, kayıt, alarm, AI destekli trend ve erken uyarı beklentisi.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C438D-EFB2-4F2A-8319-CF6ADE61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962341-AEAB-4F95-8841-8CA0200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Kuvoz 3.0 yorumu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7EAC1-31AB-45C2-B3DC-B9D7291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Rakiple fark donanım listesinde değil; kayıt, uzaktan servis, güvenlik kilidi ve klinik kullanım verisinde kurulmalı.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0B7EC-F88E-4561-B3BC-9449779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5C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C88518-E181-4DE3-BD4D-035AC7BC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34050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Sonuç: Ürün sayfası “kuvöz özellikleri” değil, klinik güvenliği ve bakım sürekliliği hikayesi anlatmalı.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FBAEF7-C527-4BA7-B9FC-7C2BA55C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19AB9-A31F-4C9D-9863-BF7492B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ürün mimarisi</a:t>
            </a:r>
          </a:p>
        </p:txBody>
      </p:sp>
    </p:spTree>
    <p:extLst>
      <p:ext uri="{BB962C8B-B14F-4D97-AF65-F5344CB8AC3E}">
        <p14:creationId xmlns:p14="http://schemas.microsoft.com/office/powerpoint/2010/main" val="1443078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E9DEA-470C-42EE-9171-A1E2270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776A6-143D-451A-A187-6B76FB33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bfe80b49e429a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16F5A-37A8-437F-873C-030B3F01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STRATEJI DEĞIŞIMI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5B82B-FE6F-4516-AE9B-54CA99A3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F225F-EB6F-4228-8808-26C1226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PIVOT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143EC-68B0-447F-9E72-21A575D6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Risk, yeni şirket kurarak değil; mevcut kanalı kullanarak azaltılmalı.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D22E1-09A4-4A82-8B4E-C7F180E1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ticari olarak var olduğu için ilk hedef yatırım turu değil, eski müşteri tabanında ücretli doğrulama olmalı.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BCDD1-A5A4-48D6-A7C1-B548DFB4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19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5DC24-C7B0-4C59-BA30-A75C675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1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0575E-2422-4038-BF2A-2755FAAC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98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Önceki yaklaşım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05BAD-A606-4BC5-B65C-139194EF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Yeni Kuvoz Teknoloji A.Ş. + Teknopark + yatırım arayışı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22080-D273-4CF2-9E05-BD5A387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Daha temiz yatırım yapısı sağlar; ancak müşteri, operasyon ve nakit riski daha erken doğar.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327B3-8C1B-4956-A42B-7B2EB508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Ne zaman?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5DDD0-24F3-4D00-988E-5172D565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148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Satış verisi, SaaS ihtiyacı veya yatırım gereği netleşince.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DEC56-3356-4FAF-A59B-303A9913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619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65D63-A5B4-405B-A6B1-386D710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61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D5AE4-EFED-4F62-A82D-C903CC1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193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Revize yaklaşım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D595C-54ED-445D-8065-29FA2E2F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Vetmarketi içinde ürün hattı + V1 müşteri tabanı + ücretli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1CDAC-61C7-4746-B64C-155A8712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Mevcut marka, faturalama, müşteri ilişkisi ve saha geçmişi ilk 12 ayda sermaye ihtiyacını düşürür.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C94ED-321B-47CB-A229-335B211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Ne zaman ayrışır?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978D2-D4CF-4934-B8BF-4322238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291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15+ ödeme, servis verisi ve ikinci yıl büyüme ihtiyacı oluşunca.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068D8-B206-47C7-91A5-9C435F24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694EE-2136-446C-97E3-34D10F2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F330C-DBD6-4821-8BB4-17366E0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Şirket riski azalır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1A44B-DCBC-4DC0-98D3-31E6514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operasyon, muhasebe ve yönetim yükü ertelenir.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DC822-EDEA-481E-815A-7C253C2D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09B87-CDE7-4591-896E-8F5CF7D9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703E8-816A-4996-9F36-53CD14C0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Müşteri riski azalır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BEF6E-3DD1-4368-B99C-60B0A5D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İlk temaslar mevcut V1 kullanıcılarından başlar.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455DC-B402-427E-8FD1-22153BD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19CB4-8438-4CD3-AAC2-A26983C3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69F4E0-BCA4-44D2-9C33-C232B10B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Stok riski azalır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FCF1B1-AD6E-4334-ADD0-8828CC4F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 ödeme ve siparişe yakın üretim uygulanır.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D3CC6-5FF2-4114-B37E-84EE6C8F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C38E75-DA13-4FF4-A3F2-AC801E3E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5673417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2CAD5-36F4-4268-9566-121C48BD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7C060-4660-4E68-B438-5454FCAA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0285842b346f8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8A304-8538-4F35-903D-6268110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MEVCUT MÜŞTERI TABANI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16725-421E-4771-9B32-65CEE75B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B6730-F034-4DEF-97EF-EF1A624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CRM MOTORU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0B05E-1B65-4141-866D-4D1F5E78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Yaklaşık 100 V1 müşterisi, Kuvoz 3.0’ın ilk satış hunisidir.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200F9-61E4-477C-81F0-B91426C5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Liste repo içine kopyalanmamalı; CRM’de tutulup segment, memnuniyet, servis ihtiyacı ve upgrade potansiyeline göre yönetilmelidir.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125A3-B02A-465C-800D-5510EFF2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AEFED-1930-4149-A6B2-26DE6377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100 müşteri için hedef funnel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00BA7-A79B-4B07-93E7-BA3DBD30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Liste temizliği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2C8A3-26B0-43C5-85F5-BC9C695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432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66A28-B41E-4121-BABA-8CD4C2B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432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7DB42-1ED7-431A-9835-3C2C88E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051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107D7-D99C-488C-8FAE-94B2304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Ulaşılabilen müşteri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C13-15E6-4F66-BD97-8AC95853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F3D1B-8A5B-4AB5-858C-EEB73D8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139255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29EB8-E10C-4BD5-937B-B78B6A0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05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60-70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91AC1-117E-468A-94ED-6006269E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Memnuniyet/servis görüşmesi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43246-A38F-427A-A7F2-0236006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433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9EC09-5C84-4CD3-B4BB-02400D1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43325"/>
            <a:ext cx="9829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D30A1-655D-4B3F-8F14-B35A9D2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052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40-50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EA76B-1829-4ABA-9524-C5D958AF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Demo ilgisi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7AB5C-7293-46EC-957B-4BF2272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87C4F-9E53-401E-B89B-A0A53E1E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57340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28A58-2373-47BD-8D08-D7E43431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052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20-30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9027B-3C48-41BC-954F-6E1EA81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Pilot/upgrade teklifi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E7EE9-99EA-4CA8-AD81-5B07002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434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B5712-1C40-4F02-A763-EEC6C445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43425"/>
            <a:ext cx="3071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B5F07-7361-4BD2-9F64-F73D677D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053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10-15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63C2D-383F-4AB3-B466-CB63A52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ödemeli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A96B57-6699-48B3-95C9-4B72743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07F31-D70C-4C90-89F3-B12DD897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1638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FE0CC-F271-46CE-904B-981FBAC5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053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5-8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12E564-462D-4535-B195-5E3ED629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191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4C0680-8692-4028-B862-8FA61362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Segmentasyon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DBBAD0-E2EA-4BFB-83F4-B66AD564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172BD5-13A7-4F54-AD04-147B7611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39E88-ACA7-4CFD-ABCE-F549956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Aktif ve memnun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EB9101-D76F-480C-B7C0-400F44DF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İlk referans ve upgrade adayı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829048-DFED-4700-97D3-9A2D05D1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623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F52F42-D4D8-40CF-90D9-53BD91A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7722BE-1A9A-4E79-AD47-0428760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62325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Aktif ama servis ihtiyacı var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C9281D-F421-4359-81F7-981D3A97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528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Önce güven onarımı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848143-87A4-442F-89F9-CA401DA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76F170-C339-43CE-A6D2-A9EFE294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4468CB-BC5B-4115-BFD8-37B515A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Kullanımı azalmış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417993-FC2E-4BA7-AC70-962E2611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95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Refresh kampanyası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670C11-8D6B-43DE-8728-E8E5D2B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957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1020AF-9ED8-40B0-BE23-FB539FFE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10AA5A-35F2-4B4F-9548-5924654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95775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Büyük klinik/hastane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E902C1-93B2-4B65-B166-A4A7C4FD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862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Smart ICU pilotu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046CAB-1F73-4C68-A6F7-2EC6E61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1CEE76-AF3D-4CD8-86B5-0482A2A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01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85A4D6-858A-4D17-9A08-16A9F1A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Negatif deneyimli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875AC8-4410-476F-BCCE-DCDC9471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Satış değil, dinleme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30A562-9888-4CB5-8DCB-B132B4C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E84CFE-2559-41EA-B916-A86F9019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A8679A-18BF-48D5-A43A-BF7B8A2F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038850"/>
            <a:ext cx="7105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Temel prensip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DBAD69-AE02-4179-92C5-F381035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305550"/>
            <a:ext cx="7105650" cy="-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V1 müşterisi satış listesi değil; önce saha gerçekliği, güven ve servis ihtiyacı anlaşılacak bir öğrenme tabanıdır.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11EA20-DA1A-45C6-BDB2-C3C9846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2DD6FC-1606-4BB1-A77F-E11D544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4017509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D0227-1043-4C67-9286-04E701E8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498D7-3D8E-45DB-9C67-99A65EDC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2889327fb46b4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075A6-3F44-4634-B13B-B11B346A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MERDIVENI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16D6F-9D46-41C6-8AA9-D4BB8BF8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F5103-370B-4D31-9F8C-78BE8624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SIRALAMASI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268FA-26DD-4AF7-BF2E-8A3C63B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Tam cihazdan önce V1 Refresh ve Upgrade Kit satılmalı.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6ECE9-686C-478A-AEE7-6DBE1DE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merdiven hem eski müşteriyi yeniden aktive eder hem de Kuvoz 3.0 için gerçek ödeme niyetini daha düşük maliyetle ölçer.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00BBA-7074-4BE8-B595-E3BE6F5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744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73571-8BB6-46E5-8BC4-BFEC293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B33AF-1B32-4EE2-B3E6-F824D0A9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4D2EB-5087-4A08-B05F-69D8A409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V1 Refresh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EAF0D-7DCB-47AE-98F0-CCECCF0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Servis, bakım, sensör kontrolü, upgrade uygunluk raporu.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ECEAE-73A0-4AD9-A393-01F7ECA9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921FF-2613-4E9D-8A64-381EF943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E65AE-29E6-4EC8-9C44-37F4429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23C83-E872-48AE-B480-F95D7781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074C4-D124-44DF-84F3-48A039E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3.0 Upgrade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CB3F2-F5C3-42D0-B89F-97430450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Kontrol, sensör, log, alarm ve web panel.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55500-935C-4F5F-80F1-5D94140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A68BC-B0D3-4C66-92B7-CD2030D1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0EE3B-5B97-4BDD-8ACB-3703C9F3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0B28A-6A7F-4DF6-9C4D-49AED611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B714A-382A-4A5D-8613-E10B07F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Smart Retrofit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EEE5A-36B9-4DCE-B581-F7BB714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Kamera, uzaktan erişim, gelişmiş uyarı.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A9EAF-6BA4-49FE-BE4E-B91C8443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EFB35-3359-41B3-ADE6-30976C4D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CC410-3397-42E4-B7F0-0C91AD23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55BDE-8995-4B39-890D-114CC18F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8BF4C-1DC6-4C55-94C8-12AF6FB6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Smart ICU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F25BF-C748-4A3A-AC98-C5B7B16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Kabin + Kuvoz 3.0 kontrol sistemi.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AE322-E317-4632-8DD8-1E63ACF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484AE-FFE9-47E3-B15B-17CE1C4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ECEB0-9EFF-4278-A6EC-52B9D5A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54B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54B4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5D4F7E-9E5A-4FD7-A093-29E3429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65B016-F449-41A3-B539-9D7FA16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Cloud Panel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8CCFB-EBCA-4E29-9912-87170F6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Çoklu cihaz, rapor, servis ve AI katmanı.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D3176-DCCA-40C0-BF6B-DD565FD9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A4B713-F207-42ED-A307-6738B3D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Neden bu sıra?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D7E94F-A193-4070-B5B3-319E9AA3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578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Eski müşteriyle güven yenilenir; mekanik üretim riski gecikir; yazılım katmanı sahada öğrenir.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12073-9BB7-465E-86FD-1C47431A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46C1A0-9A98-447E-9EE4-0474E4D4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Satış açısı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A0604C-CF00-4AB6-88B3-5A4A962E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578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“Mevcut cihazınızı Kuvoz 3.0 Smart seviyesine taşıyalım” mesajı yeni cihaz bütçesinden daha hızlı kapanır.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9D57FE-B57F-4A38-9548-CBBC6E4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71D21A-AFC9-4268-9378-F73157F1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Karar kapısı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BABCFB-18A8-40FC-ACDB-808D75B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578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5+ ücretli upgrade ve 60 gün stabil saha verisi olmadan tam cihaz ana ürün yapılmamalı.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93B334-21FF-4440-8F1D-2B9A720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6CF32B-C484-4C40-9B7E-C99121A9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6847650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10FC4-4961-4B7B-BE1F-6E7B0E70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5E383-4FEA-4970-A7F6-2949607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9ddf1d13044aa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E66C5-7932-44C1-8078-CF69C3E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NAKIT RISKI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3D41-5468-4D5F-86FD-CAA05C70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0D87B-B5D6-4947-9412-79DBA46C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FINANSMAN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DB8CB-2FC1-4AD1-9B5A-8BE3CC85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Vetmarketi modeli ilk 90 gün maliyetini 750 bin-1,5 milyon TL bandına indirir.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4F932-BE71-4B66-82A6-50E42D01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şirket ve büyük stok yerine; prototip, CRM, ücretli pilot, servis/refresh geliri ve ön ödeme ile ilerlenmelidir.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7FB2B-F739-4107-AD91-F076EC42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B014E-101A-457A-94D5-DA8FA6D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90 gün bütçesi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9FC8B-00D8-401C-A5D2-99C9E54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Prototip parçaları ve sensörler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BC641-105B-456B-90A8-1894A543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D9E12-EF6A-470E-9D38-50E3B233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2401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BCD96-B281-4E90-951D-4AF6AD7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250-500K 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B0BDD-774C-4F3F-92CF-48D91F2B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Yazılım ve arayüz sertleştirme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ABAF2-1A22-4314-80DF-EB94EB3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23F6B-2888-4DC0-B5A2-97331A45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2401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D11F5-1F5D-41FA-A043-623A5CA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250-500K 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417C2-A14A-40B7-AB10-1A56F594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Saha servis/demolar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EA76E-E5A5-4B0F-A3D1-DC3C31E3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F6B51-346E-427B-90BA-66B6FE4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6400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970AA-9351-4CEA-84A7-6A10BF69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100-250K 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136DE-6E4B-4A87-82FE-AB947760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Video, datasheet, ürün sayfası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BE9BE-1485-406E-9E1C-D6F75B5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A628F-EA2C-4751-9371-BF95381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800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FF27C-0447-4BE8-945F-E656758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75-200K TL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B088B-EC87-43EB-AC0A-7A64ECCC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Hukuk/KVKK/sözleşme taslakları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0C904-BFF9-4DE5-BE27-D411309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BC3C29-A8E2-4EB3-B120-0D577229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A46F6-411F-46E3-A191-5B680D23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75-150K TL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410498-6C84-425F-8AE5-F3321335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16880-C18D-4CA2-8141-EE77A58C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92CD9-61B6-4190-A5F1-0A99EF2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40-50%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C1112E-252F-46A4-ACCC-7D971792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400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ÖN ÖDEME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6A598C-084F-4DAA-83DB-82CEEE3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Upgrade ve tam cihazda stok riski azaltılır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C5545-58B5-42A4-8032-1F87943A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528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750065-5063-4CB4-BF26-49101D69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57F91-2FC9-4F70-B80D-DEC18A17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400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GENIŞ ÜCRETSIZ PILOT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8CC2FC-0BBA-4E54-8081-5D86421A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672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İndirimli ücretli pilot disiplini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82C06D-4D71-4B0F-B622-40EB2671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0701F5-1344-46EC-9999-BD25CF57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E0E0C0-3789-4A9C-812A-E442168A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1.8-3.5M TL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38A1D9-4B78-404E-BE84-247CB995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6 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287B49-66D7-47C5-AF47-AD19F2D2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5-8 ücretli pilot/upgrade hedefi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23F200-6CFD-4A6E-8B52-34C1088D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9C0430-B2C0-4ACF-8FBB-5E296047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3.5-6.5M TL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D39E1-1A63-4298-AED4-20E20DE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İLK 12 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5D15AA-DD56-49A2-AACC-FBE43E86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15-30 satış/sipariş + ürün hattı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4A3B73-3996-4181-B048-6F48C04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426884-49A2-4535-BFCD-B86E025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8-15M TL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3BC1B0-DF17-4464-89D9-E2B4802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12 AY SONRASI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410EF9-C9FB-4EFF-92E7-0F62C64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Tam cihaz/ihracat için şartlı büyüme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480E29-D665-4D31-908F-6878AB2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531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Ana fikir: yatırımcıdan önce müşterinin ödeme niyeti ve servis maliyeti ölçülür.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ECEF28-8961-4B9B-8878-2A35FAA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6873B5-5F76-4187-BE06-AFE91C34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2945906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7F4D0-6C9D-4EC5-A498-4D73BA64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A6D8E-2E07-4550-976E-03AF3CFA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82e5881b34eb8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D133B-50BE-4EC0-9F5C-E956D9F2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0-12 AY PLANI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CD99F-76C2-434A-B01A-F1BD43C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A12B4-ED64-4620-8CC1-5EF23B8B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YOL HARITASI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86E66-515D-41AB-A8CB-F23F7BE2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İlk yılın amacı büyük lansman değil, düşük riskli ticari doğrulama.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1AC4C-FED4-4898-AA63-362BAFF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Her fazda ödeme, saha stabilitesi ve servis yükü ölçülmeli; Teknopark veya ayrı şirket kararı 12. ayda verilmelidir.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BED7B-F9D6-429A-A1B6-E4A0593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F9B26-4C1E-4432-AC4F-C016478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C6B22-BC76-416D-98E5-CC269D7C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0-30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E9CAF-6009-407B-BE75-8CDF802D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CRM temizliği, ilk 30 müşteri araması, 10 pilot adayı, V1 refresh teklifi.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C8928-3F22-4759-8459-323CF3DF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88C83-F17F-408D-A3AD-EFE22052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7A1EC-9E82-4C35-B282-C0575059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1-3 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C35FA-3015-43B5-B61B-C13F04C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 refresh teklifi, 2-3 ücretli pilot, ilk saha raporu ve montaj checklist.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2B4A5-F772-46DD-BB5B-A98FBC7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049CE-9974-4204-9C89-7E138200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2900B-AF2A-4627-84BF-BAAEBD1F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3-6 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63722-9E48-422A-91E8-C0BE417B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ürün sayfası, 5-8 ücretli upgrade, 3 referans klinik.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E9C8F-27C9-4312-8D7C-E16C48E3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46C35-B7F5-492A-BABF-0334616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B638F-B343-41EA-ACA0-14ACF89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6-9 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E0093-7686-4995-B63A-80E799EF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10-15 satış/sipariş, servis standardı, tam cihaz talep sinyali.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FC2D8-E7F8-408A-92EC-AC56E15D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9650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E5FD7-403F-4054-8DF4-4A44559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9-12. ay karar kapısı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FD9C70-43C7-4B18-B951-CA5C95F0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15+ ödemeli müşteri, yönetilebilir servis maliyeti, tekrarlanabilir montaj ve gerçek tam cihaz talebi varsa ikinci yıl yapısı seçilir: Vetmarketi ürün hattı, Teknopark Ar-Ge projesi veya Kuvoz Teknoloji spin-off.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B16FF-BB12-45BA-8570-E2DE9C6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10F4FC-6477-4035-B6AC-42781026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Başarı eşiği: 15-30 satış/sipariş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439D9-BD75-4927-A0DA-852656E9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2D767-50B6-4821-8262-98EE35D3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Pilot kanıtı: 60+ gün stabil kullanım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FDA28E-8863-4949-8F3D-24AA27F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26093-34A7-4BFE-B7DC-EB769B13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Kanal kanıtı: Vetmarketi sayfası + CRM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4AB91F-269F-4E7A-B86D-C45B55E0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CA12D-86FA-4C2B-9CFD-B833696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Yapı kararı: 12. ay verisiyle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339AF6-0459-4E57-81AF-BC6D4CE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FE4E3-008C-494D-A6C6-289FF911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748091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C06A9-8DE1-4D0C-A433-CD6D9209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47CC-46B4-4F64-B865-58E13FA2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6cbb1f9504ee8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6FE9D-214E-46C1-8DDB-3BC4E19F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MIMARISI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602B5-5BEA-4106-A49E-8ED36BA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66A27-974A-441C-8B78-08D0A1A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AKILLI KATMAN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A967E-D6D2-411F-8CC1-B1BFDFE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Upgrade kit bir ekran değişimi değil; güvenlik, kayıt ve uzaktan servis katmanı.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DB915-E51E-4BB2-9CCE-6AB0899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Mimari hem V1 cihazları yükseltmeli hem de ileride Smart ICU ve klinik paneline taşınmalıdır.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13809-D9AC-4408-A16B-7F31E1FC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54E85-DB20-4027-A22F-6705134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A81CD-A431-4744-81B9-AD164F0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Cihaz katmanı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6481D-B9FF-4D4B-9DC8-95D007E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8C95A-0727-4832-BD2C-D109E91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FD838-D1EE-4505-AAD5-05F0710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Sensörler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F118B-F466-41D6-A8E6-AD8BACE6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Isı, nem, CO2/O2, kamera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FA6D3-CEF7-4049-A174-A1859855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80040-013C-4BBE-9519-6DB206DC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42CE3-D9BF-4024-9A2A-5F7F68ED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1E058-3AAA-40F2-99FA-81C6A537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Raspberry Pi, röle, kiosk panel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576CD-0C52-4366-B79D-82046F7C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12E33-FDBA-45A3-9323-64806FCA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796F5-0A12-469F-9282-F995D16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Ekipman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3B8AC-265A-4D9A-B525-B25C6D75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Fan, ısıtıcı, UV, ozon, nebulizatör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25209-8E9B-4E3D-8451-0E3ED11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54301-8A59-479E-927A-C309AAE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ACC69-8CE0-49C4-8A88-AD495246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Güvenlik katmanı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EE321-EF8C-467A-97E9-3CC1CD9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8FFF7-8858-4FA3-ADCC-D3E35DCC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5ABE6-DC56-425A-B184-8B269A9F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Hasta güvenliği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70EB8-7BD8-4956-9019-15D84B47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Ozon/UV kilidi, aşırı ısı limiti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29E2B3-6AAC-4127-A14B-6B774428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F5D26-4B98-4AD2-A346-21B5EDC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DF07BC-7336-4F86-87C9-E947116D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Alarm mantığı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1AE28-083C-4DB8-9D19-A619571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Eşik, trend, bağlantı ve sensör arızası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592EA4-9EF6-416D-A7E0-63A282C2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80522-28AF-47A8-AE62-092F3DB2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2BA400-1532-418F-B706-C285702C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Güç davranışı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D10CA4-E743-4F19-8D05-7CC34A6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Kesinti sonrası güvenli yeniden başlama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2A0EE6-4308-4284-9AD9-43B903A0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489E8A-7E62-48AF-9ED1-A2E9A0E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D94608-114F-49DD-A48C-A6A1F09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Operasyon katmanı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840E33-464D-4721-9697-2A5721F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A7DECD-2BB2-4AC3-AE1A-5759340F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8666FF-881F-4A8C-B310-A5B43B1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Kayıt ve grafik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E8E0F3-9170-40F4-AF78-163F3A4B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Hasta bazlı log, rapor, geçmiş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21A6B2-D4AE-4FAA-A188-2A2F267C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4C4472-BA60-4177-BAAD-77AAC18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836EC6-B560-4D0A-AA6D-FE92DE34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Uzaktan destek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3378E9-4B3C-4727-AB78-E85BDDFA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Web panel, servis modu, diagnostik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199747-A353-41C1-B9E0-B3C33BA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944B3B-C4FB-45D3-A13F-1CD8839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097291-81F5-4596-A7B8-9E0E5186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AI uyarı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3B2728-CD8C-4B05-8035-2F2268A8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Trend, aktivite ve erken risk sinyali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0B600F-C37F-4370-9FF3-593944D3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C8136D-6614-46C3-A43C-F87663C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71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91658A-C9A3-4A12-8FCC-595E79B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Kanıtlanacak şey: klinikler sadece daha modern ekran istemiyor; güvenilir alarm, kayıt ve servis kolaylığı istiyor.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57A48D-1EDE-4B0B-B73F-C11329F2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C8D96A-ECA7-4BB7-A37C-4112B48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4151525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E30F7-CF47-443F-9570-9B96A805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1EA6-3D9B-40DE-A584-89B10EF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b127415034139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7FAFC-113C-4C93-8866-46224D04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DESTEK VE TEKNOPARK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F591A-9AFE-4541-819D-2F48F2D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4FA9A-E966-4F20-87E7-AEC5ACC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DESTEK STRATEJISI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1E382-1CAB-4FF1-B4F6-58229EF8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Bu modelde ilk finansman yatırımcı değil, müşteri doğrulaması ve ön sipariş olmalı.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C5C98-A2D9-4B20-A85F-34660C0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Kamu destekleri ve Teknopark daha sonra hızlandırıcı olur; ilk 6 ayda ticari gerçeklik ölçülmeden yapıyı ağırlaştırmamak gerekir.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D8823-16E3-4BBC-9CC9-DA7D3AA3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706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F7364-1D03-45F7-9E01-FFDC166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7760D-41F0-4FBB-8B95-A88EF8E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F01CE-C9C6-4A13-8149-9BE1FD4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VETMARKETI NAKDI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2A49F-DEB5-47C4-809E-BDB573B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Mevcut operasyon ve satış altyapısı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6146C-F024-4B5A-BD16-42614CFA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E9B8A-98DB-4DB7-8506-E7108884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83E22-1586-43A9-9583-0C5B7AE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SERVIS/REFRESH GELIRI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76A20-6FB8-4392-BA71-5879B620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V1 müşteri reaktivasyonu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5F5C7-25C5-4D80-A393-D38A2880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364A2-5330-4CE0-94B2-54888B3D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26870-4374-4C7E-97C4-2445C863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UPGRADE ÖN ÖDEMESI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41990-827B-4DF3-9010-F452070C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Stok ve nakit riski azaltılır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63704-A9E3-47EC-9ECB-1959EF5C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C05DD-4CDE-4E21-BCC2-BF5542F6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9C616-F1B8-4669-93C2-5C954B85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KAMU DESTEKLERI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EF3B2-E2DB-4BF2-B85A-CC10674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1707/1507/KOSGEB uygunluk kontrolü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1C792-57E5-47AA-AA39-567A1A5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55B9E-6888-46F8-AE6D-EA244805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201A3-781C-4BCD-8C25-4D2148B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TÜBİTAK 1707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3DAF4-CC15-448C-8E06-57E23C8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gibi müşteri/kanal tarafı hazır olduğunda siparişe dayalı Ar-Ge kurgusu BiGG’den daha uyumlu olabilir.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D6E46D-9816-4982-A3F3-2D0566CA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F95DC1-EE66-4BA3-95FA-0D2A1099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9056A-07A6-4813-AD59-882B9A4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TÜBİTAK 1507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5D652-175E-4C54-A406-897BAA90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Sensör füzyonu, güvenlik kilidi, offline-first uzaktan izleme ve AI alarm eşikleri için teknik Ar-Ge dosyası.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2D0B03-106F-4DCF-B597-3B2DA0E7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673E6-EFE7-48F3-8EB5-56EA05BE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77D1DC-B954-487B-8780-DE1E0E8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Teknopark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C4A03-4BCD-4C41-BAF9-D67203D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İlk gün şart değil. 6-12 ayda yazılım/AI ekibi ve ayrımlı muhasebe ihtiyacı netleşince değerlendirilmeli.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EF22A5-3BC0-4052-BFAF-7FF246B4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Sıralama: pazar doğrulaması → destek dosyası → Teknopark veya spin-off kararı.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8727FE-7C26-4E06-9D2A-532147FD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FB5500-7FAA-4061-9515-8A70CCFC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TÜBİTAK 1707/1507, KOSGEB 2026 ve revize Kuvoz yol haritası</a:t>
            </a:r>
          </a:p>
        </p:txBody>
      </p:sp>
    </p:spTree>
    <p:extLst>
      <p:ext uri="{BB962C8B-B14F-4D97-AF65-F5344CB8AC3E}">
        <p14:creationId xmlns:p14="http://schemas.microsoft.com/office/powerpoint/2010/main" val="7662289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E609D-23DD-407E-BC23-E3DC35B2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2B4C8-0184-4B0F-BE84-62CD9F1D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fdb62c19d4713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94C37-2FB0-4D2E-B83D-A618902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RISK YÖNETIMI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7DBDA-06DE-40A7-ADD0-341455C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6EAE0-4693-4DD3-9AD2-0C599C5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KONTROL LISTESI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F321E-713B-4C65-903C-37A78A3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Vetmarketi markasıyla çıkmak avantajdır; teknik hata aynı zamanda marka riskidir.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5A8A6-23B9-4D8D-A816-10CD3C6A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yüzden ilk lansman geniş kampanya değil, sınırlı ücretli pilot ve net güvenlik/servis dokümanı ile yapılmalıdır.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41E91-3724-41A0-AA13-01B94B75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394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55EDF-9F8E-4A95-A03F-5C0BED34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29521-1BCF-40CC-87E7-6DD0204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Önlem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78EC6-043A-47E6-87C0-666DDE9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B69A-45F3-4DA6-863A-F3A5992F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Eski V1 müşterisinde negatif deneyim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E454D-2FD8-416F-A66C-2EAEE97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Önce servis/refresh ve dinleme; direkt satış baskısı yok.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DB500-075E-4F47-B06C-DF18CE74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7E257-C333-4FF5-9610-3BED014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5DE72-4B4B-42A5-98EE-82E29C21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Ücretsiz pilotların ciddiye alınmaması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188F4-2B12-43D8-885F-B1C404C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İndirimli ücretli pilot ve geri bildirim/referans taahhüdü.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96151-8EF3-4848-ACF4-34D6FB2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3A03E-5BCE-4F6C-8668-AC3FD71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83D2B-AD8C-4B1A-AF08-9D9B833E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957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Stok ve nakit riski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95020-EA3E-400B-AA68-3640612E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95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 ödeme, siparişe yakın üretim, sınırlı parça stoku.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BA7C6-E111-4F31-9CB7-7BDAF75A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4AAF8-B2D0-4B4C-AC1E-D451D2CF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7A0DF-4C7A-49A8-B326-0614A97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Teknik arızanın Vetmarketi markasına etkisi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C63DB-E7E4-44CF-B73D-0589EA5F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5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Sınırlı pilot, güvenlik kilidi, garanti ve servis checklist.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B1BD2-1AF1-4C53-9B82-9C396924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4E0B7-5BE1-4BC1-9BE8-3D36DCB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581D2-0AE4-40A1-A80C-18138B0E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AI vaatlerinin fazla iddialı olması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01B6B-D922-4458-846D-A5679FCE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Tanı/tedavi vaadi yok; karar destek ve erken uyarı dili.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758AE3-95E1-42F3-B2C1-43C3E06A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26111C-07CF-4326-88C7-8E72464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1D417C-2788-4808-930A-E5B7003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KVKK ve müşteri verisi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CB6658-775C-480D-80E5-5FC8C4EC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67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Müşteri listesi repo dışında; kamera/uzaktan erişim onayları.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2705B-DA43-4223-BBFE-D30CCE7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6265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9DF548-24F8-47CD-91B8-732666DC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57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 / no-go kuralı: hasta güvenliği, uzaktan erişim onayı ve servis dokümanı tamamlanmadan geniş satış yapılmaz.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AC8B23-DC33-4025-BB3A-63AC0CDC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E675F5-E6E5-466D-8973-3A539C3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6602549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AD75DD-05B7-4E48-8819-4E2DE487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20762-9A49-458A-91D9-CE5B59DE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fa677b613474b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85468-252C-4D1A-9239-D69C7656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NET KARAR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3FC70-0B56-40A2-8014-4B535721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D5BBD-4BA8-4BF0-8E5C-12A47509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ÖNERI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8BF4E-4FDF-4F2E-9345-AF2045F4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Bugünkü karar: Kuvoz 3.0’ı Vetmarketi içinden, bağımsız cihaz + opsiyonel Kuvoz Cloud yaklaşımıyla ve 90 günlük ücretli pilot disipliniyle başlatmak.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C7B8C-4A32-494D-BD3F-D5087A47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şirket veya Teknopark kararı satış verisinden sonra verilmeli; ilk iş müşteri tabanını çalıştırmak, teknik güveni sahada kanıtlamak ve Cloud’u önce izleme/kayıt katmanı olarak doğrulamak.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CF60D-5BE2-4EAB-845A-8D05B46A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591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CA2B8-FD4B-46F0-8657-1EB1CF6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6FBDC-049B-451E-9490-4722610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1E44-9876-4493-8F64-77C9B79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CRM + ARAMA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50E97-D1A2-439C-A578-86EFBAFF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100 kayıt temizliği, ilk 30 müşteri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19DE7-CBCC-4AB6-8ADE-05CE2C4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5612B-5C82-413C-BFE8-695BB53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91859-4762-4B94-8AE1-B498A172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ÜCRETLI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1B4FC-5EFF-4408-AE6E-7AB447C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V1 upgrade saha kurulumu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E5B9D-093C-44C4-B1A7-3DC808BE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A9A45-2DA9-4C0E-AE0D-2631E871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10-15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13E85-E99F-4DCC-935C-F09CE17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TEKLIF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97F2A-B119-4CD5-AAD9-AA0CBF01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Servis/refresh + upgrade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B158B-4811-4906-91E2-5546331C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B7DDC-84DD-4F16-A9AF-B7E3BFE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3C6AD-063A-4D26-B8A7-3CACE6B2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KARAR VERISI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31CC8-D900-41D3-8C2E-A0E939B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Saha raporu + referans + maliyet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73B4C-1DC6-4B0C-8E0B-BDD9A7C6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BCCE7-F162-43B1-85B2-B82977FE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A46EB-FFF6-462A-BD2C-281FA3D8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yapılacak iş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984D3-FBC6-446A-A7D0-6A86CD80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Google Sheets müşteri listesini CRM formatına çevir; A/B/C/D/E segmentlerine ayır; ilk 30 aramayı başlat.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0717E-2347-442D-8FC2-01F0C00F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3B83B-14E3-4F94-93D6-B500367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A808F6-23B0-4AF9-AB63-7B85831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satılacak teklif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A41B2-A608-45DE-AD06-A8930187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V1 Refresh Paketi + Kuvoz 3.0 Upgrade Kit. Ücretsiz pilot yerine indirimli ücretli pilot.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AFDD5-8EC5-4CFB-A4CD-709A7E00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66E1B7-8BFE-4CE8-90EA-11948BB7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94B78-3F19-4862-A8F3-2B3C758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karar kapısı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067B31-BC4A-4648-806A-48CEC8AA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90 gün sonunda: pilot kuruluyor mu, müşteri ödüyor mu, servis maliyeti yönetilebilir mi?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EA0E15-7038-40EF-9AD2-DE59B52D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912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5C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4582DE-9FB6-4616-8D9D-5498266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15025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Kuvoz 3.0’ın avantajı artık sadece teknoloji değil; Vetmarketi’nin 2016’dan beri oluşan saha güveniyle birleşen teknoloji.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2C91FF-18C7-4F1A-B474-49E13785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C566DF-CE70-470D-875B-DAAB712A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6157270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F2045-06BA-4DA2-8DA1-A31C014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CD2F5-3836-49B2-8CA8-31539949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BAŞARI ŞANSI VE KANITLAMA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D9E78-49A8-485A-8BB1-2ADDE1BB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5A415-9BAA-436A-8D53-591446D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77FCD-A3F3-49ED-8929-100AE7CC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BAŞARI ŞANSI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8B917-D755-49B1-B992-CBB09507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Kuvoz 3.0’ın başarı potansiyeli yüksek; fakat bu başarı teknik</a:t>
            </a:r>
          </a:p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özellikten çok kanıt ve güven disiplinine bağlı.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92035-34FF-4A23-B75C-7022441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Vetmarketi’nin 2016’dan beri oluşan pazar ilişkisi, V1 müşteri tabanı ve Upgrade Kit</a:t>
            </a:r>
          </a:p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yaklaşımı projeyi sıfırdan ürün-pazar uyumu arama riskinden çıkarıyor.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5AB0-76E7-4AE0-9584-9CD08495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33450"/>
            <a:ext cx="2724150" cy="2724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7C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F10D8-CCFA-47F4-829C-B3F44BE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19200"/>
            <a:ext cx="215265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6F3"/>
          </a:solidFill>
          <a:ln xmlns:a="http://schemas.openxmlformats.org/drawingml/2006/main" w="0">
            <a:solidFill>
              <a:srgbClr val="EEF6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F515B-82E5-40AA-84F2-3ADA8D03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%80-85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FFE84-C903-4FA4-9982-5CE388FC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kuvvetli ama koşullu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E38F4-41B9-4F49-9421-1C13E1F9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Başarı eşiği: referans klinik,</a:t>
            </a:r>
          </a:p>
          <a:p xmlns:a="http://schemas.openxmlformats.org/drawingml/2006/main">
            <a:pPr algn="ctr">
              <a:defRPr sz="105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servis standardı ve ölçülü AI</a:t>
            </a:r>
          </a:p>
          <a:p xmlns:a="http://schemas.openxmlformats.org/drawingml/2006/main">
            <a:pPr algn="ctr">
              <a:defRPr sz="105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vaadi.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8080B-241A-49F4-8F1E-35E84B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3336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D2BB1-7E5A-47E2-8303-FC54CD39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124BE-38FD-43DF-9137-3D8A434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Mevcut kanal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53757-582D-4D1F-91F8-29D5F645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914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Vetmarketi ticari olarak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var; güven, satış ve servis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ilişkisinin başlangıç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maliyeti düşük.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8E35B-ECA2-42F5-AF0F-62BE42AF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38600"/>
            <a:ext cx="23336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D1601-57EA-465B-9CB8-F908369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3860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5C713-ACFE-4450-8FEE-7106254C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48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V1 tabanı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C6158-C219-4B7D-922B-949BFC52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72000"/>
            <a:ext cx="1914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Yaklaşık 100 eski müşteri,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ilk doğrulama ve upgrade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satış hunisi olarak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kullanılabilir.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B9F21-3701-4936-821A-3FE8D336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23336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E2E5D-23C9-453F-BA2D-91A19F65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B1F"/>
          </a:solidFill>
          <a:ln xmlns:a="http://schemas.openxmlformats.org/drawingml/2006/main" w="0">
            <a:solidFill>
              <a:srgbClr val="C68B1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DE80F-F10C-4B23-85CA-D6A44DC6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8B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8B1F"/>
                </a:solidFill>
                <a:latin typeface="Aptos"/>
                <a:ea typeface="Aptos"/>
                <a:cs typeface="Aptos"/>
              </a:rPr>
              <a:t>Upgrade Kit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50828-6DD2-4277-A81E-E8958571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1914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Tam cihaz stok riski yerine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düşük maliyetli, ücretli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saha doğrulama sağlar.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C3720-E5F8-41AB-8014-B969EF7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38600"/>
            <a:ext cx="23336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462DB-57A2-4E41-8105-A595CAB3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3860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315C9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3BC90-C6EC-46EB-8DFB-F5997CF4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48150"/>
            <a:ext cx="191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5C9B"/>
                </a:solidFill>
                <a:latin typeface="Aptos"/>
                <a:ea typeface="Aptos"/>
                <a:cs typeface="Aptos"/>
              </a:rPr>
              <a:t>Platform vizyonu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D9182-C938-452A-90A6-AC5AF06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572000"/>
            <a:ext cx="19145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Takip, kayıt, alarm ve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servis verisi ürünü kabinden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bakım platformuna taşır.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12C316-CBE1-47DF-9237-7E9A708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676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4F5"/>
          </a:solidFill>
          <a:ln xmlns:a="http://schemas.openxmlformats.org/drawingml/2006/main" w="9525">
            <a:solidFill>
              <a:srgbClr val="0F5C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63BA49-0F28-4DEF-AAF9-210A729B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4835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Stratejik okuma: teknik üstünlük tek başına yetmez; kanıtlanmış saha güveni satışı açar.</a:t>
            </a:r>
          </a:p>
        </p:txBody>
      </p:sp>
    </p:spTree>
    <p:extLst>
      <p:ext uri="{BB962C8B-B14F-4D97-AF65-F5344CB8AC3E}">
        <p14:creationId xmlns:p14="http://schemas.microsoft.com/office/powerpoint/2010/main" val="21264863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A0625-1CF4-48D0-936E-2435E2E8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C6CF4-E87F-4282-9458-A6A5229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BAŞARI ŞANSI VE KANITLAMA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196D3-5749-4344-8D38-46FCBB88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13ABC-D7A9-4A31-A5B7-25CF0F7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E17C7-894E-4B00-B5B2-BFACBE6C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KRİTİK RİSKLER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6D69B-5F83-4FBA-B40D-F1D903D0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Başarıyı engelleyebilecek ana riskler teknik arızadan çok yanlış</a:t>
            </a:r>
          </a:p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vaat, montaj standardı ve maliyet baskısıdır.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2ECA8-92CE-4C12-A6AA-BA4700DF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Bu yüzden lansman dili kontrollü, pilotlar ücretli, referanslar görünür ve teknik servis</a:t>
            </a:r>
          </a:p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dokümanı net olmalıdır.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655A5-A428-4102-B5DC-EBDB030F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37419-6150-4471-A7BF-9530FC2F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47"/>
          </a:solidFill>
          <a:ln xmlns:a="http://schemas.openxmlformats.org/drawingml/2006/main" w="0">
            <a:solidFill>
              <a:srgbClr val="B653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8A71B-6E11-4CE6-AB09-29200607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3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5347"/>
                </a:solidFill>
                <a:latin typeface="Aptos"/>
                <a:ea typeface="Aptos"/>
                <a:cs typeface="Aptos"/>
              </a:rPr>
              <a:t>AI vaadi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BD0E3-A71A-49E7-8EA7-44A7B35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AI katmanı teşhis koyan sistem değil;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trend izleyen, erken uyarı veren ve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hekimin farkındalığını artıran asistan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olarak anlatılmalı.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5CB78-73D8-444F-A63E-9F7749FD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289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78D8A-CB61-4627-A7A3-66D22B52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289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B1F"/>
          </a:solidFill>
          <a:ln xmlns:a="http://schemas.openxmlformats.org/drawingml/2006/main" w="0">
            <a:solidFill>
              <a:srgbClr val="C68B1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F2B00-0F42-4392-BB41-2D128019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38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8B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8B1F"/>
                </a:solidFill>
                <a:latin typeface="Aptos"/>
                <a:ea typeface="Aptos"/>
                <a:cs typeface="Aptos"/>
              </a:rPr>
              <a:t>Montaj karmaşası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2E47D-FF4E-4F01-9514-85CF29A6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623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Upgrade Kit farklı kabinlere uygulanacağı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için 2-4 saatlik standart kurulum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checklist’i ve uygunluk ön kontrolü şart.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2AB44-6C98-4C0F-904E-FA6340A9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C07B2-EF60-40BA-B326-399C4A59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D1AFE-03C3-4F71-81AF-275A9A67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Döviz ve maliyet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7194E-86DF-4249-BBE5-31F337E0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819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Raspberry Pi, sensör ve ithal bileşen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fiyatları küçük-orta klinik bütçesini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zorlayabilir; stok ve fiyatlama kademeli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tutulmalı.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8B3B1-4B0D-418F-BDFE-6906E420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76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B2DB4-7EEE-45AE-AEDC-8680362C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1715C-0588-4987-A717-A2D81233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15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Referans klinik kanıtı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24F65-D98D-4F4C-AB67-FC1B6793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İlk 3 klinikten kısa vaka videosu, hekim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yorumu ve bakım iş akışı görüntüsü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alınmalı.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6C00E-F19D-425B-B906-21BBE93A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0125"/>
            <a:ext cx="3276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08C35-5AF8-4CA8-9105-2B1AFFD1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012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315C9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275B7-9973-4418-BBA0-17CC272E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815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C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C9B"/>
                </a:solidFill>
                <a:latin typeface="Aptos"/>
                <a:ea typeface="Aptos"/>
                <a:cs typeface="Aptos"/>
              </a:rPr>
              <a:t>Kiralama / lisans modeli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A4BA9-B560-4D18-8CB0-17DC69C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2922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Cloud aboneliği ve bakım paketiyle ilk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satın alma bariyeri düşürülebilir.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77826-D4F0-4809-9A19-A4BC67E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0125"/>
            <a:ext cx="3276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149E7-8167-46B1-8458-83A7519D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012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B1F"/>
          </a:solidFill>
          <a:ln xmlns:a="http://schemas.openxmlformats.org/drawingml/2006/main" w="0">
            <a:solidFill>
              <a:srgbClr val="C68B1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8039E-A603-4E22-B295-CE9D4CEA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815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8B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8B1F"/>
                </a:solidFill>
                <a:latin typeface="Aptos"/>
                <a:ea typeface="Aptos"/>
                <a:cs typeface="Aptos"/>
              </a:rPr>
              <a:t>Sertifikasyon hazırlığı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646C3-0581-4781-A6BC-3EAD0E9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2922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Balkanlar, Körfez ve Orta Asya hedefi için</a:t>
            </a:r>
          </a:p>
          <a:p xmlns:a="http://schemas.openxmlformats.org/drawingml/2006/main">
            <a:pPr algn="l">
              <a:defRPr sz="105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CE/EMC dosyası erkenden yapılandırılmalı.</a:t>
            </a:r>
          </a:p>
        </p:txBody>
      </p:sp>
    </p:spTree>
    <p:extLst>
      <p:ext uri="{BB962C8B-B14F-4D97-AF65-F5344CB8AC3E}">
        <p14:creationId xmlns:p14="http://schemas.microsoft.com/office/powerpoint/2010/main" val="8722397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174E1-70A0-42CF-80D6-917D4E1E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C758B-A194-4DB2-9C46-5182208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KUVOZ CLOUD KARARI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342B8-B5A6-4562-BC95-519509F3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11672-7686-471D-87DB-B67A9D27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49C50-20A9-4BE8-B4D2-77E8480D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OFFLINE-FIRST + CLOUD-ASSISTED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0C07D-4DDF-497D-B9AA-2D04A93C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Öncelik merkezi panel değil; internet olmasa da güvenle çalışan</a:t>
            </a:r>
          </a:p>
          <a:p xmlns:a="http://schemas.openxmlformats.org/drawingml/2006/main">
            <a:pPr algn="l">
              <a:defRPr sz="1650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bağımsız cihaz olmalı.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E0CF4-5C12-4D6B-8739-2A8D09EA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Cloud katmanı ilk etapta karar mekanizması değil; izleme, kayıt, raporlama, uyarı ve</a:t>
            </a:r>
          </a:p>
          <a:p xmlns:a="http://schemas.openxmlformats.org/drawingml/2006/main">
            <a:pPr algn="l">
              <a:defRPr sz="1200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Vetmarketi servis yönetimi motoru olarak konumlanmalı.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C97A7-6E61-47B6-B7EF-B6EDA200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DA9CB-C278-446A-A4B5-FAE291EF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DF3B4-E8B7-4E16-AC18-B954A0B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775FF-CE77-4A53-8344-A23F3DFD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0-6 ay: Bağımsız cihaz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BE639-FD41-49CC-BC6A-5FE03D60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Lokal ekran, lokal kayıt, alarm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geçmişi, güvenlik kilitleri ve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temel kontrol. Satış vaadi: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internet olmasa da çalışır.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D4E93-C064-4395-B5F9-0700A6B5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B2F90-5824-4461-86D0-785694F0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F5C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C1D4B-8604-4862-88F5-6757309B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14B56-8C48-4A7F-9617-2D7722D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38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6-12 ay: Opsiyonel 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329B6-3D9C-4EEA-BE78-FE8BA02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00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Uzaktan takip, geçmiş grafik,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bildirim, bakım kaydı, cihaz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sağlığı ve servis paneli. Kritik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kontrol okuma ağırlıklı kalır.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5CB7C-9E69-4CBC-B8F2-22624C4C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CD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9A792-4B65-4706-A2BA-77C7CDBE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9B"/>
          </a:solidFill>
          <a:ln xmlns:a="http://schemas.openxmlformats.org/drawingml/2006/main" w="0">
            <a:solidFill>
              <a:srgbClr val="315C9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37CA6-3126-42ED-95F3-75F777CB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628C1-D8E9-4725-B4F1-FCD912BF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22"/>
                </a:solidFill>
                <a:latin typeface="Aptos"/>
                <a:ea typeface="Aptos"/>
                <a:cs typeface="Aptos"/>
              </a:rPr>
              <a:t>12+ ay: Merkezi panel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9AEAF-AE33-436A-AC52-B299628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Çok şubeli klinikler, hayvan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hastaneleri, barınaklar ve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Vetmarketi servis operasyonu için</a:t>
            </a:r>
          </a:p>
          <a:p xmlns:a="http://schemas.openxmlformats.org/drawingml/2006/main">
            <a:pPr algn="l">
              <a:defRPr sz="1125" b="0">
                <a:solidFill>
                  <a:srgbClr val="435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5"/>
                </a:solidFill>
                <a:latin typeface="Aptos"/>
                <a:ea typeface="Aptos"/>
                <a:cs typeface="Aptos"/>
              </a:rPr>
              <a:t>filo yönetimi.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B2A4B-18BA-417C-A4AC-A5F75EB6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E5C16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A1DD3-4E0B-48A7-BE96-D7CAE2E1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8B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8B1F"/>
                </a:solidFill>
                <a:latin typeface="Aptos"/>
                <a:ea typeface="Aptos"/>
                <a:cs typeface="Aptos"/>
              </a:rPr>
              <a:t>Güvenlik prensibi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F1D9D-DF5B-4B70-8A6B-16DC095A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05400"/>
            <a:ext cx="830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Cloud ilk sürümde okuma ağırlıklı olmalı: trend, kayıt, uyarı, rapor ve bakım. Isıtıcı/röle gibi kritik</a:t>
            </a:r>
          </a:p>
          <a:p xmlns:a="http://schemas.openxmlformats.org/drawingml/2006/main">
            <a:pPr algn="l">
              <a:defRPr sz="1200" b="0">
                <a:solidFill>
                  <a:srgbClr val="15202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22"/>
                </a:solidFill>
                <a:latin typeface="Aptos"/>
                <a:ea typeface="Aptos"/>
                <a:cs typeface="Aptos"/>
              </a:rPr>
              <a:t>uzaktan kontrol fonksiyonları ya kapalı kalmalı ya da sıkı yetkilendirme + yerel onayla açılmalı.</a:t>
            </a:r>
          </a:p>
        </p:txBody>
      </p:sp>
    </p:spTree>
    <p:extLst>
      <p:ext uri="{BB962C8B-B14F-4D97-AF65-F5344CB8AC3E}">
        <p14:creationId xmlns:p14="http://schemas.microsoft.com/office/powerpoint/2010/main" val="16156542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8B3EE-1AF0-4A7D-BE29-32D934E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DAE5A-2E92-4A58-B465-081EB069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f252f5068488a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40933-A400-48E1-A936-2E272ECB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EK: YERLI ÜRETIM VE SWOT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BE224-655C-4175-AA5E-C4F3519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7C9D6-DC98-43D8-9735-171A750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SWOT ÖZETI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26C4C-3962-4E11-86E6-AD12C523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Yerli üretim fırsatı güçlü; ama servis standardı ve düşük kaliteli ithal rekabeti aynı anda yönetilmeli.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35DF9-0ACD-47B9-9465-C1A532D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Kuvoz 3.0 için savunulabilir pozisyon, yerli servis + akıllı takip + Vetmarketi müşteri tabanı üçlüsünden doğar.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769DA-B7BF-4012-837D-EDFBE9D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4A4BF-D0E7-4D9F-81AF-87B071B9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9AA08-E100-42C1-A25F-95A140ED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Güçlü yönler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7B622-7B69-42E5-8FE4-BB3EE1C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Tıbbi cihaz üretim tecrübesi, modern klinik sayısındaki artış ve Vetmarketi’nin sahadaki Kuvoz v1 geçmişi.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5A494-4246-4A0D-8C81-94F9DF1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Stratejik kullanım: bu güven, 3.0 upgrade kampanyasının ilk referans zemini olmalı.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6C122-28EF-475C-AE3E-E3AEB308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4038F-3DA5-44BF-B73A-C7BC555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482B7-AB0D-48CA-89D5-36F0A07A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Zayıf yönler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F4BD8-8633-415C-8B63-2AE69F1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Döviz bazlı bileşen maliyeti, standart eksikliği ve saha servis yükünün marka güvenini hızla etkileyebilmesi.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57720-B915-4043-9A23-C17E1170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90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Önlem: sınırlı pilot, modüler parça, net garanti ve servis checklist’i.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15EF8-4486-46BF-96AD-61CB495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73259-281D-4A2B-95D2-25EBCC8B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4D40F-3E57-49FB-B0C9-5E5DF2FA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Fırsatlar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C9FC8-2B04-4062-9CAE-25BCF37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Orta Doğu, Balkanlar ve Orta Asya ihracatı; AI destekli uyarı; portatif/transport kuvöz alanı.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1966E-A097-4706-B5F8-0D84D6D7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İlk adım: transport değil, V1 upgrade ile saha verisi topla; sonra varyant kararı 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A0C7A-EA84-44D6-BD75-95B37F61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6169E-F601-4FE0-ABEB-33C83952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67D1C-CAAA-4948-BD64-E009B1B0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Tehditler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3BA06-4551-419E-A302-A13227D8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Klinik yatırım bütçelerinin daralması, sertifikasız/düşük kaliteli ithal ürünler ve fazla iddialı teknoloji vaatleri.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F0396-FC20-4A4A-84F9-60274477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95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Yanıt: fiyat kırmak değil; güvenlik, kayıt, servis ve gerçek pilot kanıtı.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279CB-EBA4-4DF4-8627-2DAAE0E8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42EE8-6E2B-47FE-8F12-243676D6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pazar ve şirketleşme analizleri</a:t>
            </a:r>
          </a:p>
        </p:txBody>
      </p:sp>
    </p:spTree>
    <p:extLst>
      <p:ext uri="{BB962C8B-B14F-4D97-AF65-F5344CB8AC3E}">
        <p14:creationId xmlns:p14="http://schemas.microsoft.com/office/powerpoint/2010/main" val="724260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2026-05-10T13:43:42.2520000Z</dcterms:created>
  <dcterms:modified xsi:type="dcterms:W3CDTF">2026-05-10T13:43:42.2520000Z</dcterms:modified>
</coreProperties>
</file>